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9e048443ff4a400d" /><Relationship Type="http://schemas.openxmlformats.org/officeDocument/2006/relationships/extended-properties" Target="/docProps/app.xml" Id="Ra19d8947540d4ece" /><Relationship Type="http://schemas.openxmlformats.org/officeDocument/2006/relationships/officeDocument" Target="/ppt/presentation.xml" Id="Rd623432136634219" /></Relationships>
</file>

<file path=ppt/presentation.xml><?xml version="1.0" encoding="utf-8"?>
<p:presentation xmlns:p="http://schemas.openxmlformats.org/presentationml/2006/main">
  <p:sldMasterIdLst>
    <p:sldMasterId xmlns:r="http://schemas.openxmlformats.org/officeDocument/2006/relationships" id="2147483648" r:id="R9d657f8e09574e0d"/>
  </p:sldMasterIdLst>
  <p:notesMasterIdLst>
    <p:notesMasterId xmlns:r="http://schemas.openxmlformats.org/officeDocument/2006/relationships" r:id="R4b335573748a4e90"/>
  </p:notesMasterIdLst>
  <p:sldIdLst>
    <p:sldId xmlns:r="http://schemas.openxmlformats.org/officeDocument/2006/relationships" id="256" r:id="R612d071f91e54c6f"/>
    <p:sldId xmlns:r="http://schemas.openxmlformats.org/officeDocument/2006/relationships" id="257" r:id="R9f5c8dc9fabb471b"/>
    <p:sldId xmlns:r="http://schemas.openxmlformats.org/officeDocument/2006/relationships" id="258" r:id="Rc2ffc35426c74664"/>
    <p:sldId xmlns:r="http://schemas.openxmlformats.org/officeDocument/2006/relationships" id="259" r:id="R9473c12bb496497b"/>
    <p:sldId xmlns:r="http://schemas.openxmlformats.org/officeDocument/2006/relationships" id="260" r:id="R186edfb80f5b40c7"/>
    <p:sldId xmlns:r="http://schemas.openxmlformats.org/officeDocument/2006/relationships" id="261" r:id="Rc602a5c58a564cc2"/>
    <p:sldId xmlns:r="http://schemas.openxmlformats.org/officeDocument/2006/relationships" id="262" r:id="R6999182ca13a4a4d"/>
    <p:sldId xmlns:r="http://schemas.openxmlformats.org/officeDocument/2006/relationships" id="263" r:id="R99df64238b794c5b"/>
    <p:sldId xmlns:r="http://schemas.openxmlformats.org/officeDocument/2006/relationships" id="264" r:id="R27f8fdade2f14963"/>
    <p:sldId xmlns:r="http://schemas.openxmlformats.org/officeDocument/2006/relationships" id="265" r:id="R980ba4cb489f418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10b4ee893b84548" /><Relationship Type="http://schemas.openxmlformats.org/officeDocument/2006/relationships/slideMaster" Target="/ppt/slideMasters/slideMaster1.xml" Id="R9d657f8e09574e0d" /><Relationship Type="http://schemas.openxmlformats.org/officeDocument/2006/relationships/notesMaster" Target="/ppt/notesMasters/notesMaster1.xml" Id="R4b335573748a4e90" /><Relationship Type="http://schemas.openxmlformats.org/officeDocument/2006/relationships/presProps" Target="/ppt/presProps.xml" Id="R9907f1c009a54340" /><Relationship Type="http://schemas.openxmlformats.org/officeDocument/2006/relationships/tableStyles" Target="/ppt/tableStyles.xml" Id="R00996869fbf24ece" /><Relationship Type="http://schemas.openxmlformats.org/officeDocument/2006/relationships/slide" Target="/ppt/slides/slide1.xml" Id="R612d071f91e54c6f" /><Relationship Type="http://schemas.openxmlformats.org/officeDocument/2006/relationships/slide" Target="/ppt/slides/slide2.xml" Id="R9f5c8dc9fabb471b" /><Relationship Type="http://schemas.openxmlformats.org/officeDocument/2006/relationships/slide" Target="/ppt/slides/slide3.xml" Id="Rc2ffc35426c74664" /><Relationship Type="http://schemas.openxmlformats.org/officeDocument/2006/relationships/slide" Target="/ppt/slides/slide4.xml" Id="R9473c12bb496497b" /><Relationship Type="http://schemas.openxmlformats.org/officeDocument/2006/relationships/slide" Target="/ppt/slides/slide5.xml" Id="R186edfb80f5b40c7" /><Relationship Type="http://schemas.openxmlformats.org/officeDocument/2006/relationships/slide" Target="/ppt/slides/slide6.xml" Id="Rc602a5c58a564cc2" /><Relationship Type="http://schemas.openxmlformats.org/officeDocument/2006/relationships/slide" Target="/ppt/slides/slide7.xml" Id="R6999182ca13a4a4d" /><Relationship Type="http://schemas.openxmlformats.org/officeDocument/2006/relationships/slide" Target="/ppt/slides/slide8.xml" Id="R99df64238b794c5b" /><Relationship Type="http://schemas.openxmlformats.org/officeDocument/2006/relationships/slide" Target="/ppt/slides/slide9.xml" Id="R27f8fdade2f14963" /><Relationship Type="http://schemas.openxmlformats.org/officeDocument/2006/relationships/slide" Target="/ppt/slides/slide10.xml" Id="R980ba4cb489f418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a6d79d564b1406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0f47f061b0874e79" /><Relationship Type="http://schemas.openxmlformats.org/officeDocument/2006/relationships/notesMaster" Target="/ppt/notesMasters/notesMaster1.xml" Id="R33b5c6870e2c4452" /></Relationships>
</file>

<file path=ppt/notesSlides/_rels/notesSlide2.xml.rels>&#65279;<?xml version="1.0" encoding="utf-8"?><Relationships xmlns="http://schemas.openxmlformats.org/package/2006/relationships"><Relationship Type="http://schemas.openxmlformats.org/officeDocument/2006/relationships/slide" Target="/ppt/slides/slide2.xml" Id="Rde4d2cd1178e4b6c" /><Relationship Type="http://schemas.openxmlformats.org/officeDocument/2006/relationships/notesMaster" Target="/ppt/notesMasters/notesMaster1.xml" Id="Ra2ad51f184d141d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90a05f1c4a64e67" /><Relationship Type="http://schemas.openxmlformats.org/officeDocument/2006/relationships/notesMaster" Target="/ppt/notesMasters/notesMaster1.xml" Id="R3f19de461c2444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56d66d2363fb4671" /><Relationship Type="http://schemas.openxmlformats.org/officeDocument/2006/relationships/notesMaster" Target="/ppt/notesMasters/notesMaster1.xml" Id="Rd8633316488741bf" /></Relationships>
</file>

<file path=ppt/notesSlides/_rels/notesSlide5.xml.rels>&#65279;<?xml version="1.0" encoding="utf-8"?><Relationships xmlns="http://schemas.openxmlformats.org/package/2006/relationships"><Relationship Type="http://schemas.openxmlformats.org/officeDocument/2006/relationships/slide" Target="/ppt/slides/slide5.xml" Id="R027959c23ae747ae" /><Relationship Type="http://schemas.openxmlformats.org/officeDocument/2006/relationships/notesMaster" Target="/ppt/notesMasters/notesMaster1.xml" Id="R2e545eaffa064f33" /></Relationships>
</file>

<file path=ppt/notesSlides/_rels/notesSlide6.xml.rels>&#65279;<?xml version="1.0" encoding="utf-8"?><Relationships xmlns="http://schemas.openxmlformats.org/package/2006/relationships"><Relationship Type="http://schemas.openxmlformats.org/officeDocument/2006/relationships/slide" Target="/ppt/slides/slide6.xml" Id="R3504e2432b2f4ce2" /><Relationship Type="http://schemas.openxmlformats.org/officeDocument/2006/relationships/notesMaster" Target="/ppt/notesMasters/notesMaster1.xml" Id="R1f377cffa8e149eb" /></Relationships>
</file>

<file path=ppt/notesSlides/_rels/notesSlide7.xml.rels>&#65279;<?xml version="1.0" encoding="utf-8"?><Relationships xmlns="http://schemas.openxmlformats.org/package/2006/relationships"><Relationship Type="http://schemas.openxmlformats.org/officeDocument/2006/relationships/slide" Target="/ppt/slides/slide7.xml" Id="R13b6c0358ddc4ad5" /><Relationship Type="http://schemas.openxmlformats.org/officeDocument/2006/relationships/notesMaster" Target="/ppt/notesMasters/notesMaster1.xml" Id="R5975284624a34b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a6dbc371dc9d4b4e" /><Relationship Type="http://schemas.openxmlformats.org/officeDocument/2006/relationships/notesMaster" Target="/ppt/notesMasters/notesMaster1.xml" Id="R8bb9f342575940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155b0e118b54aa2" /><Relationship Type="http://schemas.openxmlformats.org/officeDocument/2006/relationships/notesMaster" Target="/ppt/notesMasters/notesMaster1.xml" Id="Rfedde5c10d7149e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31a6f7ea254d6d" /><Relationship Type="http://schemas.openxmlformats.org/officeDocument/2006/relationships/notesMaster" Target="/ppt/notesMasters/notesMaster1.xml" Id="Ra1c05b6ee0dd4e9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Introduce the project as a restricted pseudocode-to-C compiler. Explain that it reads a defined teaching language, checks it, builds an intermediate representation, and emits readable C. Review 2 shows the connected implementation and its current boundaries.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State the problem simply: the project helps turn small, structured algorithms into C while exposing how a compiler works. The source uses a defined grammar. The output is a C program, not an interpretation of arbitrary English.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 precise about the baseline. The Phase 1 report highlighted simple declarations, assignments, arithmetic and PRINT. The supplied Review 1 code already contained IF/ELSE, WHILE, FOR, READ and one-dimensional arrays, so do not claim those were invented for Review 2. The new extensions are strings, bitwise operators, loop control, contracts, automatic guards, diagnostic suggestions and optimizer comparison. Source: docs/phase1-alignment.md.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flow in order. main.py obtains the source. lexer.py creates tokens. parser.py creates the AST. semantic.py checks declared identifiers, types and scopes and builds the symbol table. ir.py lowers the AST. optimizer.py performs conservative transformations. cgen.py produces C. GCC is an optional final validation/execution step and is not a compiler module. The CLI prints source, tokens, AST, symbols, IR, optimized IR and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this as the end-to-end explanation. The lexer identifies keywords, x, literals and plus. The parser builds an assignment node with a binary addition. Semantic analysis finds x declared as INTEGER. The original IR uses a temporary t1. The optimizer safely folds 2 + 3 to 5. The generator emits x = 5 and printf. Running the generated C prints 5. The temporary appears in IR because IR exposes evaluation steps; it need not remain in final 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complete path: the parser makes a FOR node containing an IF and assignment. The IR keeps the FOR and CONTINUE structure. The C backend emits a normal for loop and continue, with no goto. The run prints 8 because iteration 2 is skipped. This is the verified example in review2-build/ex-control.pseudo.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symbol table records name as STRING and bits as INTEGER. The IR retains a bitwise expression. C uses a fixed character buffer, strcpy and integer bitwise AND. The actual generated scanf line is wrapped in an input-failure check; the slide shows only the relevant statements. With input 5, the program prints Mira and 1 on separate lines. This is the verified example in review2-build/ex-string-bits.pseudo.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examples/automatic_division.pseudo. The IR shows an ordinary division. The C generator recognizes the variable divisor and inserts a zero check before the division. The slide uses equivalent adjacent C string literals to fit the diagnostic; the actual generator emits it on one source line. With input 20 0, the generated program reports “Division or remainder by zero at pseudocode line 6” and exits with status 1. This is the project’s implemented rule-based improvement. It does not infer arbitrary errors.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examples/automatic_array_bounds.pseudo. The array has valid positions 0, 1 and 2. The IR inserts BOUNDS_CHECK before write and read. The C generator emits an index check before touching the array. The slide uses equivalent adjacent C string literals to fit the diagnostic; actual output is “Array index out of bounds at pseudocode line 7”. Input 3 42 fails on the write and exits with status 1. Input 2 42 succeeds and prints 42.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example is examples/invalid.pseudo. Semantic analysis reports both an undeclared y on line 3 and a REAL-to-INTEGER assignment on line 4, then stops before C generation. Syntax and lexical errors are also rejected at their stages. The language has a defined grammar, not free-form English. It lacks user-defined functions, multidimensional arrays and Boolean AND/OR. STRING is limited to 255 ASCII characters. General arithmetic overflow and uninitialized variable use remain unchecked.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6bd9975500404e29"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99065e857ef4e67"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75c47535fc84e8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edfa7ab74a644ae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c67b12c91ea459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fe541b49d4cb4e0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6EFD1AB-4780-46C9-8336-4CB15B67835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DD71AD9-820F-4BED-8119-5B808FE217B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FAF8E11-2E4C-47FB-932F-E1021ADE424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2BD5DB9-3C20-46BE-B473-8A17E1086E5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BE578509-3DA8-4544-8442-D2717005A14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362E4DE-2E09-4D54-A559-6BFD34505FF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088A5C6-3FF0-467E-8DA8-B3F4820431A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7A7DEEA-56C9-44F9-89CD-56357977CF2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51FA40-A34A-4D71-B2D4-D49B593188E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52F33DD-05A0-4C0D-B28A-A71989DDEE3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9a47ca2abf44fe5" /><Relationship Type="http://schemas.openxmlformats.org/officeDocument/2006/relationships/slideLayout" Target="/ppt/slideLayouts/slideLayout1.xml" Id="R7a61c9bc826a4bbc" /><Relationship Type="http://schemas.openxmlformats.org/officeDocument/2006/relationships/slideLayout" Target="/ppt/slideLayouts/slideLayout2.xml" Id="Ref5917c066c743e8" /><Relationship Type="http://schemas.openxmlformats.org/officeDocument/2006/relationships/slideLayout" Target="/ppt/slideLayouts/slideLayout3.xml" Id="R75245f2572b944b0" /><Relationship Type="http://schemas.openxmlformats.org/officeDocument/2006/relationships/slideLayout" Target="/ppt/slideLayouts/slideLayout4.xml" Id="Rc3c12ab4edc941e1" /><Relationship Type="http://schemas.openxmlformats.org/officeDocument/2006/relationships/slideLayout" Target="/ppt/slideLayouts/slideLayout5.xml" Id="R5e57d6a637be41da" /><Relationship Type="http://schemas.openxmlformats.org/officeDocument/2006/relationships/slideLayout" Target="/ppt/slideLayouts/slideLayout6.xml" Id="Ra3370f2a8dd940d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a61c9bc826a4bbc"/>
    <p:sldLayoutId xmlns:r="http://schemas.openxmlformats.org/officeDocument/2006/relationships" id="2147483650" r:id="Ref5917c066c743e8"/>
    <p:sldLayoutId xmlns:r="http://schemas.openxmlformats.org/officeDocument/2006/relationships" id="2147483651" r:id="R75245f2572b944b0"/>
    <p:sldLayoutId xmlns:r="http://schemas.openxmlformats.org/officeDocument/2006/relationships" id="2147483652" r:id="Rc3c12ab4edc941e1"/>
    <p:sldLayoutId xmlns:r="http://schemas.openxmlformats.org/officeDocument/2006/relationships" id="2147483653" r:id="R5e57d6a637be41da"/>
    <p:sldLayoutId xmlns:r="http://schemas.openxmlformats.org/officeDocument/2006/relationships" id="2147483654" r:id="Ra3370f2a8dd940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42b42245d724212" /><Relationship Type="http://schemas.openxmlformats.org/officeDocument/2006/relationships/notesSlide" Target="/ppt/notesSlides/notesSlide1.xml" Id="R1db07132d8a3475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3fc868e76854074" /><Relationship Type="http://schemas.openxmlformats.org/officeDocument/2006/relationships/notesSlide" Target="/ppt/notesSlides/notesSlide2.xml" Id="R3d84cb7a6b0a472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d84552b1eec4808" /><Relationship Type="http://schemas.openxmlformats.org/officeDocument/2006/relationships/notesSlide" Target="/ppt/notesSlides/notesSlide3.xml" Id="R5fd5d514adb146c5"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216b4a15ac2b4b3a" /><Relationship Type="http://schemas.openxmlformats.org/officeDocument/2006/relationships/notesSlide" Target="/ppt/notesSlides/notesSlide4.xml" Id="R06c0ef47d5a3474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e1952868e134733" /><Relationship Type="http://schemas.openxmlformats.org/officeDocument/2006/relationships/notesSlide" Target="/ppt/notesSlides/notesSlide5.xml" Id="R0b33f6559614453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24017d80e5e443d4" /><Relationship Type="http://schemas.openxmlformats.org/officeDocument/2006/relationships/notesSlide" Target="/ppt/notesSlides/notesSlide6.xml" Id="R8cc3653b9a88471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d51f525cc154200" /><Relationship Type="http://schemas.openxmlformats.org/officeDocument/2006/relationships/notesSlide" Target="/ppt/notesSlides/notesSlide7.xml" Id="Rc4deebace4fd4e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67c68e3f8924756" /><Relationship Type="http://schemas.openxmlformats.org/officeDocument/2006/relationships/notesSlide" Target="/ppt/notesSlides/notesSlide8.xml" Id="Rff483e669b574cfa"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092fed1c33745bb" /><Relationship Type="http://schemas.openxmlformats.org/officeDocument/2006/relationships/notesSlide" Target="/ppt/notesSlides/notesSlide9.xml" Id="R42b91492788a4ca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d931bf0a77834286" /><Relationship Type="http://schemas.openxmlformats.org/officeDocument/2006/relationships/notesSlide" Target="/ppt/notesSlides/notesSlide10.xml" Id="R93bb9257c94d412d" /></Relationships>
</file>

<file path=ppt/slides/slide1.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FFCA1B0-B971-44D1-B397-A57B35D09334}"/>
              </a:ext>
            </a:extLst>
          </p:cNvPr>
          <p:cNvSpPr>
            <a:spLocks xmlns:a="http://schemas.openxmlformats.org/drawingml/2006/main" noGrp="1"/>
          </p:cNvSpPr>
          <p:nvPr/>
        </p:nvSpPr>
        <p:spPr>
          <a:xfrm xmlns:a="http://schemas.openxmlformats.org/drawingml/2006/main">
            <a:off x="0" y="0"/>
            <a:ext cx="12192000" cy="571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56FBFC-E0A3-49AE-AFCD-58726BAED1EE}"/>
              </a:ext>
            </a:extLst>
          </p:cNvPr>
          <p:cNvSpPr>
            <a:spLocks xmlns:a="http://schemas.openxmlformats.org/drawingml/2006/main" noGrp="1"/>
          </p:cNvSpPr>
          <p:nvPr/>
        </p:nvSpPr>
        <p:spPr>
          <a:xfrm xmlns:a="http://schemas.openxmlformats.org/drawingml/2006/main">
            <a:off x="619125" y="504825"/>
            <a:ext cx="8096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1">
                <a:solidFill>
                  <a:srgbClr val="20D5EA"/>
                </a:solidFill>
                <a:latin typeface="Arial"/>
                <a:ea typeface="Arial"/>
                <a:cs typeface="Arial"/>
              </a:defRPr>
            </a:defPPr>
          </a:lstStyle>
          <a:p xmlns:a="http://schemas.openxmlformats.org/drawingml/2006/main">
            <a:pPr>
              <a:defRPr sz="1425" b="1">
                <a:solidFill>
                  <a:srgbClr val="20D5EA"/>
                </a:solidFill>
                <a:latin typeface="Arial"/>
                <a:ea typeface="Arial"/>
                <a:cs typeface="Arial"/>
              </a:defRPr>
            </a:pPr>
            <a:r>
              <a:rPr sz="1425" b="1">
                <a:solidFill>
                  <a:srgbClr val="20D5EA"/>
                </a:solidFill>
                <a:latin typeface="Arial"/>
                <a:ea typeface="Arial"/>
                <a:cs typeface="Arial"/>
              </a:rPr>
              <a:t>COMPILER DESIGN LABORATORY</a:t>
            </a:r>
          </a:p>
        </p:txBody>
      </p:sp>
      <p:sp>
        <p:nvSpPr>
          <p:cNvPr id="3" name="">
            <a:extLst xmlns:a="http://schemas.openxmlformats.org/drawingml/2006/main">
              <a:ext uri="{FF2B5EF4-FFF2-40B4-BE49-F238E27FC236}">
                <a16:creationId xmlns:a16="http://schemas.microsoft.com/office/drawing/2014/main" id="{C4A854DC-BB9D-49FB-8889-44E22DED053D}"/>
              </a:ext>
            </a:extLst>
          </p:cNvPr>
          <p:cNvSpPr>
            <a:spLocks xmlns:a="http://schemas.openxmlformats.org/drawingml/2006/main" noGrp="1"/>
          </p:cNvSpPr>
          <p:nvPr/>
        </p:nvSpPr>
        <p:spPr>
          <a:xfrm xmlns:a="http://schemas.openxmlformats.org/drawingml/2006/main">
            <a:off x="619125" y="1476375"/>
            <a:ext cx="1028700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4050" b="1">
                <a:solidFill>
                  <a:srgbClr val="F6F8FC"/>
                </a:solidFill>
                <a:latin typeface="Arial"/>
                <a:ea typeface="Arial"/>
                <a:cs typeface="Arial"/>
              </a:defRPr>
            </a:defPPr>
          </a:lstStyle>
          <a:p xmlns:a="http://schemas.openxmlformats.org/drawingml/2006/main">
            <a:pPr>
              <a:defRPr sz="4050" b="1">
                <a:solidFill>
                  <a:srgbClr val="F6F8FC"/>
                </a:solidFill>
                <a:latin typeface="Arial"/>
                <a:ea typeface="Arial"/>
                <a:cs typeface="Arial"/>
              </a:defRPr>
            </a:pPr>
            <a:r>
              <a:rPr sz="4050" b="1">
                <a:solidFill>
                  <a:srgbClr val="F6F8FC"/>
                </a:solidFill>
                <a:latin typeface="Arial"/>
                <a:ea typeface="Arial"/>
                <a:cs typeface="Arial"/>
              </a:rPr>
              <a:t>Pseudocode-to-C</a:t>
            </a:r>
          </a:p>
          <a:p xmlns:a="http://schemas.openxmlformats.org/drawingml/2006/main">
            <a:pPr>
              <a:defRPr sz="4050" b="1">
                <a:solidFill>
                  <a:srgbClr val="F6F8FC"/>
                </a:solidFill>
                <a:latin typeface="Arial"/>
                <a:ea typeface="Arial"/>
                <a:cs typeface="Arial"/>
              </a:defRPr>
            </a:pPr>
            <a:r>
              <a:rPr sz="4050" b="1">
                <a:solidFill>
                  <a:srgbClr val="F6F8FC"/>
                </a:solidFill>
                <a:latin typeface="Arial"/>
                <a:ea typeface="Arial"/>
                <a:cs typeface="Arial"/>
              </a:rPr>
              <a:t>Code Translator</a:t>
            </a:r>
          </a:p>
        </p:txBody>
      </p:sp>
      <p:sp>
        <p:nvSpPr>
          <p:cNvPr id="4" name="">
            <a:extLst xmlns:a="http://schemas.openxmlformats.org/drawingml/2006/main">
              <a:ext uri="{FF2B5EF4-FFF2-40B4-BE49-F238E27FC236}">
                <a16:creationId xmlns:a16="http://schemas.microsoft.com/office/drawing/2014/main" id="{8F8C3E42-D91A-4126-903B-A6CDCB9A997C}"/>
              </a:ext>
            </a:extLst>
          </p:cNvPr>
          <p:cNvSpPr>
            <a:spLocks xmlns:a="http://schemas.openxmlformats.org/drawingml/2006/main" noGrp="1"/>
          </p:cNvSpPr>
          <p:nvPr/>
        </p:nvSpPr>
        <p:spPr>
          <a:xfrm xmlns:a="http://schemas.openxmlformats.org/drawingml/2006/main">
            <a:off x="619125" y="3114675"/>
            <a:ext cx="9810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100" b="1">
                <a:solidFill>
                  <a:srgbClr val="4C82FF"/>
                </a:solidFill>
                <a:latin typeface="Arial"/>
                <a:ea typeface="Arial"/>
                <a:cs typeface="Arial"/>
              </a:defRPr>
            </a:defPPr>
          </a:lstStyle>
          <a:p xmlns:a="http://schemas.openxmlformats.org/drawingml/2006/main">
            <a:pPr>
              <a:defRPr sz="2100" b="1">
                <a:solidFill>
                  <a:srgbClr val="4C82FF"/>
                </a:solidFill>
                <a:latin typeface="Arial"/>
                <a:ea typeface="Arial"/>
                <a:cs typeface="Arial"/>
              </a:defRPr>
            </a:pPr>
            <a:r>
              <a:rPr sz="2100" b="1">
                <a:solidFill>
                  <a:srgbClr val="4C82FF"/>
                </a:solidFill>
                <a:latin typeface="Arial"/>
                <a:ea typeface="Arial"/>
                <a:cs typeface="Arial"/>
              </a:rPr>
              <a:t>Review 2   Core implementation progress</a:t>
            </a:r>
          </a:p>
        </p:txBody>
      </p:sp>
      <p:sp>
        <p:nvSpPr>
          <p:cNvPr id="5" name="">
            <a:extLst xmlns:a="http://schemas.openxmlformats.org/drawingml/2006/main">
              <a:ext uri="{FF2B5EF4-FFF2-40B4-BE49-F238E27FC236}">
                <a16:creationId xmlns:a16="http://schemas.microsoft.com/office/drawing/2014/main" id="{0036EB3D-D055-45EE-9D68-8B5AB79620DF}"/>
              </a:ext>
            </a:extLst>
          </p:cNvPr>
          <p:cNvSpPr>
            <a:spLocks xmlns:a="http://schemas.openxmlformats.org/drawingml/2006/main" noGrp="1"/>
          </p:cNvSpPr>
          <p:nvPr/>
        </p:nvSpPr>
        <p:spPr>
          <a:xfrm xmlns:a="http://schemas.openxmlformats.org/drawingml/2006/main">
            <a:off x="619125" y="3905250"/>
            <a:ext cx="104775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6" name="">
            <a:extLst xmlns:a="http://schemas.openxmlformats.org/drawingml/2006/main">
              <a:ext uri="{FF2B5EF4-FFF2-40B4-BE49-F238E27FC236}">
                <a16:creationId xmlns:a16="http://schemas.microsoft.com/office/drawing/2014/main" id="{9D20AE4C-57C6-4B51-AF2E-A8398B05827F}"/>
              </a:ext>
            </a:extLst>
          </p:cNvPr>
          <p:cNvSpPr>
            <a:spLocks xmlns:a="http://schemas.openxmlformats.org/drawingml/2006/main" noGrp="1"/>
          </p:cNvSpPr>
          <p:nvPr/>
        </p:nvSpPr>
        <p:spPr>
          <a:xfrm xmlns:a="http://schemas.openxmlformats.org/drawingml/2006/main">
            <a:off x="619125" y="4210050"/>
            <a:ext cx="7524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F6F8FC"/>
                </a:solidFill>
                <a:latin typeface="Arial"/>
                <a:ea typeface="Arial"/>
                <a:cs typeface="Arial"/>
              </a:defRPr>
            </a:defPPr>
          </a:lstStyle>
          <a:p xmlns:a="http://schemas.openxmlformats.org/drawingml/2006/main">
            <a:pPr>
              <a:defRPr sz="2025" b="1">
                <a:solidFill>
                  <a:srgbClr val="F6F8FC"/>
                </a:solidFill>
                <a:latin typeface="Arial"/>
                <a:ea typeface="Arial"/>
                <a:cs typeface="Arial"/>
              </a:defRPr>
            </a:pPr>
            <a:r>
              <a:rPr sz="2025" b="1">
                <a:solidFill>
                  <a:srgbClr val="F6F8FC"/>
                </a:solidFill>
                <a:latin typeface="Arial"/>
                <a:ea typeface="Arial"/>
                <a:cs typeface="Arial"/>
              </a:rPr>
              <a:t>Sashwath J   |   24BAI0059</a:t>
            </a:r>
          </a:p>
        </p:txBody>
      </p:sp>
      <p:sp>
        <p:nvSpPr>
          <p:cNvPr id="7" name="">
            <a:extLst xmlns:a="http://schemas.openxmlformats.org/drawingml/2006/main">
              <a:ext uri="{FF2B5EF4-FFF2-40B4-BE49-F238E27FC236}">
                <a16:creationId xmlns:a16="http://schemas.microsoft.com/office/drawing/2014/main" id="{A7ECFB8B-187E-4F75-8AA6-975F18990C9A}"/>
              </a:ext>
            </a:extLst>
          </p:cNvPr>
          <p:cNvSpPr>
            <a:spLocks xmlns:a="http://schemas.openxmlformats.org/drawingml/2006/main" noGrp="1"/>
          </p:cNvSpPr>
          <p:nvPr/>
        </p:nvSpPr>
        <p:spPr>
          <a:xfrm xmlns:a="http://schemas.openxmlformats.org/drawingml/2006/main">
            <a:off x="619125" y="4686300"/>
            <a:ext cx="9906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BCSE307P   Compiler Design Laboratory   |   2026–27</a:t>
            </a:r>
          </a:p>
        </p:txBody>
      </p:sp>
      <p:sp>
        <p:nvSpPr>
          <p:cNvPr id="8" name="">
            <a:extLst xmlns:a="http://schemas.openxmlformats.org/drawingml/2006/main">
              <a:ext uri="{FF2B5EF4-FFF2-40B4-BE49-F238E27FC236}">
                <a16:creationId xmlns:a16="http://schemas.microsoft.com/office/drawing/2014/main" id="{61691170-06CF-4EB4-BEA9-E6A17BE82337}"/>
              </a:ext>
            </a:extLst>
          </p:cNvPr>
          <p:cNvSpPr>
            <a:spLocks xmlns:a="http://schemas.openxmlformats.org/drawingml/2006/main" noGrp="1"/>
          </p:cNvSpPr>
          <p:nvPr/>
        </p:nvSpPr>
        <p:spPr>
          <a:xfrm xmlns:a="http://schemas.openxmlformats.org/drawingml/2006/main">
            <a:off x="619125" y="5848350"/>
            <a:ext cx="105727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Working translator, compiler stages, test evidence and current limits</a:t>
            </a:r>
          </a:p>
        </p:txBody>
      </p:sp>
    </p:spTree>
    <p:extLst>
      <p:ext uri="{BB962C8B-B14F-4D97-AF65-F5344CB8AC3E}">
        <p14:creationId xmlns:p14="http://schemas.microsoft.com/office/powerpoint/2010/main" val="944847291"/>
      </p:ext>
    </p:extLst>
  </p:cSld>
</p:sld>
</file>

<file path=ppt/slides/slide2.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E5756D38-1D4F-43DB-9B24-FE2D5A0513AA}"/>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A476617-5C57-4E42-AFAB-EBA215A22991}"/>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Project objective and method</a:t>
            </a:r>
          </a:p>
        </p:txBody>
      </p:sp>
      <p:sp>
        <p:nvSpPr>
          <p:cNvPr id="3" name="">
            <a:extLst xmlns:a="http://schemas.openxmlformats.org/drawingml/2006/main">
              <a:ext uri="{FF2B5EF4-FFF2-40B4-BE49-F238E27FC236}">
                <a16:creationId xmlns:a16="http://schemas.microsoft.com/office/drawing/2014/main" id="{BCA6E700-625E-494E-AF46-5E56A30472D0}"/>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Translate a defined pseudocode language into readable, compilable C.</a:t>
            </a:r>
          </a:p>
        </p:txBody>
      </p:sp>
      <p:sp>
        <p:nvSpPr>
          <p:cNvPr id="4" name="">
            <a:extLst xmlns:a="http://schemas.openxmlformats.org/drawingml/2006/main">
              <a:ext uri="{FF2B5EF4-FFF2-40B4-BE49-F238E27FC236}">
                <a16:creationId xmlns:a16="http://schemas.microsoft.com/office/drawing/2014/main" id="{4B58B4C4-602D-40C1-B4EA-C1B2A3DA63EC}"/>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D88EC033-770E-446F-90B2-31B315E31039}"/>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3DD408DD-FB82-41AF-AF5D-1CCAE15CE631}"/>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02</a:t>
            </a:r>
          </a:p>
        </p:txBody>
      </p:sp>
      <p:sp>
        <p:nvSpPr>
          <p:cNvPr id="7" name="">
            <a:extLst xmlns:a="http://schemas.openxmlformats.org/drawingml/2006/main">
              <a:ext uri="{FF2B5EF4-FFF2-40B4-BE49-F238E27FC236}">
                <a16:creationId xmlns:a16="http://schemas.microsoft.com/office/drawing/2014/main" id="{A893CDD3-1046-442F-9D86-F5A1742938C2}"/>
              </a:ext>
            </a:extLst>
          </p:cNvPr>
          <p:cNvSpPr>
            <a:spLocks xmlns:a="http://schemas.openxmlformats.org/drawingml/2006/main" noGrp="1"/>
          </p:cNvSpPr>
          <p:nvPr/>
        </p:nvSpPr>
        <p:spPr>
          <a:xfrm xmlns:a="http://schemas.openxmlformats.org/drawingml/2006/main">
            <a:off x="638175" y="1552575"/>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INPUT</a:t>
            </a:r>
          </a:p>
        </p:txBody>
      </p:sp>
      <p:sp>
        <p:nvSpPr>
          <p:cNvPr id="8" name="">
            <a:extLst xmlns:a="http://schemas.openxmlformats.org/drawingml/2006/main">
              <a:ext uri="{FF2B5EF4-FFF2-40B4-BE49-F238E27FC236}">
                <a16:creationId xmlns:a16="http://schemas.microsoft.com/office/drawing/2014/main" id="{9DD03BF1-13D1-49DD-9EA8-08594B138038}"/>
              </a:ext>
            </a:extLst>
          </p:cNvPr>
          <p:cNvSpPr>
            <a:spLocks xmlns:a="http://schemas.openxmlformats.org/drawingml/2006/main" noGrp="1"/>
          </p:cNvSpPr>
          <p:nvPr/>
        </p:nvSpPr>
        <p:spPr>
          <a:xfrm xmlns:a="http://schemas.openxmlformats.org/drawingml/2006/main">
            <a:off x="638175" y="1895475"/>
            <a:ext cx="3048000"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3FB1922-F97B-4CC2-89E9-F8C636BEE734}"/>
              </a:ext>
            </a:extLst>
          </p:cNvPr>
          <p:cNvSpPr>
            <a:spLocks xmlns:a="http://schemas.openxmlformats.org/drawingml/2006/main" noGrp="1"/>
          </p:cNvSpPr>
          <p:nvPr/>
        </p:nvSpPr>
        <p:spPr>
          <a:xfrm xmlns:a="http://schemas.openxmlformats.org/drawingml/2006/main">
            <a:off x="628650" y="2066925"/>
            <a:ext cx="3048000" cy="2095500"/>
          </a:xfrm>
          <a:prstGeom xmlns:a="http://schemas.openxmlformats.org/drawingml/2006/main" prst="roundRect">
            <a:avLst>
              <a:gd name="adj" fmla="val 4545"/>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88755F4D-3EDD-4837-A943-18F95021F211}"/>
              </a:ext>
            </a:extLst>
          </p:cNvPr>
          <p:cNvSpPr>
            <a:spLocks xmlns:a="http://schemas.openxmlformats.org/drawingml/2006/main" noGrp="1"/>
          </p:cNvSpPr>
          <p:nvPr/>
        </p:nvSpPr>
        <p:spPr>
          <a:xfrm xmlns:a="http://schemas.openxmlformats.org/drawingml/2006/main">
            <a:off x="838200" y="2228850"/>
            <a:ext cx="2628900"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F6F8FC"/>
                </a:solidFill>
                <a:latin typeface="Consolas"/>
                <a:ea typeface="Consolas"/>
                <a:cs typeface="Consolas"/>
              </a:defRPr>
            </a:defPPr>
          </a:lstStyle>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BEGIN</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DECLARE x AS INTEGER</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SET x = 2 + 3</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PRINT x</a:t>
            </a:r>
          </a:p>
          <a:p xmlns:a="http://schemas.openxmlformats.org/drawingml/2006/main">
            <a:pPr>
              <a:defRPr sz="1575" b="0">
                <a:solidFill>
                  <a:srgbClr val="F6F8FC"/>
                </a:solidFill>
                <a:latin typeface="Consolas"/>
                <a:ea typeface="Consolas"/>
                <a:cs typeface="Consolas"/>
              </a:defRPr>
            </a:pPr>
            <a:r>
              <a:rPr sz="1575"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B695BDD5-11F9-49B1-B294-82050352481E}"/>
              </a:ext>
            </a:extLst>
          </p:cNvPr>
          <p:cNvSpPr>
            <a:spLocks xmlns:a="http://schemas.openxmlformats.org/drawingml/2006/main" noGrp="1"/>
          </p:cNvSpPr>
          <p:nvPr/>
        </p:nvSpPr>
        <p:spPr>
          <a:xfrm xmlns:a="http://schemas.openxmlformats.org/drawingml/2006/main">
            <a:off x="4467225" y="1552575"/>
            <a:ext cx="304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COMPILER</a:t>
            </a:r>
          </a:p>
        </p:txBody>
      </p:sp>
      <p:sp>
        <p:nvSpPr>
          <p:cNvPr id="12" name="">
            <a:extLst xmlns:a="http://schemas.openxmlformats.org/drawingml/2006/main">
              <a:ext uri="{FF2B5EF4-FFF2-40B4-BE49-F238E27FC236}">
                <a16:creationId xmlns:a16="http://schemas.microsoft.com/office/drawing/2014/main" id="{1E375A63-62AB-4D79-9396-69F9ABE50373}"/>
              </a:ext>
            </a:extLst>
          </p:cNvPr>
          <p:cNvSpPr>
            <a:spLocks xmlns:a="http://schemas.openxmlformats.org/drawingml/2006/main" noGrp="1"/>
          </p:cNvSpPr>
          <p:nvPr/>
        </p:nvSpPr>
        <p:spPr>
          <a:xfrm xmlns:a="http://schemas.openxmlformats.org/drawingml/2006/main">
            <a:off x="4467225" y="1895475"/>
            <a:ext cx="30480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3796B0EC-3B70-45DB-BAC1-6AC56139C9F2}"/>
              </a:ext>
            </a:extLst>
          </p:cNvPr>
          <p:cNvSpPr>
            <a:spLocks xmlns:a="http://schemas.openxmlformats.org/drawingml/2006/main" noGrp="1"/>
          </p:cNvSpPr>
          <p:nvPr/>
        </p:nvSpPr>
        <p:spPr>
          <a:xfrm xmlns:a="http://schemas.openxmlformats.org/drawingml/2006/main">
            <a:off x="4476750" y="2095500"/>
            <a:ext cx="3048000" cy="2047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Recognize syntax</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Check names and types</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Build and optimize IR</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Generate C</a:t>
            </a:r>
          </a:p>
        </p:txBody>
      </p:sp>
      <p:sp>
        <p:nvSpPr>
          <p:cNvPr id="14" name="">
            <a:extLst xmlns:a="http://schemas.openxmlformats.org/drawingml/2006/main">
              <a:ext uri="{FF2B5EF4-FFF2-40B4-BE49-F238E27FC236}">
                <a16:creationId xmlns:a16="http://schemas.microsoft.com/office/drawing/2014/main" id="{51EB1519-6029-4CD0-B768-E38DBDE4A44F}"/>
              </a:ext>
            </a:extLst>
          </p:cNvPr>
          <p:cNvSpPr>
            <a:spLocks xmlns:a="http://schemas.openxmlformats.org/drawingml/2006/main" noGrp="1"/>
          </p:cNvSpPr>
          <p:nvPr/>
        </p:nvSpPr>
        <p:spPr>
          <a:xfrm xmlns:a="http://schemas.openxmlformats.org/drawingml/2006/main">
            <a:off x="8286750" y="1552575"/>
            <a:ext cx="3181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OUTPUT</a:t>
            </a:r>
          </a:p>
        </p:txBody>
      </p:sp>
      <p:sp>
        <p:nvSpPr>
          <p:cNvPr id="15" name="">
            <a:extLst xmlns:a="http://schemas.openxmlformats.org/drawingml/2006/main">
              <a:ext uri="{FF2B5EF4-FFF2-40B4-BE49-F238E27FC236}">
                <a16:creationId xmlns:a16="http://schemas.microsoft.com/office/drawing/2014/main" id="{075EFD6C-3617-4EE4-84AE-1EE440D4F1D0}"/>
              </a:ext>
            </a:extLst>
          </p:cNvPr>
          <p:cNvSpPr>
            <a:spLocks xmlns:a="http://schemas.openxmlformats.org/drawingml/2006/main" noGrp="1"/>
          </p:cNvSpPr>
          <p:nvPr/>
        </p:nvSpPr>
        <p:spPr>
          <a:xfrm xmlns:a="http://schemas.openxmlformats.org/drawingml/2006/main">
            <a:off x="8286750" y="1895475"/>
            <a:ext cx="318135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8D2A017-04CC-4854-888D-0DBE16544201}"/>
              </a:ext>
            </a:extLst>
          </p:cNvPr>
          <p:cNvSpPr>
            <a:spLocks xmlns:a="http://schemas.openxmlformats.org/drawingml/2006/main" noGrp="1"/>
          </p:cNvSpPr>
          <p:nvPr/>
        </p:nvSpPr>
        <p:spPr>
          <a:xfrm xmlns:a="http://schemas.openxmlformats.org/drawingml/2006/main">
            <a:off x="8277225" y="2066925"/>
            <a:ext cx="3190875" cy="2095500"/>
          </a:xfrm>
          <a:prstGeom xmlns:a="http://schemas.openxmlformats.org/drawingml/2006/main" prst="roundRect">
            <a:avLst>
              <a:gd name="adj" fmla="val 4545"/>
            </a:avLst>
          </a:prstGeom>
          <a:solidFill xmlns:a="http://schemas.openxmlformats.org/drawingml/2006/main">
            <a:srgbClr val="101B2C"/>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51DF11CB-F6A4-4D83-8605-76115D584D50}"/>
              </a:ext>
            </a:extLst>
          </p:cNvPr>
          <p:cNvSpPr>
            <a:spLocks xmlns:a="http://schemas.openxmlformats.org/drawingml/2006/main" noGrp="1"/>
          </p:cNvSpPr>
          <p:nvPr/>
        </p:nvSpPr>
        <p:spPr>
          <a:xfrm xmlns:a="http://schemas.openxmlformats.org/drawingml/2006/main">
            <a:off x="8486775" y="2228850"/>
            <a:ext cx="2771775" cy="1771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int x;</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5;</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printf("%d\n", x);</a:t>
            </a:r>
          </a:p>
        </p:txBody>
      </p:sp>
      <p:sp>
        <p:nvSpPr>
          <p:cNvPr id="18" name="">
            <a:extLst xmlns:a="http://schemas.openxmlformats.org/drawingml/2006/main">
              <a:ext uri="{FF2B5EF4-FFF2-40B4-BE49-F238E27FC236}">
                <a16:creationId xmlns:a16="http://schemas.microsoft.com/office/drawing/2014/main" id="{84A48748-5814-4CEE-8008-17781805D2D5}"/>
              </a:ext>
            </a:extLst>
          </p:cNvPr>
          <p:cNvSpPr>
            <a:spLocks xmlns:a="http://schemas.openxmlformats.org/drawingml/2006/main" noGrp="1"/>
          </p:cNvSpPr>
          <p:nvPr/>
        </p:nvSpPr>
        <p:spPr>
          <a:xfrm xmlns:a="http://schemas.openxmlformats.org/drawingml/2006/main">
            <a:off x="638175" y="4648200"/>
            <a:ext cx="10829925"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DAD7886C-ABBF-4301-84E4-88668FAEE440}"/>
              </a:ext>
            </a:extLst>
          </p:cNvPr>
          <p:cNvSpPr>
            <a:spLocks xmlns:a="http://schemas.openxmlformats.org/drawingml/2006/main" noGrp="1"/>
          </p:cNvSpPr>
          <p:nvPr/>
        </p:nvSpPr>
        <p:spPr>
          <a:xfrm xmlns:a="http://schemas.openxmlformats.org/drawingml/2006/main">
            <a:off x="647700" y="487680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F6F8FC"/>
                </a:solidFill>
                <a:latin typeface="Arial"/>
                <a:ea typeface="Arial"/>
                <a:cs typeface="Arial"/>
              </a:defRPr>
            </a:defPPr>
          </a:lstStyle>
          <a:p xmlns:a="http://schemas.openxmlformats.org/drawingml/2006/main">
            <a:pPr>
              <a:defRPr sz="1725" b="1">
                <a:solidFill>
                  <a:srgbClr val="F6F8FC"/>
                </a:solidFill>
                <a:latin typeface="Arial"/>
                <a:ea typeface="Arial"/>
                <a:cs typeface="Arial"/>
              </a:defRPr>
            </a:pPr>
            <a:r>
              <a:rPr sz="1725" b="1">
                <a:solidFill>
                  <a:srgbClr val="F6F8FC"/>
                </a:solidFill>
                <a:latin typeface="Arial"/>
                <a:ea typeface="Arial"/>
                <a:cs typeface="Arial"/>
              </a:rPr>
              <a:t>The input is structured pseudocode, not unrestricted natural language.</a:t>
            </a:r>
          </a:p>
        </p:txBody>
      </p:sp>
      <p:sp>
        <p:nvSpPr>
          <p:cNvPr id="20" name="">
            <a:extLst xmlns:a="http://schemas.openxmlformats.org/drawingml/2006/main">
              <a:ext uri="{FF2B5EF4-FFF2-40B4-BE49-F238E27FC236}">
                <a16:creationId xmlns:a16="http://schemas.microsoft.com/office/drawing/2014/main" id="{2FE35484-4A13-41F0-B45C-0F27B89D2A2E}"/>
              </a:ext>
            </a:extLst>
          </p:cNvPr>
          <p:cNvSpPr>
            <a:spLocks xmlns:a="http://schemas.openxmlformats.org/drawingml/2006/main" noGrp="1"/>
          </p:cNvSpPr>
          <p:nvPr/>
        </p:nvSpPr>
        <p:spPr>
          <a:xfrm xmlns:a="http://schemas.openxmlformats.org/drawingml/2006/main">
            <a:off x="647700" y="5410200"/>
            <a:ext cx="1066800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AEBBD0"/>
                </a:solidFill>
                <a:latin typeface="Arial"/>
                <a:ea typeface="Arial"/>
                <a:cs typeface="Arial"/>
              </a:defRPr>
            </a:defPPr>
          </a:lstStyle>
          <a:p xmlns:a="http://schemas.openxmlformats.org/drawingml/2006/main">
            <a:pPr>
              <a:defRPr sz="1650" b="0">
                <a:solidFill>
                  <a:srgbClr val="AEBBD0"/>
                </a:solidFill>
                <a:latin typeface="Arial"/>
                <a:ea typeface="Arial"/>
                <a:cs typeface="Arial"/>
              </a:defRPr>
            </a:pPr>
            <a:r>
              <a:rPr sz="1650" b="0">
                <a:solidFill>
                  <a:srgbClr val="AEBBD0"/>
                </a:solidFill>
                <a:latin typeface="Arial"/>
                <a:ea typeface="Arial"/>
                <a:cs typeface="Arial"/>
              </a:rPr>
              <a:t>The output is C source; GCC can compile and run it for supported programs.</a:t>
            </a:r>
          </a:p>
        </p:txBody>
      </p:sp>
    </p:spTree>
    <p:extLst>
      <p:ext uri="{BB962C8B-B14F-4D97-AF65-F5344CB8AC3E}">
        <p14:creationId xmlns:p14="http://schemas.microsoft.com/office/powerpoint/2010/main" val="835353766"/>
      </p:ext>
    </p:extLst>
  </p:cSld>
</p:sld>
</file>

<file path=ppt/slides/slide3.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F5A79EDB-A6DF-4619-93EE-1E20C8160162}"/>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D6A4185-5068-45EA-AE72-586C9C0C30F7}"/>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What changed since Review 1</a:t>
            </a:r>
          </a:p>
        </p:txBody>
      </p:sp>
      <p:sp>
        <p:nvSpPr>
          <p:cNvPr id="3" name="">
            <a:extLst xmlns:a="http://schemas.openxmlformats.org/drawingml/2006/main">
              <a:ext uri="{FF2B5EF4-FFF2-40B4-BE49-F238E27FC236}">
                <a16:creationId xmlns:a16="http://schemas.microsoft.com/office/drawing/2014/main" id="{671011CC-8A90-40EC-964F-B5F0C4BDD84F}"/>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original prototype and report established the compiler path; this version extends and checks it.</a:t>
            </a:r>
          </a:p>
        </p:txBody>
      </p:sp>
      <p:sp>
        <p:nvSpPr>
          <p:cNvPr id="4" name="">
            <a:extLst xmlns:a="http://schemas.openxmlformats.org/drawingml/2006/main">
              <a:ext uri="{FF2B5EF4-FFF2-40B4-BE49-F238E27FC236}">
                <a16:creationId xmlns:a16="http://schemas.microsoft.com/office/drawing/2014/main" id="{A0C7F3B8-BD9A-4CC5-A8C3-2BEE8685119D}"/>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7C4E4B01-04DF-48AC-99A2-193C34A8B891}"/>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4A751F46-65B2-4E5D-911B-6D122060E5CE}"/>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03</a:t>
            </a:r>
          </a:p>
        </p:txBody>
      </p:sp>
      <p:sp>
        <p:nvSpPr>
          <p:cNvPr id="7" name="">
            <a:extLst xmlns:a="http://schemas.openxmlformats.org/drawingml/2006/main">
              <a:ext uri="{FF2B5EF4-FFF2-40B4-BE49-F238E27FC236}">
                <a16:creationId xmlns:a16="http://schemas.microsoft.com/office/drawing/2014/main" id="{8CEFD2CE-89C2-4428-848A-1D14BB6E6722}"/>
              </a:ext>
            </a:extLst>
          </p:cNvPr>
          <p:cNvSpPr>
            <a:spLocks xmlns:a="http://schemas.openxmlformats.org/drawingml/2006/main" noGrp="1"/>
          </p:cNvSpPr>
          <p:nvPr/>
        </p:nvSpPr>
        <p:spPr>
          <a:xfrm xmlns:a="http://schemas.openxmlformats.org/drawingml/2006/main">
            <a:off x="638175" y="1581150"/>
            <a:ext cx="4857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REVIEW 1 PROTOTYPE</a:t>
            </a:r>
          </a:p>
        </p:txBody>
      </p:sp>
      <p:sp>
        <p:nvSpPr>
          <p:cNvPr id="8" name="">
            <a:extLst xmlns:a="http://schemas.openxmlformats.org/drawingml/2006/main">
              <a:ext uri="{FF2B5EF4-FFF2-40B4-BE49-F238E27FC236}">
                <a16:creationId xmlns:a16="http://schemas.microsoft.com/office/drawing/2014/main" id="{918540AC-07C0-486E-94BD-BED134A8DE22}"/>
              </a:ext>
            </a:extLst>
          </p:cNvPr>
          <p:cNvSpPr>
            <a:spLocks xmlns:a="http://schemas.openxmlformats.org/drawingml/2006/main" noGrp="1"/>
          </p:cNvSpPr>
          <p:nvPr/>
        </p:nvSpPr>
        <p:spPr>
          <a:xfrm xmlns:a="http://schemas.openxmlformats.org/drawingml/2006/main">
            <a:off x="638175" y="1924050"/>
            <a:ext cx="485775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3E5A023B-CBF4-41DA-B187-630192C0E296}"/>
              </a:ext>
            </a:extLst>
          </p:cNvPr>
          <p:cNvSpPr>
            <a:spLocks xmlns:a="http://schemas.openxmlformats.org/drawingml/2006/main" noGrp="1"/>
          </p:cNvSpPr>
          <p:nvPr/>
        </p:nvSpPr>
        <p:spPr>
          <a:xfrm xmlns:a="http://schemas.openxmlformats.org/drawingml/2006/main">
            <a:off x="6334125" y="1581150"/>
            <a:ext cx="514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CURRENT IMPLEMENTATION</a:t>
            </a:r>
          </a:p>
        </p:txBody>
      </p:sp>
      <p:sp>
        <p:nvSpPr>
          <p:cNvPr id="10" name="">
            <a:extLst xmlns:a="http://schemas.openxmlformats.org/drawingml/2006/main">
              <a:ext uri="{FF2B5EF4-FFF2-40B4-BE49-F238E27FC236}">
                <a16:creationId xmlns:a16="http://schemas.microsoft.com/office/drawing/2014/main" id="{EC20E3B2-99E9-4588-8C8F-2A07CF74F7A7}"/>
              </a:ext>
            </a:extLst>
          </p:cNvPr>
          <p:cNvSpPr>
            <a:spLocks xmlns:a="http://schemas.openxmlformats.org/drawingml/2006/main" noGrp="1"/>
          </p:cNvSpPr>
          <p:nvPr/>
        </p:nvSpPr>
        <p:spPr>
          <a:xfrm xmlns:a="http://schemas.openxmlformats.org/drawingml/2006/main">
            <a:off x="6334125" y="1924050"/>
            <a:ext cx="51435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4D62460E-21D5-4C15-884D-BDBD172F419B}"/>
              </a:ext>
            </a:extLst>
          </p:cNvPr>
          <p:cNvSpPr>
            <a:spLocks xmlns:a="http://schemas.openxmlformats.org/drawingml/2006/main" noGrp="1"/>
          </p:cNvSpPr>
          <p:nvPr/>
        </p:nvSpPr>
        <p:spPr>
          <a:xfrm xmlns:a="http://schemas.openxmlformats.org/drawingml/2006/main">
            <a:off x="647700" y="2143125"/>
            <a:ext cx="4857750" cy="2667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0">
                <a:solidFill>
                  <a:srgbClr val="F6F8FC"/>
                </a:solidFill>
                <a:latin typeface="Arial"/>
                <a:ea typeface="Arial"/>
                <a:cs typeface="Arial"/>
              </a:defRPr>
            </a:defPPr>
          </a:lstStyle>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Declarations, assignment and PRINT</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Arithmetic and constant folding</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Lexer, parser, AST, symbols and IR</a:t>
            </a:r>
          </a:p>
          <a:p xmlns:a="http://schemas.openxmlformats.org/drawingml/2006/main">
            <a:pPr>
              <a:defRPr sz="1800" b="0">
                <a:solidFill>
                  <a:srgbClr val="F6F8FC"/>
                </a:solidFill>
                <a:latin typeface="Arial"/>
                <a:ea typeface="Arial"/>
                <a:cs typeface="Arial"/>
              </a:defRPr>
            </a:pPr>
            <a:r>
              <a:rPr sz="1800" b="0">
                <a:solidFill>
                  <a:srgbClr val="F6F8FC"/>
                </a:solidFill>
                <a:latin typeface="Arial"/>
                <a:ea typeface="Arial"/>
                <a:cs typeface="Arial"/>
              </a:rPr>
              <a:t>Basic control flow and arrays in Review 1 code</a:t>
            </a:r>
          </a:p>
        </p:txBody>
      </p:sp>
      <p:sp>
        <p:nvSpPr>
          <p:cNvPr id="12" name="">
            <a:extLst xmlns:a="http://schemas.openxmlformats.org/drawingml/2006/main">
              <a:ext uri="{FF2B5EF4-FFF2-40B4-BE49-F238E27FC236}">
                <a16:creationId xmlns:a16="http://schemas.microsoft.com/office/drawing/2014/main" id="{DC5BAEBF-936D-4142-83BD-279F79BA036E}"/>
              </a:ext>
            </a:extLst>
          </p:cNvPr>
          <p:cNvSpPr>
            <a:spLocks xmlns:a="http://schemas.openxmlformats.org/drawingml/2006/main" noGrp="1"/>
          </p:cNvSpPr>
          <p:nvPr/>
        </p:nvSpPr>
        <p:spPr>
          <a:xfrm xmlns:a="http://schemas.openxmlformats.org/drawingml/2006/main">
            <a:off x="6343650" y="2143125"/>
            <a:ext cx="5143500" cy="2857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0">
                <a:solidFill>
                  <a:srgbClr val="F6F8FC"/>
                </a:solidFill>
                <a:latin typeface="Arial"/>
                <a:ea typeface="Arial"/>
                <a:cs typeface="Arial"/>
              </a:defRPr>
            </a:defPPr>
          </a:lstStyle>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STRING and bitwise operators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BREAK / CONTINUE and readable FOR output</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Optional REQUIRE / ENSURE conditions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Automatic guards and clearer diagnostics</a:t>
            </a:r>
          </a:p>
          <a:p xmlns:a="http://schemas.openxmlformats.org/drawingml/2006/main">
            <a:pPr>
              <a:defRPr sz="1725" b="0">
                <a:solidFill>
                  <a:srgbClr val="F6F8FC"/>
                </a:solidFill>
                <a:latin typeface="Arial"/>
                <a:ea typeface="Arial"/>
                <a:cs typeface="Arial"/>
              </a:defRPr>
            </a:pPr>
            <a:r>
              <a:rPr sz="1725" b="0">
                <a:solidFill>
                  <a:srgbClr val="F6F8FC"/>
                </a:solidFill>
                <a:latin typeface="Arial"/>
                <a:ea typeface="Arial"/>
                <a:cs typeface="Arial"/>
              </a:rPr>
              <a:t>Stage-by-stage compiler output</a:t>
            </a:r>
          </a:p>
        </p:txBody>
      </p:sp>
      <p:sp>
        <p:nvSpPr>
          <p:cNvPr id="13" name="">
            <a:extLst xmlns:a="http://schemas.openxmlformats.org/drawingml/2006/main">
              <a:ext uri="{FF2B5EF4-FFF2-40B4-BE49-F238E27FC236}">
                <a16:creationId xmlns:a16="http://schemas.microsoft.com/office/drawing/2014/main" id="{C020E6BA-9BBB-4B14-A06D-220B210FA797}"/>
              </a:ext>
            </a:extLst>
          </p:cNvPr>
          <p:cNvSpPr>
            <a:spLocks xmlns:a="http://schemas.openxmlformats.org/drawingml/2006/main" noGrp="1"/>
          </p:cNvSpPr>
          <p:nvPr/>
        </p:nvSpPr>
        <p:spPr>
          <a:xfrm xmlns:a="http://schemas.openxmlformats.org/drawingml/2006/main">
            <a:off x="590550" y="5238750"/>
            <a:ext cx="109537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B852D52-0EC4-420A-925E-302236CF717C}"/>
              </a:ext>
            </a:extLst>
          </p:cNvPr>
          <p:cNvSpPr>
            <a:spLocks xmlns:a="http://schemas.openxmlformats.org/drawingml/2006/main" noGrp="1"/>
          </p:cNvSpPr>
          <p:nvPr/>
        </p:nvSpPr>
        <p:spPr>
          <a:xfrm xmlns:a="http://schemas.openxmlformats.org/drawingml/2006/main">
            <a:off x="647700" y="5410200"/>
            <a:ext cx="100012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725" b="1">
                <a:solidFill>
                  <a:srgbClr val="20D5EA"/>
                </a:solidFill>
                <a:latin typeface="Arial"/>
                <a:ea typeface="Arial"/>
                <a:cs typeface="Arial"/>
              </a:defRPr>
            </a:defPPr>
          </a:lstStyle>
          <a:p xmlns:a="http://schemas.openxmlformats.org/drawingml/2006/main">
            <a:pPr>
              <a:defRPr sz="1725" b="1">
                <a:solidFill>
                  <a:srgbClr val="20D5EA"/>
                </a:solidFill>
                <a:latin typeface="Arial"/>
                <a:ea typeface="Arial"/>
                <a:cs typeface="Arial"/>
              </a:defRPr>
            </a:pPr>
            <a:r>
              <a:rPr sz="1725" b="1">
                <a:solidFill>
                  <a:srgbClr val="20D5EA"/>
                </a:solidFill>
                <a:latin typeface="Arial"/>
                <a:ea typeface="Arial"/>
                <a:cs typeface="Arial"/>
              </a:rPr>
              <a:t>Result: wider translation, targeted checks and repeatable validation.</a:t>
            </a:r>
          </a:p>
        </p:txBody>
      </p:sp>
    </p:spTree>
    <p:extLst>
      <p:ext uri="{BB962C8B-B14F-4D97-AF65-F5344CB8AC3E}">
        <p14:creationId xmlns:p14="http://schemas.microsoft.com/office/powerpoint/2010/main" val="876835451"/>
      </p:ext>
    </p:extLst>
  </p:cSld>
</p:sld>
</file>

<file path=ppt/slides/slide4.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41" name="">
            <a:extLst xmlns:a="http://schemas.openxmlformats.org/drawingml/2006/main">
              <a:ext uri="{FF2B5EF4-FFF2-40B4-BE49-F238E27FC236}">
                <a16:creationId xmlns:a16="http://schemas.microsoft.com/office/drawing/2014/main" id="{84306C9E-A979-4D53-B403-B76BE983BD28}"/>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789D5A4-B313-4F27-BE5A-64D0DA0D918B}"/>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Complete compiler workflow</a:t>
            </a:r>
          </a:p>
        </p:txBody>
      </p:sp>
      <p:sp>
        <p:nvSpPr>
          <p:cNvPr id="3" name="">
            <a:extLst xmlns:a="http://schemas.openxmlformats.org/drawingml/2006/main">
              <a:ext uri="{FF2B5EF4-FFF2-40B4-BE49-F238E27FC236}">
                <a16:creationId xmlns:a16="http://schemas.microsoft.com/office/drawing/2014/main" id="{74E367C0-048F-4903-BBF0-11D83DD15B8A}"/>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Each stage has its own module and a visible intermediate result.</a:t>
            </a:r>
          </a:p>
        </p:txBody>
      </p:sp>
      <p:sp>
        <p:nvSpPr>
          <p:cNvPr id="4" name="">
            <a:extLst xmlns:a="http://schemas.openxmlformats.org/drawingml/2006/main">
              <a:ext uri="{FF2B5EF4-FFF2-40B4-BE49-F238E27FC236}">
                <a16:creationId xmlns:a16="http://schemas.microsoft.com/office/drawing/2014/main" id="{F4890003-2D2F-4BE2-81E3-F1890C2E6C2C}"/>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2DB1287-DD13-4086-9DC8-225F60BF037B}"/>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DD954E1F-14E6-4A26-B35C-77AC12892F32}"/>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04</a:t>
            </a:r>
          </a:p>
        </p:txBody>
      </p:sp>
      <p:sp>
        <p:nvSpPr>
          <p:cNvPr id="7" name="">
            <a:extLst xmlns:a="http://schemas.openxmlformats.org/drawingml/2006/main">
              <a:ext uri="{FF2B5EF4-FFF2-40B4-BE49-F238E27FC236}">
                <a16:creationId xmlns:a16="http://schemas.microsoft.com/office/drawing/2014/main" id="{86E2BD3F-3FB1-4CD5-A0C1-756751FCBE6B}"/>
              </a:ext>
            </a:extLst>
          </p:cNvPr>
          <p:cNvSpPr>
            <a:spLocks xmlns:a="http://schemas.openxmlformats.org/drawingml/2006/main" noGrp="1"/>
          </p:cNvSpPr>
          <p:nvPr/>
        </p:nvSpPr>
        <p:spPr>
          <a:xfrm xmlns:a="http://schemas.openxmlformats.org/drawingml/2006/main">
            <a:off x="638175"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41850-3BD1-46F9-88D0-E7C3B0925960}"/>
              </a:ext>
            </a:extLst>
          </p:cNvPr>
          <p:cNvSpPr>
            <a:spLocks xmlns:a="http://schemas.openxmlformats.org/drawingml/2006/main" noGrp="1"/>
          </p:cNvSpPr>
          <p:nvPr/>
        </p:nvSpPr>
        <p:spPr>
          <a:xfrm xmlns:a="http://schemas.openxmlformats.org/drawingml/2006/main">
            <a:off x="781050"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1  SOURCE</a:t>
            </a:r>
          </a:p>
        </p:txBody>
      </p:sp>
      <p:sp>
        <p:nvSpPr>
          <p:cNvPr id="9" name="">
            <a:extLst xmlns:a="http://schemas.openxmlformats.org/drawingml/2006/main">
              <a:ext uri="{FF2B5EF4-FFF2-40B4-BE49-F238E27FC236}">
                <a16:creationId xmlns:a16="http://schemas.microsoft.com/office/drawing/2014/main" id="{279BBE4F-64AC-4C32-9AB2-AB34F4D2F13A}"/>
              </a:ext>
            </a:extLst>
          </p:cNvPr>
          <p:cNvSpPr>
            <a:spLocks xmlns:a="http://schemas.openxmlformats.org/drawingml/2006/main" noGrp="1"/>
          </p:cNvSpPr>
          <p:nvPr/>
        </p:nvSpPr>
        <p:spPr>
          <a:xfrm xmlns:a="http://schemas.openxmlformats.org/drawingml/2006/main">
            <a:off x="781050"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main.py</a:t>
            </a:r>
          </a:p>
        </p:txBody>
      </p:sp>
      <p:sp>
        <p:nvSpPr>
          <p:cNvPr id="10" name="">
            <a:extLst xmlns:a="http://schemas.openxmlformats.org/drawingml/2006/main">
              <a:ext uri="{FF2B5EF4-FFF2-40B4-BE49-F238E27FC236}">
                <a16:creationId xmlns:a16="http://schemas.microsoft.com/office/drawing/2014/main" id="{240A2D96-42FF-4FE8-B7A6-D3F2B83C0CF2}"/>
              </a:ext>
            </a:extLst>
          </p:cNvPr>
          <p:cNvSpPr>
            <a:spLocks xmlns:a="http://schemas.openxmlformats.org/drawingml/2006/main" noGrp="1"/>
          </p:cNvSpPr>
          <p:nvPr/>
        </p:nvSpPr>
        <p:spPr>
          <a:xfrm xmlns:a="http://schemas.openxmlformats.org/drawingml/2006/main">
            <a:off x="3143250" y="209550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1" name="">
            <a:extLst xmlns:a="http://schemas.openxmlformats.org/drawingml/2006/main">
              <a:ext uri="{FF2B5EF4-FFF2-40B4-BE49-F238E27FC236}">
                <a16:creationId xmlns:a16="http://schemas.microsoft.com/office/drawing/2014/main" id="{003DEBDC-CE13-4735-9319-742DF895903F}"/>
              </a:ext>
            </a:extLst>
          </p:cNvPr>
          <p:cNvSpPr>
            <a:spLocks xmlns:a="http://schemas.openxmlformats.org/drawingml/2006/main" noGrp="1"/>
          </p:cNvSpPr>
          <p:nvPr/>
        </p:nvSpPr>
        <p:spPr>
          <a:xfrm xmlns:a="http://schemas.openxmlformats.org/drawingml/2006/main">
            <a:off x="3448050"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5279C6BC-6EC2-473B-BC14-043C1E7D2BE8}"/>
              </a:ext>
            </a:extLst>
          </p:cNvPr>
          <p:cNvSpPr>
            <a:spLocks xmlns:a="http://schemas.openxmlformats.org/drawingml/2006/main" noGrp="1"/>
          </p:cNvSpPr>
          <p:nvPr/>
        </p:nvSpPr>
        <p:spPr>
          <a:xfrm xmlns:a="http://schemas.openxmlformats.org/drawingml/2006/main">
            <a:off x="3590925"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2  TOKENS</a:t>
            </a:r>
          </a:p>
        </p:txBody>
      </p:sp>
      <p:sp>
        <p:nvSpPr>
          <p:cNvPr id="13" name="">
            <a:extLst xmlns:a="http://schemas.openxmlformats.org/drawingml/2006/main">
              <a:ext uri="{FF2B5EF4-FFF2-40B4-BE49-F238E27FC236}">
                <a16:creationId xmlns:a16="http://schemas.microsoft.com/office/drawing/2014/main" id="{16744252-5352-43FA-B60D-AC71CB38B915}"/>
              </a:ext>
            </a:extLst>
          </p:cNvPr>
          <p:cNvSpPr>
            <a:spLocks xmlns:a="http://schemas.openxmlformats.org/drawingml/2006/main" noGrp="1"/>
          </p:cNvSpPr>
          <p:nvPr/>
        </p:nvSpPr>
        <p:spPr>
          <a:xfrm xmlns:a="http://schemas.openxmlformats.org/drawingml/2006/main">
            <a:off x="3590925"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lexer.py</a:t>
            </a:r>
          </a:p>
        </p:txBody>
      </p:sp>
      <p:sp>
        <p:nvSpPr>
          <p:cNvPr id="14" name="">
            <a:extLst xmlns:a="http://schemas.openxmlformats.org/drawingml/2006/main">
              <a:ext uri="{FF2B5EF4-FFF2-40B4-BE49-F238E27FC236}">
                <a16:creationId xmlns:a16="http://schemas.microsoft.com/office/drawing/2014/main" id="{60376B97-A0AE-4DF0-8471-7D92ADF77B44}"/>
              </a:ext>
            </a:extLst>
          </p:cNvPr>
          <p:cNvSpPr>
            <a:spLocks xmlns:a="http://schemas.openxmlformats.org/drawingml/2006/main" noGrp="1"/>
          </p:cNvSpPr>
          <p:nvPr/>
        </p:nvSpPr>
        <p:spPr>
          <a:xfrm xmlns:a="http://schemas.openxmlformats.org/drawingml/2006/main">
            <a:off x="5953125" y="209550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5" name="">
            <a:extLst xmlns:a="http://schemas.openxmlformats.org/drawingml/2006/main">
              <a:ext uri="{FF2B5EF4-FFF2-40B4-BE49-F238E27FC236}">
                <a16:creationId xmlns:a16="http://schemas.microsoft.com/office/drawing/2014/main" id="{0B098E10-B83A-4D82-9742-69187B14A8A9}"/>
              </a:ext>
            </a:extLst>
          </p:cNvPr>
          <p:cNvSpPr>
            <a:spLocks xmlns:a="http://schemas.openxmlformats.org/drawingml/2006/main" noGrp="1"/>
          </p:cNvSpPr>
          <p:nvPr/>
        </p:nvSpPr>
        <p:spPr>
          <a:xfrm xmlns:a="http://schemas.openxmlformats.org/drawingml/2006/main">
            <a:off x="6257925"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306EBE33-4395-4EED-8E26-62DCCEA050FF}"/>
              </a:ext>
            </a:extLst>
          </p:cNvPr>
          <p:cNvSpPr>
            <a:spLocks xmlns:a="http://schemas.openxmlformats.org/drawingml/2006/main" noGrp="1"/>
          </p:cNvSpPr>
          <p:nvPr/>
        </p:nvSpPr>
        <p:spPr>
          <a:xfrm xmlns:a="http://schemas.openxmlformats.org/drawingml/2006/main">
            <a:off x="6400800"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3  AST</a:t>
            </a:r>
          </a:p>
        </p:txBody>
      </p:sp>
      <p:sp>
        <p:nvSpPr>
          <p:cNvPr id="17" name="">
            <a:extLst xmlns:a="http://schemas.openxmlformats.org/drawingml/2006/main">
              <a:ext uri="{FF2B5EF4-FFF2-40B4-BE49-F238E27FC236}">
                <a16:creationId xmlns:a16="http://schemas.microsoft.com/office/drawing/2014/main" id="{1E5806D8-173B-4D2A-970F-A41F1A54DF91}"/>
              </a:ext>
            </a:extLst>
          </p:cNvPr>
          <p:cNvSpPr>
            <a:spLocks xmlns:a="http://schemas.openxmlformats.org/drawingml/2006/main" noGrp="1"/>
          </p:cNvSpPr>
          <p:nvPr/>
        </p:nvSpPr>
        <p:spPr>
          <a:xfrm xmlns:a="http://schemas.openxmlformats.org/drawingml/2006/main">
            <a:off x="6400800"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parser.py</a:t>
            </a:r>
          </a:p>
        </p:txBody>
      </p:sp>
      <p:sp>
        <p:nvSpPr>
          <p:cNvPr id="18" name="">
            <a:extLst xmlns:a="http://schemas.openxmlformats.org/drawingml/2006/main">
              <a:ext uri="{FF2B5EF4-FFF2-40B4-BE49-F238E27FC236}">
                <a16:creationId xmlns:a16="http://schemas.microsoft.com/office/drawing/2014/main" id="{17496840-FE02-43BA-8A51-A3AFDF19C05D}"/>
              </a:ext>
            </a:extLst>
          </p:cNvPr>
          <p:cNvSpPr>
            <a:spLocks xmlns:a="http://schemas.openxmlformats.org/drawingml/2006/main" noGrp="1"/>
          </p:cNvSpPr>
          <p:nvPr/>
        </p:nvSpPr>
        <p:spPr>
          <a:xfrm xmlns:a="http://schemas.openxmlformats.org/drawingml/2006/main">
            <a:off x="8763000" y="209550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19" name="">
            <a:extLst xmlns:a="http://schemas.openxmlformats.org/drawingml/2006/main">
              <a:ext uri="{FF2B5EF4-FFF2-40B4-BE49-F238E27FC236}">
                <a16:creationId xmlns:a16="http://schemas.microsoft.com/office/drawing/2014/main" id="{513F2C5F-7AF5-4F5B-A4EC-EC4116F46B0B}"/>
              </a:ext>
            </a:extLst>
          </p:cNvPr>
          <p:cNvSpPr>
            <a:spLocks xmlns:a="http://schemas.openxmlformats.org/drawingml/2006/main" noGrp="1"/>
          </p:cNvSpPr>
          <p:nvPr/>
        </p:nvSpPr>
        <p:spPr>
          <a:xfrm xmlns:a="http://schemas.openxmlformats.org/drawingml/2006/main">
            <a:off x="9067800" y="176212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042A3510-11D8-4A74-9C0B-CCC47B4363D0}"/>
              </a:ext>
            </a:extLst>
          </p:cNvPr>
          <p:cNvSpPr>
            <a:spLocks xmlns:a="http://schemas.openxmlformats.org/drawingml/2006/main" noGrp="1"/>
          </p:cNvSpPr>
          <p:nvPr/>
        </p:nvSpPr>
        <p:spPr>
          <a:xfrm xmlns:a="http://schemas.openxmlformats.org/drawingml/2006/main">
            <a:off x="9210675" y="188595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4  CHECKS</a:t>
            </a:r>
          </a:p>
        </p:txBody>
      </p:sp>
      <p:sp>
        <p:nvSpPr>
          <p:cNvPr id="21" name="">
            <a:extLst xmlns:a="http://schemas.openxmlformats.org/drawingml/2006/main">
              <a:ext uri="{FF2B5EF4-FFF2-40B4-BE49-F238E27FC236}">
                <a16:creationId xmlns:a16="http://schemas.microsoft.com/office/drawing/2014/main" id="{F69D2A82-F752-41B7-98BD-1A62F8D11F85}"/>
              </a:ext>
            </a:extLst>
          </p:cNvPr>
          <p:cNvSpPr>
            <a:spLocks xmlns:a="http://schemas.openxmlformats.org/drawingml/2006/main" noGrp="1"/>
          </p:cNvSpPr>
          <p:nvPr/>
        </p:nvSpPr>
        <p:spPr>
          <a:xfrm xmlns:a="http://schemas.openxmlformats.org/drawingml/2006/main">
            <a:off x="9210675" y="233362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semantic.py</a:t>
            </a:r>
          </a:p>
        </p:txBody>
      </p:sp>
      <p:sp>
        <p:nvSpPr>
          <p:cNvPr id="22" name="">
            <a:extLst xmlns:a="http://schemas.openxmlformats.org/drawingml/2006/main">
              <a:ext uri="{FF2B5EF4-FFF2-40B4-BE49-F238E27FC236}">
                <a16:creationId xmlns:a16="http://schemas.microsoft.com/office/drawing/2014/main" id="{6130C1C9-A6E4-4EB8-A4EC-5FB7E876A0E2}"/>
              </a:ext>
            </a:extLst>
          </p:cNvPr>
          <p:cNvSpPr>
            <a:spLocks xmlns:a="http://schemas.openxmlformats.org/drawingml/2006/main" noGrp="1"/>
          </p:cNvSpPr>
          <p:nvPr/>
        </p:nvSpPr>
        <p:spPr>
          <a:xfrm xmlns:a="http://schemas.openxmlformats.org/drawingml/2006/main">
            <a:off x="638175"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784B5D47-56A0-4CE3-9521-78743D9AACD2}"/>
              </a:ext>
            </a:extLst>
          </p:cNvPr>
          <p:cNvSpPr>
            <a:spLocks xmlns:a="http://schemas.openxmlformats.org/drawingml/2006/main" noGrp="1"/>
          </p:cNvSpPr>
          <p:nvPr/>
        </p:nvSpPr>
        <p:spPr>
          <a:xfrm xmlns:a="http://schemas.openxmlformats.org/drawingml/2006/main">
            <a:off x="781050"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5  IR</a:t>
            </a:r>
          </a:p>
        </p:txBody>
      </p:sp>
      <p:sp>
        <p:nvSpPr>
          <p:cNvPr id="24" name="">
            <a:extLst xmlns:a="http://schemas.openxmlformats.org/drawingml/2006/main">
              <a:ext uri="{FF2B5EF4-FFF2-40B4-BE49-F238E27FC236}">
                <a16:creationId xmlns:a16="http://schemas.microsoft.com/office/drawing/2014/main" id="{2C315F9F-B0F9-4D60-B65F-C1B13DC79CF3}"/>
              </a:ext>
            </a:extLst>
          </p:cNvPr>
          <p:cNvSpPr>
            <a:spLocks xmlns:a="http://schemas.openxmlformats.org/drawingml/2006/main" noGrp="1"/>
          </p:cNvSpPr>
          <p:nvPr/>
        </p:nvSpPr>
        <p:spPr>
          <a:xfrm xmlns:a="http://schemas.openxmlformats.org/drawingml/2006/main">
            <a:off x="781050"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ir.py</a:t>
            </a:r>
          </a:p>
        </p:txBody>
      </p:sp>
      <p:sp>
        <p:nvSpPr>
          <p:cNvPr id="25" name="">
            <a:extLst xmlns:a="http://schemas.openxmlformats.org/drawingml/2006/main">
              <a:ext uri="{FF2B5EF4-FFF2-40B4-BE49-F238E27FC236}">
                <a16:creationId xmlns:a16="http://schemas.microsoft.com/office/drawing/2014/main" id="{75D8FB96-3C51-420B-B91D-4A8BE466B4D0}"/>
              </a:ext>
            </a:extLst>
          </p:cNvPr>
          <p:cNvSpPr>
            <a:spLocks xmlns:a="http://schemas.openxmlformats.org/drawingml/2006/main" noGrp="1"/>
          </p:cNvSpPr>
          <p:nvPr/>
        </p:nvSpPr>
        <p:spPr>
          <a:xfrm xmlns:a="http://schemas.openxmlformats.org/drawingml/2006/main">
            <a:off x="3143250" y="371475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26" name="">
            <a:extLst xmlns:a="http://schemas.openxmlformats.org/drawingml/2006/main">
              <a:ext uri="{FF2B5EF4-FFF2-40B4-BE49-F238E27FC236}">
                <a16:creationId xmlns:a16="http://schemas.microsoft.com/office/drawing/2014/main" id="{A9E4B59C-C3E5-4907-A15E-36513858A39E}"/>
              </a:ext>
            </a:extLst>
          </p:cNvPr>
          <p:cNvSpPr>
            <a:spLocks xmlns:a="http://schemas.openxmlformats.org/drawingml/2006/main" noGrp="1"/>
          </p:cNvSpPr>
          <p:nvPr/>
        </p:nvSpPr>
        <p:spPr>
          <a:xfrm xmlns:a="http://schemas.openxmlformats.org/drawingml/2006/main">
            <a:off x="3448050"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1FE1371-88E1-4D0A-9DF0-5FCC5C6C650D}"/>
              </a:ext>
            </a:extLst>
          </p:cNvPr>
          <p:cNvSpPr>
            <a:spLocks xmlns:a="http://schemas.openxmlformats.org/drawingml/2006/main" noGrp="1"/>
          </p:cNvSpPr>
          <p:nvPr/>
        </p:nvSpPr>
        <p:spPr>
          <a:xfrm xmlns:a="http://schemas.openxmlformats.org/drawingml/2006/main">
            <a:off x="3590925"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6  OPTIMIZED IR</a:t>
            </a:r>
          </a:p>
        </p:txBody>
      </p:sp>
      <p:sp>
        <p:nvSpPr>
          <p:cNvPr id="28" name="">
            <a:extLst xmlns:a="http://schemas.openxmlformats.org/drawingml/2006/main">
              <a:ext uri="{FF2B5EF4-FFF2-40B4-BE49-F238E27FC236}">
                <a16:creationId xmlns:a16="http://schemas.microsoft.com/office/drawing/2014/main" id="{56AE6E2E-6682-43FB-A95B-10975B27F117}"/>
              </a:ext>
            </a:extLst>
          </p:cNvPr>
          <p:cNvSpPr>
            <a:spLocks xmlns:a="http://schemas.openxmlformats.org/drawingml/2006/main" noGrp="1"/>
          </p:cNvSpPr>
          <p:nvPr/>
        </p:nvSpPr>
        <p:spPr>
          <a:xfrm xmlns:a="http://schemas.openxmlformats.org/drawingml/2006/main">
            <a:off x="3590925"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optimizer.py</a:t>
            </a:r>
          </a:p>
        </p:txBody>
      </p:sp>
      <p:sp>
        <p:nvSpPr>
          <p:cNvPr id="29" name="">
            <a:extLst xmlns:a="http://schemas.openxmlformats.org/drawingml/2006/main">
              <a:ext uri="{FF2B5EF4-FFF2-40B4-BE49-F238E27FC236}">
                <a16:creationId xmlns:a16="http://schemas.microsoft.com/office/drawing/2014/main" id="{927864EE-79C1-4795-8E4E-37E7E4E00513}"/>
              </a:ext>
            </a:extLst>
          </p:cNvPr>
          <p:cNvSpPr>
            <a:spLocks xmlns:a="http://schemas.openxmlformats.org/drawingml/2006/main" noGrp="1"/>
          </p:cNvSpPr>
          <p:nvPr/>
        </p:nvSpPr>
        <p:spPr>
          <a:xfrm xmlns:a="http://schemas.openxmlformats.org/drawingml/2006/main">
            <a:off x="5953125" y="371475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30" name="">
            <a:extLst xmlns:a="http://schemas.openxmlformats.org/drawingml/2006/main">
              <a:ext uri="{FF2B5EF4-FFF2-40B4-BE49-F238E27FC236}">
                <a16:creationId xmlns:a16="http://schemas.microsoft.com/office/drawing/2014/main" id="{62E1F206-8D36-446E-AC4C-8BC453E25505}"/>
              </a:ext>
            </a:extLst>
          </p:cNvPr>
          <p:cNvSpPr>
            <a:spLocks xmlns:a="http://schemas.openxmlformats.org/drawingml/2006/main" noGrp="1"/>
          </p:cNvSpPr>
          <p:nvPr/>
        </p:nvSpPr>
        <p:spPr>
          <a:xfrm xmlns:a="http://schemas.openxmlformats.org/drawingml/2006/main">
            <a:off x="6257925"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A145F6BC-0727-4A33-8FA3-B243ED0C58D1}"/>
              </a:ext>
            </a:extLst>
          </p:cNvPr>
          <p:cNvSpPr>
            <a:spLocks xmlns:a="http://schemas.openxmlformats.org/drawingml/2006/main" noGrp="1"/>
          </p:cNvSpPr>
          <p:nvPr/>
        </p:nvSpPr>
        <p:spPr>
          <a:xfrm xmlns:a="http://schemas.openxmlformats.org/drawingml/2006/main">
            <a:off x="6400800"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20D5EA"/>
                </a:solidFill>
                <a:latin typeface="Arial"/>
                <a:ea typeface="Arial"/>
                <a:cs typeface="Arial"/>
              </a:defRPr>
            </a:defPPr>
          </a:lstStyle>
          <a:p xmlns:a="http://schemas.openxmlformats.org/drawingml/2006/main">
            <a:pPr>
              <a:defRPr sz="1575" b="1">
                <a:solidFill>
                  <a:srgbClr val="20D5EA"/>
                </a:solidFill>
                <a:latin typeface="Arial"/>
                <a:ea typeface="Arial"/>
                <a:cs typeface="Arial"/>
              </a:defRPr>
            </a:pPr>
            <a:r>
              <a:rPr sz="1575" b="1">
                <a:solidFill>
                  <a:srgbClr val="20D5EA"/>
                </a:solidFill>
                <a:latin typeface="Arial"/>
                <a:ea typeface="Arial"/>
                <a:cs typeface="Arial"/>
              </a:rPr>
              <a:t>7  C SOURCE</a:t>
            </a:r>
          </a:p>
        </p:txBody>
      </p:sp>
      <p:sp>
        <p:nvSpPr>
          <p:cNvPr id="32" name="">
            <a:extLst xmlns:a="http://schemas.openxmlformats.org/drawingml/2006/main">
              <a:ext uri="{FF2B5EF4-FFF2-40B4-BE49-F238E27FC236}">
                <a16:creationId xmlns:a16="http://schemas.microsoft.com/office/drawing/2014/main" id="{1DB1E798-43E6-48F9-814B-76913BB7454C}"/>
              </a:ext>
            </a:extLst>
          </p:cNvPr>
          <p:cNvSpPr>
            <a:spLocks xmlns:a="http://schemas.openxmlformats.org/drawingml/2006/main" noGrp="1"/>
          </p:cNvSpPr>
          <p:nvPr/>
        </p:nvSpPr>
        <p:spPr>
          <a:xfrm xmlns:a="http://schemas.openxmlformats.org/drawingml/2006/main">
            <a:off x="6400800"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cgen.py</a:t>
            </a:r>
          </a:p>
        </p:txBody>
      </p:sp>
      <p:sp>
        <p:nvSpPr>
          <p:cNvPr id="33" name="">
            <a:extLst xmlns:a="http://schemas.openxmlformats.org/drawingml/2006/main">
              <a:ext uri="{FF2B5EF4-FFF2-40B4-BE49-F238E27FC236}">
                <a16:creationId xmlns:a16="http://schemas.microsoft.com/office/drawing/2014/main" id="{F82A7B3C-7937-4004-A93B-D225E125909A}"/>
              </a:ext>
            </a:extLst>
          </p:cNvPr>
          <p:cNvSpPr>
            <a:spLocks xmlns:a="http://schemas.openxmlformats.org/drawingml/2006/main" noGrp="1"/>
          </p:cNvSpPr>
          <p:nvPr/>
        </p:nvSpPr>
        <p:spPr>
          <a:xfrm xmlns:a="http://schemas.openxmlformats.org/drawingml/2006/main">
            <a:off x="8763000" y="3714750"/>
            <a:ext cx="295275"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2025" b="1">
                <a:solidFill>
                  <a:srgbClr val="4C82FF"/>
                </a:solidFill>
                <a:latin typeface="Arial"/>
                <a:ea typeface="Arial"/>
                <a:cs typeface="Arial"/>
              </a:defRPr>
            </a:defPPr>
          </a:lstStyle>
          <a:p xmlns:a="http://schemas.openxmlformats.org/drawingml/2006/main">
            <a:pPr>
              <a:defRPr sz="2025" b="1">
                <a:solidFill>
                  <a:srgbClr val="4C82FF"/>
                </a:solidFill>
                <a:latin typeface="Arial"/>
                <a:ea typeface="Arial"/>
                <a:cs typeface="Arial"/>
              </a:defRPr>
            </a:pPr>
            <a:r>
              <a:rPr sz="2025" b="1">
                <a:solidFill>
                  <a:srgbClr val="4C82FF"/>
                </a:solidFill>
                <a:latin typeface="Arial"/>
                <a:ea typeface="Arial"/>
                <a:cs typeface="Arial"/>
              </a:rPr>
              <a:t>→</a:t>
            </a:r>
          </a:p>
        </p:txBody>
      </p:sp>
      <p:sp>
        <p:nvSpPr>
          <p:cNvPr id="34" name="">
            <a:extLst xmlns:a="http://schemas.openxmlformats.org/drawingml/2006/main">
              <a:ext uri="{FF2B5EF4-FFF2-40B4-BE49-F238E27FC236}">
                <a16:creationId xmlns:a16="http://schemas.microsoft.com/office/drawing/2014/main" id="{03610F0A-1787-412D-8B78-940660763352}"/>
              </a:ext>
            </a:extLst>
          </p:cNvPr>
          <p:cNvSpPr>
            <a:spLocks xmlns:a="http://schemas.openxmlformats.org/drawingml/2006/main" noGrp="1"/>
          </p:cNvSpPr>
          <p:nvPr/>
        </p:nvSpPr>
        <p:spPr>
          <a:xfrm xmlns:a="http://schemas.openxmlformats.org/drawingml/2006/main">
            <a:off x="9067800" y="3381375"/>
            <a:ext cx="2476500" cy="1000125"/>
          </a:xfrm>
          <a:prstGeom xmlns:a="http://schemas.openxmlformats.org/drawingml/2006/main" prst="roundRect">
            <a:avLst>
              <a:gd name="adj" fmla="val 7619"/>
            </a:avLst>
          </a:prstGeom>
          <a:solidFill xmlns:a="http://schemas.openxmlformats.org/drawingml/2006/main">
            <a:srgbClr val="101B2C"/>
          </a:solidFill>
          <a:ln xmlns:a="http://schemas.openxmlformats.org/drawingml/2006/main" w="0">
            <a:noFill/>
            <a:prstDash val="solid"/>
          </a:ln>
        </p:spPr>
      </p:sp>
      <p:sp>
        <p:nvSpPr>
          <p:cNvPr id="35" name="">
            <a:extLst xmlns:a="http://schemas.openxmlformats.org/drawingml/2006/main">
              <a:ext uri="{FF2B5EF4-FFF2-40B4-BE49-F238E27FC236}">
                <a16:creationId xmlns:a16="http://schemas.microsoft.com/office/drawing/2014/main" id="{C8B1346E-AFD9-4949-AAC0-0771A0264547}"/>
              </a:ext>
            </a:extLst>
          </p:cNvPr>
          <p:cNvSpPr>
            <a:spLocks xmlns:a="http://schemas.openxmlformats.org/drawingml/2006/main" noGrp="1"/>
          </p:cNvSpPr>
          <p:nvPr/>
        </p:nvSpPr>
        <p:spPr>
          <a:xfrm xmlns:a="http://schemas.openxmlformats.org/drawingml/2006/main">
            <a:off x="9210675" y="3505200"/>
            <a:ext cx="2238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33D69B"/>
                </a:solidFill>
                <a:latin typeface="Arial"/>
                <a:ea typeface="Arial"/>
                <a:cs typeface="Arial"/>
              </a:defRPr>
            </a:defPPr>
          </a:lstStyle>
          <a:p xmlns:a="http://schemas.openxmlformats.org/drawingml/2006/main">
            <a:pPr>
              <a:defRPr sz="1575" b="1">
                <a:solidFill>
                  <a:srgbClr val="33D69B"/>
                </a:solidFill>
                <a:latin typeface="Arial"/>
                <a:ea typeface="Arial"/>
                <a:cs typeface="Arial"/>
              </a:defRPr>
            </a:pPr>
            <a:r>
              <a:rPr sz="1575" b="1">
                <a:solidFill>
                  <a:srgbClr val="33D69B"/>
                </a:solidFill>
                <a:latin typeface="Arial"/>
                <a:ea typeface="Arial"/>
                <a:cs typeface="Arial"/>
              </a:rPr>
              <a:t>8  EXECUTION</a:t>
            </a:r>
          </a:p>
        </p:txBody>
      </p:sp>
      <p:sp>
        <p:nvSpPr>
          <p:cNvPr id="36" name="">
            <a:extLst xmlns:a="http://schemas.openxmlformats.org/drawingml/2006/main">
              <a:ext uri="{FF2B5EF4-FFF2-40B4-BE49-F238E27FC236}">
                <a16:creationId xmlns:a16="http://schemas.microsoft.com/office/drawing/2014/main" id="{D1EF6D06-71F0-4DEC-AFA4-A7FEC5997EAB}"/>
              </a:ext>
            </a:extLst>
          </p:cNvPr>
          <p:cNvSpPr>
            <a:spLocks xmlns:a="http://schemas.openxmlformats.org/drawingml/2006/main" noGrp="1"/>
          </p:cNvSpPr>
          <p:nvPr/>
        </p:nvSpPr>
        <p:spPr>
          <a:xfrm xmlns:a="http://schemas.openxmlformats.org/drawingml/2006/main">
            <a:off x="9210675" y="3952875"/>
            <a:ext cx="223837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AEBBD0"/>
                </a:solidFill>
                <a:latin typeface="Arial"/>
                <a:ea typeface="Arial"/>
                <a:cs typeface="Arial"/>
              </a:defRPr>
            </a:defPPr>
          </a:lstStyle>
          <a:p xmlns:a="http://schemas.openxmlformats.org/drawingml/2006/main">
            <a:pPr>
              <a:defRPr sz="1350" b="0">
                <a:solidFill>
                  <a:srgbClr val="AEBBD0"/>
                </a:solidFill>
                <a:latin typeface="Arial"/>
                <a:ea typeface="Arial"/>
                <a:cs typeface="Arial"/>
              </a:defRPr>
            </a:pPr>
            <a:r>
              <a:rPr sz="1350" b="0">
                <a:solidFill>
                  <a:srgbClr val="AEBBD0"/>
                </a:solidFill>
                <a:latin typeface="Arial"/>
                <a:ea typeface="Arial"/>
                <a:cs typeface="Arial"/>
              </a:rPr>
              <a:t>GCC, optional</a:t>
            </a:r>
          </a:p>
        </p:txBody>
      </p:sp>
      <p:sp>
        <p:nvSpPr>
          <p:cNvPr id="37" name="">
            <a:extLst xmlns:a="http://schemas.openxmlformats.org/drawingml/2006/main">
              <a:ext uri="{FF2B5EF4-FFF2-40B4-BE49-F238E27FC236}">
                <a16:creationId xmlns:a16="http://schemas.microsoft.com/office/drawing/2014/main" id="{DD890AA9-A00B-44A9-98B2-DE63EFB844C8}"/>
              </a:ext>
            </a:extLst>
          </p:cNvPr>
          <p:cNvSpPr>
            <a:spLocks xmlns:a="http://schemas.openxmlformats.org/drawingml/2006/main" noGrp="1"/>
          </p:cNvSpPr>
          <p:nvPr/>
        </p:nvSpPr>
        <p:spPr>
          <a:xfrm xmlns:a="http://schemas.openxmlformats.org/drawingml/2006/main">
            <a:off x="9620250" y="2876550"/>
            <a:ext cx="190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continues below ↓</a:t>
            </a:r>
          </a:p>
        </p:txBody>
      </p:sp>
      <p:sp>
        <p:nvSpPr>
          <p:cNvPr id="38" name="">
            <a:extLst xmlns:a="http://schemas.openxmlformats.org/drawingml/2006/main">
              <a:ext uri="{FF2B5EF4-FFF2-40B4-BE49-F238E27FC236}">
                <a16:creationId xmlns:a16="http://schemas.microsoft.com/office/drawing/2014/main" id="{51DE243D-7952-4F85-A4A9-C9DA4AC26E7A}"/>
              </a:ext>
            </a:extLst>
          </p:cNvPr>
          <p:cNvSpPr>
            <a:spLocks xmlns:a="http://schemas.openxmlformats.org/drawingml/2006/main" noGrp="1"/>
          </p:cNvSpPr>
          <p:nvPr/>
        </p:nvSpPr>
        <p:spPr>
          <a:xfrm xmlns:a="http://schemas.openxmlformats.org/drawingml/2006/main">
            <a:off x="638175" y="5143500"/>
            <a:ext cx="10829925"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7DE388C1-D050-4F09-8D52-F7FD7B267D43}"/>
              </a:ext>
            </a:extLst>
          </p:cNvPr>
          <p:cNvSpPr>
            <a:spLocks xmlns:a="http://schemas.openxmlformats.org/drawingml/2006/main" noGrp="1"/>
          </p:cNvSpPr>
          <p:nvPr/>
        </p:nvSpPr>
        <p:spPr>
          <a:xfrm xmlns:a="http://schemas.openxmlformats.org/drawingml/2006/main">
            <a:off x="647700" y="5324475"/>
            <a:ext cx="5191125"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F6B94D"/>
                </a:solidFill>
                <a:latin typeface="Arial"/>
                <a:ea typeface="Arial"/>
                <a:cs typeface="Arial"/>
              </a:defRPr>
            </a:defPPr>
          </a:lstStyle>
          <a:p xmlns:a="http://schemas.openxmlformats.org/drawingml/2006/main">
            <a:pPr>
              <a:defRPr sz="1575" b="1">
                <a:solidFill>
                  <a:srgbClr val="F6B94D"/>
                </a:solidFill>
                <a:latin typeface="Arial"/>
                <a:ea typeface="Arial"/>
                <a:cs typeface="Arial"/>
              </a:defRPr>
            </a:pPr>
            <a:r>
              <a:rPr sz="1575" b="1">
                <a:solidFill>
                  <a:srgbClr val="F6B94D"/>
                </a:solidFill>
                <a:latin typeface="Arial"/>
                <a:ea typeface="Arial"/>
                <a:cs typeface="Arial"/>
              </a:rPr>
              <a:t>Compile-time: syntax, names and types</a:t>
            </a:r>
          </a:p>
        </p:txBody>
      </p:sp>
      <p:sp>
        <p:nvSpPr>
          <p:cNvPr id="40" name="">
            <a:extLst xmlns:a="http://schemas.openxmlformats.org/drawingml/2006/main">
              <a:ext uri="{FF2B5EF4-FFF2-40B4-BE49-F238E27FC236}">
                <a16:creationId xmlns:a16="http://schemas.microsoft.com/office/drawing/2014/main" id="{8F559CBA-EF0F-43C9-A79E-927504388429}"/>
              </a:ext>
            </a:extLst>
          </p:cNvPr>
          <p:cNvSpPr>
            <a:spLocks xmlns:a="http://schemas.openxmlformats.org/drawingml/2006/main" noGrp="1"/>
          </p:cNvSpPr>
          <p:nvPr/>
        </p:nvSpPr>
        <p:spPr>
          <a:xfrm xmlns:a="http://schemas.openxmlformats.org/drawingml/2006/main">
            <a:off x="6162675" y="5324475"/>
            <a:ext cx="47625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33D69B"/>
                </a:solidFill>
                <a:latin typeface="Arial"/>
                <a:ea typeface="Arial"/>
                <a:cs typeface="Arial"/>
              </a:defRPr>
            </a:defPPr>
          </a:lstStyle>
          <a:p xmlns:a="http://schemas.openxmlformats.org/drawingml/2006/main">
            <a:pPr>
              <a:defRPr sz="1575" b="1">
                <a:solidFill>
                  <a:srgbClr val="33D69B"/>
                </a:solidFill>
                <a:latin typeface="Arial"/>
                <a:ea typeface="Arial"/>
                <a:cs typeface="Arial"/>
              </a:defRPr>
            </a:pPr>
            <a:r>
              <a:rPr sz="1575" b="1">
                <a:solidFill>
                  <a:srgbClr val="33D69B"/>
                </a:solidFill>
                <a:latin typeface="Arial"/>
                <a:ea typeface="Arial"/>
                <a:cs typeface="Arial"/>
              </a:rPr>
              <a:t>Runtime: checks in generated C</a:t>
            </a:r>
          </a:p>
        </p:txBody>
      </p:sp>
    </p:spTree>
    <p:extLst>
      <p:ext uri="{BB962C8B-B14F-4D97-AF65-F5344CB8AC3E}">
        <p14:creationId xmlns:p14="http://schemas.microsoft.com/office/powerpoint/2010/main" val="433097528"/>
      </p:ext>
    </p:extLst>
  </p:cSld>
</p:sld>
</file>

<file path=ppt/slides/slide5.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6" name="">
            <a:extLst xmlns:a="http://schemas.openxmlformats.org/drawingml/2006/main">
              <a:ext uri="{FF2B5EF4-FFF2-40B4-BE49-F238E27FC236}">
                <a16:creationId xmlns:a16="http://schemas.microsoft.com/office/drawing/2014/main" id="{E0E26361-0B69-4596-B8E2-01B2CD2E4924}"/>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227CEF4-77B7-49F6-951C-2012B1FEFCA7}"/>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One input through the compiler</a:t>
            </a:r>
          </a:p>
        </p:txBody>
      </p:sp>
      <p:sp>
        <p:nvSpPr>
          <p:cNvPr id="3" name="">
            <a:extLst xmlns:a="http://schemas.openxmlformats.org/drawingml/2006/main">
              <a:ext uri="{FF2B5EF4-FFF2-40B4-BE49-F238E27FC236}">
                <a16:creationId xmlns:a16="http://schemas.microsoft.com/office/drawing/2014/main" id="{8A08320F-7EDA-4141-8636-72A5C56A7198}"/>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A small example makes the intermediate stages easy to explain.</a:t>
            </a:r>
          </a:p>
        </p:txBody>
      </p:sp>
      <p:sp>
        <p:nvSpPr>
          <p:cNvPr id="4" name="">
            <a:extLst xmlns:a="http://schemas.openxmlformats.org/drawingml/2006/main">
              <a:ext uri="{FF2B5EF4-FFF2-40B4-BE49-F238E27FC236}">
                <a16:creationId xmlns:a16="http://schemas.microsoft.com/office/drawing/2014/main" id="{027BF03A-B2FA-4BB5-A492-3BF18D043F19}"/>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A61E778-4690-4FFF-A34C-3FA2CD7131C7}"/>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E0705163-86D7-40B0-A373-8B2D2C8E9A5D}"/>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05</a:t>
            </a:r>
          </a:p>
        </p:txBody>
      </p:sp>
      <p:sp>
        <p:nvSpPr>
          <p:cNvPr id="7" name="">
            <a:extLst xmlns:a="http://schemas.openxmlformats.org/drawingml/2006/main">
              <a:ext uri="{FF2B5EF4-FFF2-40B4-BE49-F238E27FC236}">
                <a16:creationId xmlns:a16="http://schemas.microsoft.com/office/drawing/2014/main" id="{70593F4B-C17F-4D92-B890-E3BDB2D9EBE3}"/>
              </a:ext>
            </a:extLst>
          </p:cNvPr>
          <p:cNvSpPr>
            <a:spLocks xmlns:a="http://schemas.openxmlformats.org/drawingml/2006/main" noGrp="1"/>
          </p:cNvSpPr>
          <p:nvPr/>
        </p:nvSpPr>
        <p:spPr>
          <a:xfrm xmlns:a="http://schemas.openxmlformats.org/drawingml/2006/main">
            <a:off x="628650" y="1495425"/>
            <a:ext cx="28098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E6D62C4B-F0A1-4B01-A45E-23DE25042B55}"/>
              </a:ext>
            </a:extLst>
          </p:cNvPr>
          <p:cNvSpPr>
            <a:spLocks xmlns:a="http://schemas.openxmlformats.org/drawingml/2006/main" noGrp="1"/>
          </p:cNvSpPr>
          <p:nvPr/>
        </p:nvSpPr>
        <p:spPr>
          <a:xfrm xmlns:a="http://schemas.openxmlformats.org/drawingml/2006/main">
            <a:off x="628650" y="1838325"/>
            <a:ext cx="28098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B5BEA795-B5F2-4A8A-86A6-6C90BC503630}"/>
              </a:ext>
            </a:extLst>
          </p:cNvPr>
          <p:cNvSpPr>
            <a:spLocks xmlns:a="http://schemas.openxmlformats.org/drawingml/2006/main" noGrp="1"/>
          </p:cNvSpPr>
          <p:nvPr/>
        </p:nvSpPr>
        <p:spPr>
          <a:xfrm xmlns:a="http://schemas.openxmlformats.org/drawingml/2006/main">
            <a:off x="3657600" y="14954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ORIGINAL IR</a:t>
            </a:r>
          </a:p>
        </p:txBody>
      </p:sp>
      <p:sp>
        <p:nvSpPr>
          <p:cNvPr id="10" name="">
            <a:extLst xmlns:a="http://schemas.openxmlformats.org/drawingml/2006/main">
              <a:ext uri="{FF2B5EF4-FFF2-40B4-BE49-F238E27FC236}">
                <a16:creationId xmlns:a16="http://schemas.microsoft.com/office/drawing/2014/main" id="{C2FE549F-7E2E-4D4B-A151-5296DDA262A2}"/>
              </a:ext>
            </a:extLst>
          </p:cNvPr>
          <p:cNvSpPr>
            <a:spLocks xmlns:a="http://schemas.openxmlformats.org/drawingml/2006/main" noGrp="1"/>
          </p:cNvSpPr>
          <p:nvPr/>
        </p:nvSpPr>
        <p:spPr>
          <a:xfrm xmlns:a="http://schemas.openxmlformats.org/drawingml/2006/main">
            <a:off x="3657600" y="1838325"/>
            <a:ext cx="26670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579BDCF7-308D-4548-997A-680B91E943DE}"/>
              </a:ext>
            </a:extLst>
          </p:cNvPr>
          <p:cNvSpPr>
            <a:spLocks xmlns:a="http://schemas.openxmlformats.org/drawingml/2006/main" noGrp="1"/>
          </p:cNvSpPr>
          <p:nvPr/>
        </p:nvSpPr>
        <p:spPr>
          <a:xfrm xmlns:a="http://schemas.openxmlformats.org/drawingml/2006/main">
            <a:off x="6543675" y="14954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OPTIMIZED IR</a:t>
            </a:r>
          </a:p>
        </p:txBody>
      </p:sp>
      <p:sp>
        <p:nvSpPr>
          <p:cNvPr id="12" name="">
            <a:extLst xmlns:a="http://schemas.openxmlformats.org/drawingml/2006/main">
              <a:ext uri="{FF2B5EF4-FFF2-40B4-BE49-F238E27FC236}">
                <a16:creationId xmlns:a16="http://schemas.microsoft.com/office/drawing/2014/main" id="{EC882DAC-0B91-47F5-95D9-77E9805C8146}"/>
              </a:ext>
            </a:extLst>
          </p:cNvPr>
          <p:cNvSpPr>
            <a:spLocks xmlns:a="http://schemas.openxmlformats.org/drawingml/2006/main" noGrp="1"/>
          </p:cNvSpPr>
          <p:nvPr/>
        </p:nvSpPr>
        <p:spPr>
          <a:xfrm xmlns:a="http://schemas.openxmlformats.org/drawingml/2006/main">
            <a:off x="6543675" y="1838325"/>
            <a:ext cx="26670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912DE49-3A43-4EF4-B7FE-62C6AE157BAB}"/>
              </a:ext>
            </a:extLst>
          </p:cNvPr>
          <p:cNvSpPr>
            <a:spLocks xmlns:a="http://schemas.openxmlformats.org/drawingml/2006/main" noGrp="1"/>
          </p:cNvSpPr>
          <p:nvPr/>
        </p:nvSpPr>
        <p:spPr>
          <a:xfrm xmlns:a="http://schemas.openxmlformats.org/drawingml/2006/main">
            <a:off x="9429750" y="1495425"/>
            <a:ext cx="214312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C STATEMENTS</a:t>
            </a:r>
          </a:p>
        </p:txBody>
      </p:sp>
      <p:sp>
        <p:nvSpPr>
          <p:cNvPr id="14" name="">
            <a:extLst xmlns:a="http://schemas.openxmlformats.org/drawingml/2006/main">
              <a:ext uri="{FF2B5EF4-FFF2-40B4-BE49-F238E27FC236}">
                <a16:creationId xmlns:a16="http://schemas.microsoft.com/office/drawing/2014/main" id="{04F095D4-80C8-49A2-BC8A-7E1E9221B141}"/>
              </a:ext>
            </a:extLst>
          </p:cNvPr>
          <p:cNvSpPr>
            <a:spLocks xmlns:a="http://schemas.openxmlformats.org/drawingml/2006/main" noGrp="1"/>
          </p:cNvSpPr>
          <p:nvPr/>
        </p:nvSpPr>
        <p:spPr>
          <a:xfrm xmlns:a="http://schemas.openxmlformats.org/drawingml/2006/main">
            <a:off x="9429750" y="1838325"/>
            <a:ext cx="2143125"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E2622E1A-F300-46C0-8588-49A40CD55691}"/>
              </a:ext>
            </a:extLst>
          </p:cNvPr>
          <p:cNvSpPr>
            <a:spLocks xmlns:a="http://schemas.openxmlformats.org/drawingml/2006/main" noGrp="1"/>
          </p:cNvSpPr>
          <p:nvPr/>
        </p:nvSpPr>
        <p:spPr>
          <a:xfrm xmlns:a="http://schemas.openxmlformats.org/drawingml/2006/main">
            <a:off x="619125" y="2000250"/>
            <a:ext cx="281940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52621DF3-86B5-4D27-80E1-A843B9EDCEAD}"/>
              </a:ext>
            </a:extLst>
          </p:cNvPr>
          <p:cNvSpPr>
            <a:spLocks xmlns:a="http://schemas.openxmlformats.org/drawingml/2006/main" noGrp="1"/>
          </p:cNvSpPr>
          <p:nvPr/>
        </p:nvSpPr>
        <p:spPr>
          <a:xfrm xmlns:a="http://schemas.openxmlformats.org/drawingml/2006/main">
            <a:off x="828675" y="2162175"/>
            <a:ext cx="240030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BEGIN</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AS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SET x = 2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END</a:t>
            </a:r>
          </a:p>
        </p:txBody>
      </p:sp>
      <p:sp>
        <p:nvSpPr>
          <p:cNvPr id="17" name="">
            <a:extLst xmlns:a="http://schemas.openxmlformats.org/drawingml/2006/main">
              <a:ext uri="{FF2B5EF4-FFF2-40B4-BE49-F238E27FC236}">
                <a16:creationId xmlns:a16="http://schemas.microsoft.com/office/drawing/2014/main" id="{9D6BB478-49B4-4CD3-BDBE-C7AC11E1DE5D}"/>
              </a:ext>
            </a:extLst>
          </p:cNvPr>
          <p:cNvSpPr>
            <a:spLocks xmlns:a="http://schemas.openxmlformats.org/drawingml/2006/main" noGrp="1"/>
          </p:cNvSpPr>
          <p:nvPr/>
        </p:nvSpPr>
        <p:spPr>
          <a:xfrm xmlns:a="http://schemas.openxmlformats.org/drawingml/2006/main">
            <a:off x="3638550" y="2000250"/>
            <a:ext cx="268605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9BB507E5-8682-43CD-8B32-87FAC24F48E6}"/>
              </a:ext>
            </a:extLst>
          </p:cNvPr>
          <p:cNvSpPr>
            <a:spLocks xmlns:a="http://schemas.openxmlformats.org/drawingml/2006/main" noGrp="1"/>
          </p:cNvSpPr>
          <p:nvPr/>
        </p:nvSpPr>
        <p:spPr>
          <a:xfrm xmlns:a="http://schemas.openxmlformats.org/drawingml/2006/main">
            <a:off x="3848100" y="2162175"/>
            <a:ext cx="22669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t1 = 2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t1</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p:txBody>
      </p:sp>
      <p:sp>
        <p:nvSpPr>
          <p:cNvPr id="19" name="">
            <a:extLst xmlns:a="http://schemas.openxmlformats.org/drawingml/2006/main">
              <a:ext uri="{FF2B5EF4-FFF2-40B4-BE49-F238E27FC236}">
                <a16:creationId xmlns:a16="http://schemas.microsoft.com/office/drawing/2014/main" id="{5B2AFDC9-594E-4A83-8FD6-F1EBAEDAB90C}"/>
              </a:ext>
            </a:extLst>
          </p:cNvPr>
          <p:cNvSpPr>
            <a:spLocks xmlns:a="http://schemas.openxmlformats.org/drawingml/2006/main" noGrp="1"/>
          </p:cNvSpPr>
          <p:nvPr/>
        </p:nvSpPr>
        <p:spPr>
          <a:xfrm xmlns:a="http://schemas.openxmlformats.org/drawingml/2006/main">
            <a:off x="6534150" y="2000250"/>
            <a:ext cx="2686050" cy="2219325"/>
          </a:xfrm>
          <a:prstGeom xmlns:a="http://schemas.openxmlformats.org/drawingml/2006/main" prst="roundRect">
            <a:avLst>
              <a:gd name="adj" fmla="val 4292"/>
            </a:avLst>
          </a:prstGeom>
          <a:solidFill xmlns:a="http://schemas.openxmlformats.org/drawingml/2006/main">
            <a:srgbClr val="101B2C"/>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E4293B4-F65D-4607-99A1-176C96E71763}"/>
              </a:ext>
            </a:extLst>
          </p:cNvPr>
          <p:cNvSpPr>
            <a:spLocks xmlns:a="http://schemas.openxmlformats.org/drawingml/2006/main" noGrp="1"/>
          </p:cNvSpPr>
          <p:nvPr/>
        </p:nvSpPr>
        <p:spPr>
          <a:xfrm xmlns:a="http://schemas.openxmlformats.org/drawingml/2006/main">
            <a:off x="6743700" y="2162175"/>
            <a:ext cx="22669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x = 5</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PRINT x</a:t>
            </a:r>
          </a:p>
        </p:txBody>
      </p:sp>
      <p:sp>
        <p:nvSpPr>
          <p:cNvPr id="21" name="">
            <a:extLst xmlns:a="http://schemas.openxmlformats.org/drawingml/2006/main">
              <a:ext uri="{FF2B5EF4-FFF2-40B4-BE49-F238E27FC236}">
                <a16:creationId xmlns:a16="http://schemas.microsoft.com/office/drawing/2014/main" id="{59E3A76C-FDC6-489B-976B-A92EE0065E8A}"/>
              </a:ext>
            </a:extLst>
          </p:cNvPr>
          <p:cNvSpPr>
            <a:spLocks xmlns:a="http://schemas.openxmlformats.org/drawingml/2006/main" noGrp="1"/>
          </p:cNvSpPr>
          <p:nvPr/>
        </p:nvSpPr>
        <p:spPr>
          <a:xfrm xmlns:a="http://schemas.openxmlformats.org/drawingml/2006/main">
            <a:off x="9410700" y="2000250"/>
            <a:ext cx="2152650" cy="2219325"/>
          </a:xfrm>
          <a:prstGeom xmlns:a="http://schemas.openxmlformats.org/drawingml/2006/main" prst="roundRect">
            <a:avLst>
              <a:gd name="adj" fmla="val 4425"/>
            </a:avLst>
          </a:prstGeom>
          <a:solidFill xmlns:a="http://schemas.openxmlformats.org/drawingml/2006/main">
            <a:srgbClr val="101B2C"/>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40EE87B4-AFFD-4DC4-839D-30D990EC7FA5}"/>
              </a:ext>
            </a:extLst>
          </p:cNvPr>
          <p:cNvSpPr>
            <a:spLocks xmlns:a="http://schemas.openxmlformats.org/drawingml/2006/main" noGrp="1"/>
          </p:cNvSpPr>
          <p:nvPr/>
        </p:nvSpPr>
        <p:spPr>
          <a:xfrm xmlns:a="http://schemas.openxmlformats.org/drawingml/2006/main">
            <a:off x="9620250" y="2162175"/>
            <a:ext cx="1733550" cy="1895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int x;</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x = 5;</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printf("%d\n", x);</a:t>
            </a:r>
          </a:p>
        </p:txBody>
      </p:sp>
      <p:sp>
        <p:nvSpPr>
          <p:cNvPr id="23" name="">
            <a:extLst xmlns:a="http://schemas.openxmlformats.org/drawingml/2006/main">
              <a:ext uri="{FF2B5EF4-FFF2-40B4-BE49-F238E27FC236}">
                <a16:creationId xmlns:a16="http://schemas.microsoft.com/office/drawing/2014/main" id="{7F9BADB0-843E-4E77-8A47-0B9E716CDD2B}"/>
              </a:ext>
            </a:extLst>
          </p:cNvPr>
          <p:cNvSpPr>
            <a:spLocks xmlns:a="http://schemas.openxmlformats.org/drawingml/2006/main" noGrp="1"/>
          </p:cNvSpPr>
          <p:nvPr/>
        </p:nvSpPr>
        <p:spPr>
          <a:xfrm xmlns:a="http://schemas.openxmlformats.org/drawingml/2006/main">
            <a:off x="628650" y="4619625"/>
            <a:ext cx="1091565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3CB7E7C-E9E8-4612-A417-2FE58374CEC7}"/>
              </a:ext>
            </a:extLst>
          </p:cNvPr>
          <p:cNvSpPr>
            <a:spLocks xmlns:a="http://schemas.openxmlformats.org/drawingml/2006/main" noGrp="1"/>
          </p:cNvSpPr>
          <p:nvPr/>
        </p:nvSpPr>
        <p:spPr>
          <a:xfrm xmlns:a="http://schemas.openxmlformats.org/drawingml/2006/main">
            <a:off x="638175" y="4772025"/>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Tokens identify DECLARE, SET, literals and operators. The AST records expression structure.</a:t>
            </a:r>
          </a:p>
        </p:txBody>
      </p:sp>
      <p:sp>
        <p:nvSpPr>
          <p:cNvPr id="25" name="">
            <a:extLst xmlns:a="http://schemas.openxmlformats.org/drawingml/2006/main">
              <a:ext uri="{FF2B5EF4-FFF2-40B4-BE49-F238E27FC236}">
                <a16:creationId xmlns:a16="http://schemas.microsoft.com/office/drawing/2014/main" id="{9BE2EEF9-A388-4950-A0EE-112657B3348D}"/>
              </a:ext>
            </a:extLst>
          </p:cNvPr>
          <p:cNvSpPr>
            <a:spLocks xmlns:a="http://schemas.openxmlformats.org/drawingml/2006/main" noGrp="1"/>
          </p:cNvSpPr>
          <p:nvPr/>
        </p:nvSpPr>
        <p:spPr>
          <a:xfrm xmlns:a="http://schemas.openxmlformats.org/drawingml/2006/main">
            <a:off x="638175" y="5305425"/>
            <a:ext cx="1047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1">
                <a:solidFill>
                  <a:srgbClr val="20D5EA"/>
                </a:solidFill>
                <a:latin typeface="Arial"/>
                <a:ea typeface="Arial"/>
                <a:cs typeface="Arial"/>
              </a:defRPr>
            </a:defPPr>
          </a:lstStyle>
          <a:p xmlns:a="http://schemas.openxmlformats.org/drawingml/2006/main">
            <a:pPr>
              <a:defRPr sz="1650" b="1">
                <a:solidFill>
                  <a:srgbClr val="20D5EA"/>
                </a:solidFill>
                <a:latin typeface="Arial"/>
                <a:ea typeface="Arial"/>
                <a:cs typeface="Arial"/>
              </a:defRPr>
            </a:pPr>
            <a:r>
              <a:rPr sz="1650" b="1">
                <a:solidFill>
                  <a:srgbClr val="20D5EA"/>
                </a:solidFill>
                <a:latin typeface="Arial"/>
                <a:ea typeface="Arial"/>
                <a:cs typeface="Arial"/>
              </a:rPr>
              <a:t>The symbol table records x as INTEGER. Compiled C prints 5.</a:t>
            </a:r>
          </a:p>
        </p:txBody>
      </p:sp>
    </p:spTree>
    <p:extLst>
      <p:ext uri="{BB962C8B-B14F-4D97-AF65-F5344CB8AC3E}">
        <p14:creationId xmlns:p14="http://schemas.microsoft.com/office/powerpoint/2010/main" val="231393600"/>
      </p:ext>
    </p:extLst>
  </p:cSld>
</p:sld>
</file>

<file path=ppt/slides/slide6.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3BA4B600-FF00-4D1D-8A83-CB43EB55C4DD}"/>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6569546-B347-4885-A74B-334790CF6994}"/>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Example 2: loop and branch</a:t>
            </a:r>
          </a:p>
        </p:txBody>
      </p:sp>
      <p:sp>
        <p:nvSpPr>
          <p:cNvPr id="3" name="">
            <a:extLst xmlns:a="http://schemas.openxmlformats.org/drawingml/2006/main">
              <a:ext uri="{FF2B5EF4-FFF2-40B4-BE49-F238E27FC236}">
                <a16:creationId xmlns:a16="http://schemas.microsoft.com/office/drawing/2014/main" id="{3F7DDC18-BA29-49C2-BCE4-879924ABE44D}"/>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Complete pseudocode → loop IR → ordinary C for loop → observed result.</a:t>
            </a:r>
          </a:p>
        </p:txBody>
      </p:sp>
      <p:sp>
        <p:nvSpPr>
          <p:cNvPr id="4" name="">
            <a:extLst xmlns:a="http://schemas.openxmlformats.org/drawingml/2006/main">
              <a:ext uri="{FF2B5EF4-FFF2-40B4-BE49-F238E27FC236}">
                <a16:creationId xmlns:a16="http://schemas.microsoft.com/office/drawing/2014/main" id="{FC25DBA4-4761-496E-90B5-9A9D78EC63AB}"/>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A8F2AAFD-C874-4229-BFE2-A42425EFDCF3}"/>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8EDD490A-1C18-445F-9D11-FB81D39C68C7}"/>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06</a:t>
            </a:r>
          </a:p>
        </p:txBody>
      </p:sp>
      <p:sp>
        <p:nvSpPr>
          <p:cNvPr id="7" name="">
            <a:extLst xmlns:a="http://schemas.openxmlformats.org/drawingml/2006/main">
              <a:ext uri="{FF2B5EF4-FFF2-40B4-BE49-F238E27FC236}">
                <a16:creationId xmlns:a16="http://schemas.microsoft.com/office/drawing/2014/main" id="{5948F858-63EC-4518-8FD1-5085CCC27730}"/>
              </a:ext>
            </a:extLst>
          </p:cNvPr>
          <p:cNvSpPr>
            <a:spLocks xmlns:a="http://schemas.openxmlformats.org/drawingml/2006/main" noGrp="1"/>
          </p:cNvSpPr>
          <p:nvPr/>
        </p:nvSpPr>
        <p:spPr>
          <a:xfrm xmlns:a="http://schemas.openxmlformats.org/drawingml/2006/main">
            <a:off x="628650" y="1466850"/>
            <a:ext cx="4905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13968A81-C027-4B3D-A83E-EDEDA801A88C}"/>
              </a:ext>
            </a:extLst>
          </p:cNvPr>
          <p:cNvSpPr>
            <a:spLocks xmlns:a="http://schemas.openxmlformats.org/drawingml/2006/main" noGrp="1"/>
          </p:cNvSpPr>
          <p:nvPr/>
        </p:nvSpPr>
        <p:spPr>
          <a:xfrm xmlns:a="http://schemas.openxmlformats.org/drawingml/2006/main">
            <a:off x="628650" y="1809750"/>
            <a:ext cx="49053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EDD5967-93D3-4A2E-8237-1345FF099990}"/>
              </a:ext>
            </a:extLst>
          </p:cNvPr>
          <p:cNvSpPr>
            <a:spLocks xmlns:a="http://schemas.openxmlformats.org/drawingml/2006/main" noGrp="1"/>
          </p:cNvSpPr>
          <p:nvPr/>
        </p:nvSpPr>
        <p:spPr>
          <a:xfrm xmlns:a="http://schemas.openxmlformats.org/drawingml/2006/main">
            <a:off x="619125" y="1924050"/>
            <a:ext cx="4914900" cy="3419475"/>
          </a:xfrm>
          <a:prstGeom xmlns:a="http://schemas.openxmlformats.org/drawingml/2006/main" prst="roundRect">
            <a:avLst>
              <a:gd name="adj" fmla="val 2786"/>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4A55CC3-65C9-4B2C-9CD2-C490F1C9C2EB}"/>
              </a:ext>
            </a:extLst>
          </p:cNvPr>
          <p:cNvSpPr>
            <a:spLocks xmlns:a="http://schemas.openxmlformats.org/drawingml/2006/main" noGrp="1"/>
          </p:cNvSpPr>
          <p:nvPr/>
        </p:nvSpPr>
        <p:spPr>
          <a:xfrm xmlns:a="http://schemas.openxmlformats.org/drawingml/2006/main">
            <a:off x="828675" y="2085975"/>
            <a:ext cx="4495800" cy="3095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F6F8FC"/>
                </a:solidFill>
                <a:latin typeface="Consolas"/>
                <a:ea typeface="Consolas"/>
                <a:cs typeface="Consolas"/>
              </a:defRPr>
            </a:defPPr>
          </a:lstStyle>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BEGIN</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DECLARE total AS INTEGER</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DECLARE i AS INTEGER</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SET total = 0</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FOR i = 1 TO 4 DO</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  IF i == 2 THEN</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    CONTINUE</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  ENDIF</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  SET total = total + i</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ENDFOR</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PRINT total</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426964A1-D138-45AA-AE14-A7C93F879034}"/>
              </a:ext>
            </a:extLst>
          </p:cNvPr>
          <p:cNvSpPr>
            <a:spLocks xmlns:a="http://schemas.openxmlformats.org/drawingml/2006/main" noGrp="1"/>
          </p:cNvSpPr>
          <p:nvPr/>
        </p:nvSpPr>
        <p:spPr>
          <a:xfrm xmlns:a="http://schemas.openxmlformats.org/drawingml/2006/main">
            <a:off x="5991225" y="1466850"/>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KEY IR</a:t>
            </a:r>
          </a:p>
        </p:txBody>
      </p:sp>
      <p:sp>
        <p:nvSpPr>
          <p:cNvPr id="12" name="">
            <a:extLst xmlns:a="http://schemas.openxmlformats.org/drawingml/2006/main">
              <a:ext uri="{FF2B5EF4-FFF2-40B4-BE49-F238E27FC236}">
                <a16:creationId xmlns:a16="http://schemas.microsoft.com/office/drawing/2014/main" id="{CB2C23DE-C4D7-4775-BF04-F808009BE835}"/>
              </a:ext>
            </a:extLst>
          </p:cNvPr>
          <p:cNvSpPr>
            <a:spLocks xmlns:a="http://schemas.openxmlformats.org/drawingml/2006/main" noGrp="1"/>
          </p:cNvSpPr>
          <p:nvPr/>
        </p:nvSpPr>
        <p:spPr>
          <a:xfrm xmlns:a="http://schemas.openxmlformats.org/drawingml/2006/main">
            <a:off x="5991225" y="1809750"/>
            <a:ext cx="54864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C325468-8C3A-420D-BE03-CD3D1B12C01A}"/>
              </a:ext>
            </a:extLst>
          </p:cNvPr>
          <p:cNvSpPr>
            <a:spLocks xmlns:a="http://schemas.openxmlformats.org/drawingml/2006/main" noGrp="1"/>
          </p:cNvSpPr>
          <p:nvPr/>
        </p:nvSpPr>
        <p:spPr>
          <a:xfrm xmlns:a="http://schemas.openxmlformats.org/drawingml/2006/main">
            <a:off x="5981700" y="1924050"/>
            <a:ext cx="5495925" cy="1333500"/>
          </a:xfrm>
          <a:prstGeom xmlns:a="http://schemas.openxmlformats.org/drawingml/2006/main" prst="roundRect">
            <a:avLst>
              <a:gd name="adj" fmla="val 7143"/>
            </a:avLst>
          </a:prstGeom>
          <a:solidFill xmlns:a="http://schemas.openxmlformats.org/drawingml/2006/main">
            <a:srgbClr val="101B2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EBA59C63-BB9A-424C-BE7E-7C514AEE07C8}"/>
              </a:ext>
            </a:extLst>
          </p:cNvPr>
          <p:cNvSpPr>
            <a:spLocks xmlns:a="http://schemas.openxmlformats.org/drawingml/2006/main" noGrp="1"/>
          </p:cNvSpPr>
          <p:nvPr/>
        </p:nvSpPr>
        <p:spPr>
          <a:xfrm xmlns:a="http://schemas.openxmlformats.org/drawingml/2006/main">
            <a:off x="6191250" y="2085975"/>
            <a:ext cx="50768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0">
                <a:solidFill>
                  <a:srgbClr val="F6F8FC"/>
                </a:solidFill>
                <a:latin typeface="Consolas"/>
                <a:ea typeface="Consolas"/>
                <a:cs typeface="Consolas"/>
              </a:defRPr>
            </a:defPPr>
          </a:lstStyle>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FOR i = 1 TO 4 STEP 1</a:t>
            </a:r>
          </a:p>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  t1 = i == 2</a:t>
            </a:r>
          </a:p>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  IF t1 THEN</a:t>
            </a:r>
          </a:p>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    CONTINUE</a:t>
            </a:r>
          </a:p>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  ENDIF</a:t>
            </a:r>
          </a:p>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  ...</a:t>
            </a:r>
          </a:p>
          <a:p xmlns:a="http://schemas.openxmlformats.org/drawingml/2006/main">
            <a:pPr>
              <a:defRPr sz="1050" b="0">
                <a:solidFill>
                  <a:srgbClr val="F6F8FC"/>
                </a:solidFill>
                <a:latin typeface="Consolas"/>
                <a:ea typeface="Consolas"/>
                <a:cs typeface="Consolas"/>
              </a:defRPr>
            </a:pPr>
            <a:r>
              <a:rPr sz="1050" b="0">
                <a:solidFill>
                  <a:srgbClr val="F6F8FC"/>
                </a:solidFill>
                <a:latin typeface="Consolas"/>
                <a:ea typeface="Consolas"/>
                <a:cs typeface="Consolas"/>
              </a:rPr>
              <a:t>ENDFOR</a:t>
            </a:r>
          </a:p>
        </p:txBody>
      </p:sp>
      <p:sp>
        <p:nvSpPr>
          <p:cNvPr id="15" name="">
            <a:extLst xmlns:a="http://schemas.openxmlformats.org/drawingml/2006/main">
              <a:ext uri="{FF2B5EF4-FFF2-40B4-BE49-F238E27FC236}">
                <a16:creationId xmlns:a16="http://schemas.microsoft.com/office/drawing/2014/main" id="{8990A07A-5BC6-4D79-9F66-7CFD3379C8AB}"/>
              </a:ext>
            </a:extLst>
          </p:cNvPr>
          <p:cNvSpPr>
            <a:spLocks xmlns:a="http://schemas.openxmlformats.org/drawingml/2006/main" noGrp="1"/>
          </p:cNvSpPr>
          <p:nvPr/>
        </p:nvSpPr>
        <p:spPr>
          <a:xfrm xmlns:a="http://schemas.openxmlformats.org/drawingml/2006/main">
            <a:off x="5991225" y="3419475"/>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GENERATED C CORE</a:t>
            </a:r>
          </a:p>
        </p:txBody>
      </p:sp>
      <p:sp>
        <p:nvSpPr>
          <p:cNvPr id="16" name="">
            <a:extLst xmlns:a="http://schemas.openxmlformats.org/drawingml/2006/main">
              <a:ext uri="{FF2B5EF4-FFF2-40B4-BE49-F238E27FC236}">
                <a16:creationId xmlns:a16="http://schemas.microsoft.com/office/drawing/2014/main" id="{1E1E89FE-1507-462F-8EDB-8792321457B0}"/>
              </a:ext>
            </a:extLst>
          </p:cNvPr>
          <p:cNvSpPr>
            <a:spLocks xmlns:a="http://schemas.openxmlformats.org/drawingml/2006/main" noGrp="1"/>
          </p:cNvSpPr>
          <p:nvPr/>
        </p:nvSpPr>
        <p:spPr>
          <a:xfrm xmlns:a="http://schemas.openxmlformats.org/drawingml/2006/main">
            <a:off x="5991225" y="3762375"/>
            <a:ext cx="54864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D8D55FFF-5F68-4681-B01B-8B081F976711}"/>
              </a:ext>
            </a:extLst>
          </p:cNvPr>
          <p:cNvSpPr>
            <a:spLocks xmlns:a="http://schemas.openxmlformats.org/drawingml/2006/main" noGrp="1"/>
          </p:cNvSpPr>
          <p:nvPr/>
        </p:nvSpPr>
        <p:spPr>
          <a:xfrm xmlns:a="http://schemas.openxmlformats.org/drawingml/2006/main">
            <a:off x="5981700" y="3876675"/>
            <a:ext cx="5495925" cy="1466850"/>
          </a:xfrm>
          <a:prstGeom xmlns:a="http://schemas.openxmlformats.org/drawingml/2006/main" prst="roundRect">
            <a:avLst>
              <a:gd name="adj" fmla="val 6494"/>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1D7579BB-6D6A-497D-B932-8118932606C4}"/>
              </a:ext>
            </a:extLst>
          </p:cNvPr>
          <p:cNvSpPr>
            <a:spLocks xmlns:a="http://schemas.openxmlformats.org/drawingml/2006/main" noGrp="1"/>
          </p:cNvSpPr>
          <p:nvPr/>
        </p:nvSpPr>
        <p:spPr>
          <a:xfrm xmlns:a="http://schemas.openxmlformats.org/drawingml/2006/main">
            <a:off x="6191250" y="4038600"/>
            <a:ext cx="50768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F6F8FC"/>
                </a:solidFill>
                <a:latin typeface="Consolas"/>
                <a:ea typeface="Consolas"/>
                <a:cs typeface="Consolas"/>
              </a:defRPr>
            </a:defPPr>
          </a:lstStyle>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for (i = 1; i &lt;= 4; i++) {</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  if (i == 2) continue;</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  total = total + i;</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printf("%d\n", total);</a:t>
            </a:r>
          </a:p>
        </p:txBody>
      </p:sp>
      <p:sp>
        <p:nvSpPr>
          <p:cNvPr id="19" name="">
            <a:extLst xmlns:a="http://schemas.openxmlformats.org/drawingml/2006/main">
              <a:ext uri="{FF2B5EF4-FFF2-40B4-BE49-F238E27FC236}">
                <a16:creationId xmlns:a16="http://schemas.microsoft.com/office/drawing/2014/main" id="{79244D9D-79B2-48DA-AAF6-1D6955BB7606}"/>
              </a:ext>
            </a:extLst>
          </p:cNvPr>
          <p:cNvSpPr>
            <a:spLocks xmlns:a="http://schemas.openxmlformats.org/drawingml/2006/main" noGrp="1"/>
          </p:cNvSpPr>
          <p:nvPr/>
        </p:nvSpPr>
        <p:spPr>
          <a:xfrm xmlns:a="http://schemas.openxmlformats.org/drawingml/2006/main">
            <a:off x="638175" y="5514975"/>
            <a:ext cx="108394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33D69B"/>
                </a:solidFill>
                <a:latin typeface="Arial"/>
                <a:ea typeface="Arial"/>
                <a:cs typeface="Arial"/>
              </a:defRPr>
            </a:defPPr>
          </a:lstStyle>
          <a:p xmlns:a="http://schemas.openxmlformats.org/drawingml/2006/main">
            <a:pPr>
              <a:defRPr sz="1800" b="1">
                <a:solidFill>
                  <a:srgbClr val="33D69B"/>
                </a:solidFill>
                <a:latin typeface="Arial"/>
                <a:ea typeface="Arial"/>
                <a:cs typeface="Arial"/>
              </a:defRPr>
            </a:pPr>
            <a:r>
              <a:rPr sz="1800" b="1">
                <a:solidFill>
                  <a:srgbClr val="33D69B"/>
                </a:solidFill>
                <a:latin typeface="Arial"/>
                <a:ea typeface="Arial"/>
                <a:cs typeface="Arial"/>
              </a:rPr>
              <a:t>RESULT: 8   (1 + 3 + 4)</a:t>
            </a:r>
          </a:p>
        </p:txBody>
      </p:sp>
    </p:spTree>
    <p:extLst>
      <p:ext uri="{BB962C8B-B14F-4D97-AF65-F5344CB8AC3E}">
        <p14:creationId xmlns:p14="http://schemas.microsoft.com/office/powerpoint/2010/main" val="28052779"/>
      </p:ext>
    </p:extLst>
  </p:cSld>
</p:sld>
</file>

<file path=ppt/slides/slide7.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D791B73-79EF-4116-8318-77545BCE4CCF}"/>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CADA4809-75A0-49F8-9693-480772A3B362}"/>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Example 3: STRING and bitwise data</a:t>
            </a:r>
          </a:p>
        </p:txBody>
      </p:sp>
      <p:sp>
        <p:nvSpPr>
          <p:cNvPr id="3" name="">
            <a:extLst xmlns:a="http://schemas.openxmlformats.org/drawingml/2006/main">
              <a:ext uri="{FF2B5EF4-FFF2-40B4-BE49-F238E27FC236}">
                <a16:creationId xmlns:a16="http://schemas.microsoft.com/office/drawing/2014/main" id="{60400C99-A7E2-464D-9DEB-FF968358FD2D}"/>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Complete pseudocode → typed IR → C statements → observed output.</a:t>
            </a:r>
          </a:p>
        </p:txBody>
      </p:sp>
      <p:sp>
        <p:nvSpPr>
          <p:cNvPr id="4" name="">
            <a:extLst xmlns:a="http://schemas.openxmlformats.org/drawingml/2006/main">
              <a:ext uri="{FF2B5EF4-FFF2-40B4-BE49-F238E27FC236}">
                <a16:creationId xmlns:a16="http://schemas.microsoft.com/office/drawing/2014/main" id="{DE8CD2AA-DBFD-4F56-BEB1-7C088F170758}"/>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6A2A5835-8B77-4453-BC2E-D9925A0976E2}"/>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D6300010-4E38-4DF4-90B5-E3906E2C9D1E}"/>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07</a:t>
            </a:r>
          </a:p>
        </p:txBody>
      </p:sp>
      <p:sp>
        <p:nvSpPr>
          <p:cNvPr id="7" name="">
            <a:extLst xmlns:a="http://schemas.openxmlformats.org/drawingml/2006/main">
              <a:ext uri="{FF2B5EF4-FFF2-40B4-BE49-F238E27FC236}">
                <a16:creationId xmlns:a16="http://schemas.microsoft.com/office/drawing/2014/main" id="{38233142-FE57-4C22-8CED-9385172D8F5D}"/>
              </a:ext>
            </a:extLst>
          </p:cNvPr>
          <p:cNvSpPr>
            <a:spLocks xmlns:a="http://schemas.openxmlformats.org/drawingml/2006/main" noGrp="1"/>
          </p:cNvSpPr>
          <p:nvPr/>
        </p:nvSpPr>
        <p:spPr>
          <a:xfrm xmlns:a="http://schemas.openxmlformats.org/drawingml/2006/main">
            <a:off x="628650" y="1466850"/>
            <a:ext cx="4905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D26E66BA-4DE5-498A-B7CE-3060472A2EDE}"/>
              </a:ext>
            </a:extLst>
          </p:cNvPr>
          <p:cNvSpPr>
            <a:spLocks xmlns:a="http://schemas.openxmlformats.org/drawingml/2006/main" noGrp="1"/>
          </p:cNvSpPr>
          <p:nvPr/>
        </p:nvSpPr>
        <p:spPr>
          <a:xfrm xmlns:a="http://schemas.openxmlformats.org/drawingml/2006/main">
            <a:off x="628650" y="1809750"/>
            <a:ext cx="49053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254505B-CBC3-4E4A-A727-B466265CDF77}"/>
              </a:ext>
            </a:extLst>
          </p:cNvPr>
          <p:cNvSpPr>
            <a:spLocks xmlns:a="http://schemas.openxmlformats.org/drawingml/2006/main" noGrp="1"/>
          </p:cNvSpPr>
          <p:nvPr/>
        </p:nvSpPr>
        <p:spPr>
          <a:xfrm xmlns:a="http://schemas.openxmlformats.org/drawingml/2006/main">
            <a:off x="619125" y="1924050"/>
            <a:ext cx="4914900" cy="3219450"/>
          </a:xfrm>
          <a:prstGeom xmlns:a="http://schemas.openxmlformats.org/drawingml/2006/main" prst="roundRect">
            <a:avLst>
              <a:gd name="adj" fmla="val 2959"/>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5ABD819-5348-4113-B34B-08FA0DD9B800}"/>
              </a:ext>
            </a:extLst>
          </p:cNvPr>
          <p:cNvSpPr>
            <a:spLocks xmlns:a="http://schemas.openxmlformats.org/drawingml/2006/main" noGrp="1"/>
          </p:cNvSpPr>
          <p:nvPr/>
        </p:nvSpPr>
        <p:spPr>
          <a:xfrm xmlns:a="http://schemas.openxmlformats.org/drawingml/2006/main">
            <a:off x="828675" y="2085975"/>
            <a:ext cx="4495800" cy="2895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BEGIN</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DECLARE name AS STRING</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DECLARE bits AS INTEGER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SET name = "Mira"</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READ bits</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SET bits = bits &amp; 3</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 name</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 bits</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38876CC7-F73E-48F7-9312-CA9B582FD95B}"/>
              </a:ext>
            </a:extLst>
          </p:cNvPr>
          <p:cNvSpPr>
            <a:spLocks xmlns:a="http://schemas.openxmlformats.org/drawingml/2006/main" noGrp="1"/>
          </p:cNvSpPr>
          <p:nvPr/>
        </p:nvSpPr>
        <p:spPr>
          <a:xfrm xmlns:a="http://schemas.openxmlformats.org/drawingml/2006/main">
            <a:off x="5991225" y="1466850"/>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KEY IR</a:t>
            </a:r>
          </a:p>
        </p:txBody>
      </p:sp>
      <p:sp>
        <p:nvSpPr>
          <p:cNvPr id="12" name="">
            <a:extLst xmlns:a="http://schemas.openxmlformats.org/drawingml/2006/main">
              <a:ext uri="{FF2B5EF4-FFF2-40B4-BE49-F238E27FC236}">
                <a16:creationId xmlns:a16="http://schemas.microsoft.com/office/drawing/2014/main" id="{F30257B1-79E7-4F85-BABA-48B5814D7FCF}"/>
              </a:ext>
            </a:extLst>
          </p:cNvPr>
          <p:cNvSpPr>
            <a:spLocks xmlns:a="http://schemas.openxmlformats.org/drawingml/2006/main" noGrp="1"/>
          </p:cNvSpPr>
          <p:nvPr/>
        </p:nvSpPr>
        <p:spPr>
          <a:xfrm xmlns:a="http://schemas.openxmlformats.org/drawingml/2006/main">
            <a:off x="5991225" y="1809750"/>
            <a:ext cx="54864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61CDE4DE-6045-4C2B-BA00-700572EB7CDD}"/>
              </a:ext>
            </a:extLst>
          </p:cNvPr>
          <p:cNvSpPr>
            <a:spLocks xmlns:a="http://schemas.openxmlformats.org/drawingml/2006/main" noGrp="1"/>
          </p:cNvSpPr>
          <p:nvPr/>
        </p:nvSpPr>
        <p:spPr>
          <a:xfrm xmlns:a="http://schemas.openxmlformats.org/drawingml/2006/main">
            <a:off x="5981700" y="1924050"/>
            <a:ext cx="5495925" cy="1333500"/>
          </a:xfrm>
          <a:prstGeom xmlns:a="http://schemas.openxmlformats.org/drawingml/2006/main" prst="roundRect">
            <a:avLst>
              <a:gd name="adj" fmla="val 7143"/>
            </a:avLst>
          </a:prstGeom>
          <a:solidFill xmlns:a="http://schemas.openxmlformats.org/drawingml/2006/main">
            <a:srgbClr val="101B2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35FEB4B4-609F-4D62-94F6-8B00F6917D75}"/>
              </a:ext>
            </a:extLst>
          </p:cNvPr>
          <p:cNvSpPr>
            <a:spLocks xmlns:a="http://schemas.openxmlformats.org/drawingml/2006/main" noGrp="1"/>
          </p:cNvSpPr>
          <p:nvPr/>
        </p:nvSpPr>
        <p:spPr>
          <a:xfrm xmlns:a="http://schemas.openxmlformats.org/drawingml/2006/main">
            <a:off x="6191250" y="2085975"/>
            <a:ext cx="50768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name = "Mira"</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READ bits</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t1 = bits &amp; 3</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bits = t1</a:t>
            </a:r>
          </a:p>
        </p:txBody>
      </p:sp>
      <p:sp>
        <p:nvSpPr>
          <p:cNvPr id="15" name="">
            <a:extLst xmlns:a="http://schemas.openxmlformats.org/drawingml/2006/main">
              <a:ext uri="{FF2B5EF4-FFF2-40B4-BE49-F238E27FC236}">
                <a16:creationId xmlns:a16="http://schemas.microsoft.com/office/drawing/2014/main" id="{0E28BE76-A7D9-4ABF-B46D-83820C17B61F}"/>
              </a:ext>
            </a:extLst>
          </p:cNvPr>
          <p:cNvSpPr>
            <a:spLocks xmlns:a="http://schemas.openxmlformats.org/drawingml/2006/main" noGrp="1"/>
          </p:cNvSpPr>
          <p:nvPr/>
        </p:nvSpPr>
        <p:spPr>
          <a:xfrm xmlns:a="http://schemas.openxmlformats.org/drawingml/2006/main">
            <a:off x="5991225" y="3419475"/>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GENERATED C CORE</a:t>
            </a:r>
          </a:p>
        </p:txBody>
      </p:sp>
      <p:sp>
        <p:nvSpPr>
          <p:cNvPr id="16" name="">
            <a:extLst xmlns:a="http://schemas.openxmlformats.org/drawingml/2006/main">
              <a:ext uri="{FF2B5EF4-FFF2-40B4-BE49-F238E27FC236}">
                <a16:creationId xmlns:a16="http://schemas.microsoft.com/office/drawing/2014/main" id="{5AEF979F-400C-49E6-AC9B-B7BA79EF0E93}"/>
              </a:ext>
            </a:extLst>
          </p:cNvPr>
          <p:cNvSpPr>
            <a:spLocks xmlns:a="http://schemas.openxmlformats.org/drawingml/2006/main" noGrp="1"/>
          </p:cNvSpPr>
          <p:nvPr/>
        </p:nvSpPr>
        <p:spPr>
          <a:xfrm xmlns:a="http://schemas.openxmlformats.org/drawingml/2006/main">
            <a:off x="5991225" y="3762375"/>
            <a:ext cx="54864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9D7481B7-230D-4B0A-B05B-E52D6C18C8CE}"/>
              </a:ext>
            </a:extLst>
          </p:cNvPr>
          <p:cNvSpPr>
            <a:spLocks xmlns:a="http://schemas.openxmlformats.org/drawingml/2006/main" noGrp="1"/>
          </p:cNvSpPr>
          <p:nvPr/>
        </p:nvSpPr>
        <p:spPr>
          <a:xfrm xmlns:a="http://schemas.openxmlformats.org/drawingml/2006/main">
            <a:off x="5981700" y="3876675"/>
            <a:ext cx="5495925" cy="1466850"/>
          </a:xfrm>
          <a:prstGeom xmlns:a="http://schemas.openxmlformats.org/drawingml/2006/main" prst="roundRect">
            <a:avLst>
              <a:gd name="adj" fmla="val 6494"/>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71A4C25-7E51-4542-AAB6-2CB95A5EB887}"/>
              </a:ext>
            </a:extLst>
          </p:cNvPr>
          <p:cNvSpPr>
            <a:spLocks xmlns:a="http://schemas.openxmlformats.org/drawingml/2006/main" noGrp="1"/>
          </p:cNvSpPr>
          <p:nvPr/>
        </p:nvSpPr>
        <p:spPr>
          <a:xfrm xmlns:a="http://schemas.openxmlformats.org/drawingml/2006/main">
            <a:off x="6191250" y="4038600"/>
            <a:ext cx="50768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F6F8FC"/>
                </a:solidFill>
                <a:latin typeface="Consolas"/>
                <a:ea typeface="Consolas"/>
                <a:cs typeface="Consolas"/>
              </a:defRPr>
            </a:defPPr>
          </a:lstStyle>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strcpy(name, "Mira");</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scanf("%d", &amp;bits);</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bits = (bits &amp; 3);</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printf("%s\n", name);</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printf("%d\n", bits);</a:t>
            </a:r>
          </a:p>
        </p:txBody>
      </p:sp>
      <p:sp>
        <p:nvSpPr>
          <p:cNvPr id="19" name="">
            <a:extLst xmlns:a="http://schemas.openxmlformats.org/drawingml/2006/main">
              <a:ext uri="{FF2B5EF4-FFF2-40B4-BE49-F238E27FC236}">
                <a16:creationId xmlns:a16="http://schemas.microsoft.com/office/drawing/2014/main" id="{424B9EE4-4941-47A8-B86B-66B543085502}"/>
              </a:ext>
            </a:extLst>
          </p:cNvPr>
          <p:cNvSpPr>
            <a:spLocks xmlns:a="http://schemas.openxmlformats.org/drawingml/2006/main" noGrp="1"/>
          </p:cNvSpPr>
          <p:nvPr/>
        </p:nvSpPr>
        <p:spPr>
          <a:xfrm xmlns:a="http://schemas.openxmlformats.org/drawingml/2006/main">
            <a:off x="638175" y="5514975"/>
            <a:ext cx="108394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800" b="1">
                <a:solidFill>
                  <a:srgbClr val="33D69B"/>
                </a:solidFill>
                <a:latin typeface="Arial"/>
                <a:ea typeface="Arial"/>
                <a:cs typeface="Arial"/>
              </a:defRPr>
            </a:defPPr>
          </a:lstStyle>
          <a:p xmlns:a="http://schemas.openxmlformats.org/drawingml/2006/main">
            <a:pPr>
              <a:defRPr sz="1800" b="1">
                <a:solidFill>
                  <a:srgbClr val="33D69B"/>
                </a:solidFill>
                <a:latin typeface="Arial"/>
                <a:ea typeface="Arial"/>
                <a:cs typeface="Arial"/>
              </a:defRPr>
            </a:pPr>
            <a:r>
              <a:rPr sz="1800" b="1">
                <a:solidFill>
                  <a:srgbClr val="33D69B"/>
                </a:solidFill>
                <a:latin typeface="Arial"/>
                <a:ea typeface="Arial"/>
                <a:cs typeface="Arial"/>
              </a:rPr>
              <a:t>INPUT: 5     RESULT: Mira, then 1</a:t>
            </a:r>
          </a:p>
        </p:txBody>
      </p:sp>
    </p:spTree>
    <p:extLst>
      <p:ext uri="{BB962C8B-B14F-4D97-AF65-F5344CB8AC3E}">
        <p14:creationId xmlns:p14="http://schemas.microsoft.com/office/powerpoint/2010/main" val="547599961"/>
      </p:ext>
    </p:extLst>
  </p:cSld>
</p:sld>
</file>

<file path=ppt/slides/slide8.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5D4EE660-63C4-479C-8315-68F9EC638317}"/>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60F13424-B02B-4FDD-82E8-1A61C4B6E814}"/>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Example 4: automatic division check</a:t>
            </a:r>
          </a:p>
        </p:txBody>
      </p:sp>
      <p:sp>
        <p:nvSpPr>
          <p:cNvPr id="3" name="">
            <a:extLst xmlns:a="http://schemas.openxmlformats.org/drawingml/2006/main">
              <a:ext uri="{FF2B5EF4-FFF2-40B4-BE49-F238E27FC236}">
                <a16:creationId xmlns:a16="http://schemas.microsoft.com/office/drawing/2014/main" id="{F96799A9-E2D7-48CB-BDFC-0923C3F796AE}"/>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The source has no REQUIRE; the generated C guards the divisor.</a:t>
            </a:r>
          </a:p>
        </p:txBody>
      </p:sp>
      <p:sp>
        <p:nvSpPr>
          <p:cNvPr id="4" name="">
            <a:extLst xmlns:a="http://schemas.openxmlformats.org/drawingml/2006/main">
              <a:ext uri="{FF2B5EF4-FFF2-40B4-BE49-F238E27FC236}">
                <a16:creationId xmlns:a16="http://schemas.microsoft.com/office/drawing/2014/main" id="{C204CF0F-FAA6-4DA3-8E59-B29B307E2C68}"/>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E70D5190-F3FD-428F-BF3D-78205F000923}"/>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27663099-8080-4E21-B742-F3DE95A89EF1}"/>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08</a:t>
            </a:r>
          </a:p>
        </p:txBody>
      </p:sp>
      <p:sp>
        <p:nvSpPr>
          <p:cNvPr id="7" name="">
            <a:extLst xmlns:a="http://schemas.openxmlformats.org/drawingml/2006/main">
              <a:ext uri="{FF2B5EF4-FFF2-40B4-BE49-F238E27FC236}">
                <a16:creationId xmlns:a16="http://schemas.microsoft.com/office/drawing/2014/main" id="{8A426F60-8CF4-4A57-9226-4A7E9DBA756B}"/>
              </a:ext>
            </a:extLst>
          </p:cNvPr>
          <p:cNvSpPr>
            <a:spLocks xmlns:a="http://schemas.openxmlformats.org/drawingml/2006/main" noGrp="1"/>
          </p:cNvSpPr>
          <p:nvPr/>
        </p:nvSpPr>
        <p:spPr>
          <a:xfrm xmlns:a="http://schemas.openxmlformats.org/drawingml/2006/main">
            <a:off x="628650" y="1466850"/>
            <a:ext cx="4905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723BDF3B-C97C-44DE-8F6C-DD8E54C9A7CF}"/>
              </a:ext>
            </a:extLst>
          </p:cNvPr>
          <p:cNvSpPr>
            <a:spLocks xmlns:a="http://schemas.openxmlformats.org/drawingml/2006/main" noGrp="1"/>
          </p:cNvSpPr>
          <p:nvPr/>
        </p:nvSpPr>
        <p:spPr>
          <a:xfrm xmlns:a="http://schemas.openxmlformats.org/drawingml/2006/main">
            <a:off x="628650" y="1809750"/>
            <a:ext cx="49053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0D7C96E-5E63-4959-A1E6-353445B7621D}"/>
              </a:ext>
            </a:extLst>
          </p:cNvPr>
          <p:cNvSpPr>
            <a:spLocks xmlns:a="http://schemas.openxmlformats.org/drawingml/2006/main" noGrp="1"/>
          </p:cNvSpPr>
          <p:nvPr/>
        </p:nvSpPr>
        <p:spPr>
          <a:xfrm xmlns:a="http://schemas.openxmlformats.org/drawingml/2006/main">
            <a:off x="619125" y="1924050"/>
            <a:ext cx="4914900" cy="3219450"/>
          </a:xfrm>
          <a:prstGeom xmlns:a="http://schemas.openxmlformats.org/drawingml/2006/main" prst="roundRect">
            <a:avLst>
              <a:gd name="adj" fmla="val 2959"/>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EEF2254-4D78-412A-9AA3-6221B5ACAE24}"/>
              </a:ext>
            </a:extLst>
          </p:cNvPr>
          <p:cNvSpPr>
            <a:spLocks xmlns:a="http://schemas.openxmlformats.org/drawingml/2006/main" noGrp="1"/>
          </p:cNvSpPr>
          <p:nvPr/>
        </p:nvSpPr>
        <p:spPr>
          <a:xfrm xmlns:a="http://schemas.openxmlformats.org/drawingml/2006/main">
            <a:off x="828675" y="2085975"/>
            <a:ext cx="4495800" cy="2895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BEGIN</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DECLARE dividend AS INTEGER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DECLARE divisor AS INTEGER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READ dividend</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READ divisor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 dividend / divisor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4D8B5293-5C18-4C8F-B858-3A538EE2F30E}"/>
              </a:ext>
            </a:extLst>
          </p:cNvPr>
          <p:cNvSpPr>
            <a:spLocks xmlns:a="http://schemas.openxmlformats.org/drawingml/2006/main" noGrp="1"/>
          </p:cNvSpPr>
          <p:nvPr/>
        </p:nvSpPr>
        <p:spPr>
          <a:xfrm xmlns:a="http://schemas.openxmlformats.org/drawingml/2006/main">
            <a:off x="5991225" y="1466850"/>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KEY IR</a:t>
            </a:r>
          </a:p>
        </p:txBody>
      </p:sp>
      <p:sp>
        <p:nvSpPr>
          <p:cNvPr id="12" name="">
            <a:extLst xmlns:a="http://schemas.openxmlformats.org/drawingml/2006/main">
              <a:ext uri="{FF2B5EF4-FFF2-40B4-BE49-F238E27FC236}">
                <a16:creationId xmlns:a16="http://schemas.microsoft.com/office/drawing/2014/main" id="{7250870E-27ED-4BCB-9188-367273B32DD9}"/>
              </a:ext>
            </a:extLst>
          </p:cNvPr>
          <p:cNvSpPr>
            <a:spLocks xmlns:a="http://schemas.openxmlformats.org/drawingml/2006/main" noGrp="1"/>
          </p:cNvSpPr>
          <p:nvPr/>
        </p:nvSpPr>
        <p:spPr>
          <a:xfrm xmlns:a="http://schemas.openxmlformats.org/drawingml/2006/main">
            <a:off x="5991225" y="1809750"/>
            <a:ext cx="54864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D661BCA-BE99-4713-AAA2-EA4217231191}"/>
              </a:ext>
            </a:extLst>
          </p:cNvPr>
          <p:cNvSpPr>
            <a:spLocks xmlns:a="http://schemas.openxmlformats.org/drawingml/2006/main" noGrp="1"/>
          </p:cNvSpPr>
          <p:nvPr/>
        </p:nvSpPr>
        <p:spPr>
          <a:xfrm xmlns:a="http://schemas.openxmlformats.org/drawingml/2006/main">
            <a:off x="5981700" y="1924050"/>
            <a:ext cx="5495925" cy="1333500"/>
          </a:xfrm>
          <a:prstGeom xmlns:a="http://schemas.openxmlformats.org/drawingml/2006/main" prst="roundRect">
            <a:avLst>
              <a:gd name="adj" fmla="val 7143"/>
            </a:avLst>
          </a:prstGeom>
          <a:solidFill xmlns:a="http://schemas.openxmlformats.org/drawingml/2006/main">
            <a:srgbClr val="101B2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6BF0E7-4832-4FE4-8DF6-B2637DDB8494}"/>
              </a:ext>
            </a:extLst>
          </p:cNvPr>
          <p:cNvSpPr>
            <a:spLocks xmlns:a="http://schemas.openxmlformats.org/drawingml/2006/main" noGrp="1"/>
          </p:cNvSpPr>
          <p:nvPr/>
        </p:nvSpPr>
        <p:spPr>
          <a:xfrm xmlns:a="http://schemas.openxmlformats.org/drawingml/2006/main">
            <a:off x="6191250" y="2085975"/>
            <a:ext cx="50768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READ dividend</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READ divisor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t1 = dividend / divisor</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PRINT t1</a:t>
            </a:r>
          </a:p>
        </p:txBody>
      </p:sp>
      <p:sp>
        <p:nvSpPr>
          <p:cNvPr id="15" name="">
            <a:extLst xmlns:a="http://schemas.openxmlformats.org/drawingml/2006/main">
              <a:ext uri="{FF2B5EF4-FFF2-40B4-BE49-F238E27FC236}">
                <a16:creationId xmlns:a16="http://schemas.microsoft.com/office/drawing/2014/main" id="{2367BF18-95C6-4255-99F5-C14C49B84882}"/>
              </a:ext>
            </a:extLst>
          </p:cNvPr>
          <p:cNvSpPr>
            <a:spLocks xmlns:a="http://schemas.openxmlformats.org/drawingml/2006/main" noGrp="1"/>
          </p:cNvSpPr>
          <p:nvPr/>
        </p:nvSpPr>
        <p:spPr>
          <a:xfrm xmlns:a="http://schemas.openxmlformats.org/drawingml/2006/main">
            <a:off x="5991225" y="3419475"/>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GENERATED C CHECK</a:t>
            </a:r>
          </a:p>
        </p:txBody>
      </p:sp>
      <p:sp>
        <p:nvSpPr>
          <p:cNvPr id="16" name="">
            <a:extLst xmlns:a="http://schemas.openxmlformats.org/drawingml/2006/main">
              <a:ext uri="{FF2B5EF4-FFF2-40B4-BE49-F238E27FC236}">
                <a16:creationId xmlns:a16="http://schemas.microsoft.com/office/drawing/2014/main" id="{205F206D-F343-4F05-A085-A39D6E457878}"/>
              </a:ext>
            </a:extLst>
          </p:cNvPr>
          <p:cNvSpPr>
            <a:spLocks xmlns:a="http://schemas.openxmlformats.org/drawingml/2006/main" noGrp="1"/>
          </p:cNvSpPr>
          <p:nvPr/>
        </p:nvSpPr>
        <p:spPr>
          <a:xfrm xmlns:a="http://schemas.openxmlformats.org/drawingml/2006/main">
            <a:off x="5991225" y="3762375"/>
            <a:ext cx="54864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CF4272DD-C162-440D-864C-6E21A502F150}"/>
              </a:ext>
            </a:extLst>
          </p:cNvPr>
          <p:cNvSpPr>
            <a:spLocks xmlns:a="http://schemas.openxmlformats.org/drawingml/2006/main" noGrp="1"/>
          </p:cNvSpPr>
          <p:nvPr/>
        </p:nvSpPr>
        <p:spPr>
          <a:xfrm xmlns:a="http://schemas.openxmlformats.org/drawingml/2006/main">
            <a:off x="5981700" y="3876675"/>
            <a:ext cx="5495925" cy="1466850"/>
          </a:xfrm>
          <a:prstGeom xmlns:a="http://schemas.openxmlformats.org/drawingml/2006/main" prst="roundRect">
            <a:avLst>
              <a:gd name="adj" fmla="val 6494"/>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A79F5D15-7F3E-4C6A-99A5-F29BAB0E922F}"/>
              </a:ext>
            </a:extLst>
          </p:cNvPr>
          <p:cNvSpPr>
            <a:spLocks xmlns:a="http://schemas.openxmlformats.org/drawingml/2006/main" noGrp="1"/>
          </p:cNvSpPr>
          <p:nvPr/>
        </p:nvSpPr>
        <p:spPr>
          <a:xfrm xmlns:a="http://schemas.openxmlformats.org/drawingml/2006/main">
            <a:off x="6191250" y="4038600"/>
            <a:ext cx="50768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0">
                <a:solidFill>
                  <a:srgbClr val="F6F8FC"/>
                </a:solidFill>
                <a:latin typeface="Consolas"/>
                <a:ea typeface="Consolas"/>
                <a:cs typeface="Consolas"/>
              </a:defRPr>
            </a:defPPr>
          </a:lstStyle>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if (divisor == 0) {</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  fprintf(stderr, "Division or remainder by zero"</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          " at pseudocode line 6\n");</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  return 1;</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a:t>
            </a:r>
          </a:p>
        </p:txBody>
      </p:sp>
      <p:sp>
        <p:nvSpPr>
          <p:cNvPr id="19" name="">
            <a:extLst xmlns:a="http://schemas.openxmlformats.org/drawingml/2006/main">
              <a:ext uri="{FF2B5EF4-FFF2-40B4-BE49-F238E27FC236}">
                <a16:creationId xmlns:a16="http://schemas.microsoft.com/office/drawing/2014/main" id="{65076064-34F5-4E96-B864-2F8FFA68D772}"/>
              </a:ext>
            </a:extLst>
          </p:cNvPr>
          <p:cNvSpPr>
            <a:spLocks xmlns:a="http://schemas.openxmlformats.org/drawingml/2006/main" noGrp="1"/>
          </p:cNvSpPr>
          <p:nvPr/>
        </p:nvSpPr>
        <p:spPr>
          <a:xfrm xmlns:a="http://schemas.openxmlformats.org/drawingml/2006/main">
            <a:off x="638175" y="5514975"/>
            <a:ext cx="108394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F6B94D"/>
                </a:solidFill>
                <a:latin typeface="Arial"/>
                <a:ea typeface="Arial"/>
                <a:cs typeface="Arial"/>
              </a:defRPr>
            </a:defPPr>
          </a:lstStyle>
          <a:p xmlns:a="http://schemas.openxmlformats.org/drawingml/2006/main">
            <a:pPr>
              <a:defRPr sz="1575" b="1">
                <a:solidFill>
                  <a:srgbClr val="F6B94D"/>
                </a:solidFill>
                <a:latin typeface="Arial"/>
                <a:ea typeface="Arial"/>
                <a:cs typeface="Arial"/>
              </a:defRPr>
            </a:pPr>
            <a:r>
              <a:rPr sz="1575" b="1">
                <a:solidFill>
                  <a:srgbClr val="F6B94D"/>
                </a:solidFill>
                <a:latin typeface="Arial"/>
                <a:ea typeface="Arial"/>
                <a:cs typeface="Arial"/>
              </a:rPr>
              <a:t>INPUT: 20 0     RESULT: source-line error, exit status 1</a:t>
            </a:r>
          </a:p>
        </p:txBody>
      </p:sp>
    </p:spTree>
    <p:extLst>
      <p:ext uri="{BB962C8B-B14F-4D97-AF65-F5344CB8AC3E}">
        <p14:creationId xmlns:p14="http://schemas.microsoft.com/office/powerpoint/2010/main" val="927347500"/>
      </p:ext>
    </p:extLst>
  </p:cSld>
</p:sld>
</file>

<file path=ppt/slides/slide9.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719B805F-3080-407C-B5EB-14A220AC0AF8}"/>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4FE67307-E648-4F65-806C-A58C6092458D}"/>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Example 5: automatic array bounds</a:t>
            </a:r>
          </a:p>
        </p:txBody>
      </p:sp>
      <p:sp>
        <p:nvSpPr>
          <p:cNvPr id="3" name="">
            <a:extLst xmlns:a="http://schemas.openxmlformats.org/drawingml/2006/main">
              <a:ext uri="{FF2B5EF4-FFF2-40B4-BE49-F238E27FC236}">
                <a16:creationId xmlns:a16="http://schemas.microsoft.com/office/drawing/2014/main" id="{46C111E4-BBFF-415C-926F-3142248FC9E5}"/>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A dynamic array index is checked before reading or writing C memory.</a:t>
            </a:r>
          </a:p>
        </p:txBody>
      </p:sp>
      <p:sp>
        <p:nvSpPr>
          <p:cNvPr id="4" name="">
            <a:extLst xmlns:a="http://schemas.openxmlformats.org/drawingml/2006/main">
              <a:ext uri="{FF2B5EF4-FFF2-40B4-BE49-F238E27FC236}">
                <a16:creationId xmlns:a16="http://schemas.microsoft.com/office/drawing/2014/main" id="{ED0F6852-C424-42E9-8E45-58168897D982}"/>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C51BC57B-54B2-4125-BFE4-60993AB6B5CB}"/>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0E727B7B-A1AA-438B-AF29-DCD3EFCC6AD3}"/>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09</a:t>
            </a:r>
          </a:p>
        </p:txBody>
      </p:sp>
      <p:sp>
        <p:nvSpPr>
          <p:cNvPr id="7" name="">
            <a:extLst xmlns:a="http://schemas.openxmlformats.org/drawingml/2006/main">
              <a:ext uri="{FF2B5EF4-FFF2-40B4-BE49-F238E27FC236}">
                <a16:creationId xmlns:a16="http://schemas.microsoft.com/office/drawing/2014/main" id="{2C927764-1CC4-432C-9471-5B25BD3D3847}"/>
              </a:ext>
            </a:extLst>
          </p:cNvPr>
          <p:cNvSpPr>
            <a:spLocks xmlns:a="http://schemas.openxmlformats.org/drawingml/2006/main" noGrp="1"/>
          </p:cNvSpPr>
          <p:nvPr/>
        </p:nvSpPr>
        <p:spPr>
          <a:xfrm xmlns:a="http://schemas.openxmlformats.org/drawingml/2006/main">
            <a:off x="628650" y="1466850"/>
            <a:ext cx="4905375"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PSEUDOCODE</a:t>
            </a:r>
          </a:p>
        </p:txBody>
      </p:sp>
      <p:sp>
        <p:nvSpPr>
          <p:cNvPr id="8" name="">
            <a:extLst xmlns:a="http://schemas.openxmlformats.org/drawingml/2006/main">
              <a:ext uri="{FF2B5EF4-FFF2-40B4-BE49-F238E27FC236}">
                <a16:creationId xmlns:a16="http://schemas.microsoft.com/office/drawing/2014/main" id="{4D09CA07-CA55-4D84-A2BE-BC300737960C}"/>
              </a:ext>
            </a:extLst>
          </p:cNvPr>
          <p:cNvSpPr>
            <a:spLocks xmlns:a="http://schemas.openxmlformats.org/drawingml/2006/main" noGrp="1"/>
          </p:cNvSpPr>
          <p:nvPr/>
        </p:nvSpPr>
        <p:spPr>
          <a:xfrm xmlns:a="http://schemas.openxmlformats.org/drawingml/2006/main">
            <a:off x="628650" y="1809750"/>
            <a:ext cx="4905375"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60C94FBA-F3DA-4A13-995B-BF696CDEBCFC}"/>
              </a:ext>
            </a:extLst>
          </p:cNvPr>
          <p:cNvSpPr>
            <a:spLocks xmlns:a="http://schemas.openxmlformats.org/drawingml/2006/main" noGrp="1"/>
          </p:cNvSpPr>
          <p:nvPr/>
        </p:nvSpPr>
        <p:spPr>
          <a:xfrm xmlns:a="http://schemas.openxmlformats.org/drawingml/2006/main">
            <a:off x="619125" y="1924050"/>
            <a:ext cx="4914900" cy="3219450"/>
          </a:xfrm>
          <a:prstGeom xmlns:a="http://schemas.openxmlformats.org/drawingml/2006/main" prst="roundRect">
            <a:avLst>
              <a:gd name="adj" fmla="val 2959"/>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C96300D-2564-47C2-AECC-46554F69A086}"/>
              </a:ext>
            </a:extLst>
          </p:cNvPr>
          <p:cNvSpPr>
            <a:spLocks xmlns:a="http://schemas.openxmlformats.org/drawingml/2006/main" noGrp="1"/>
          </p:cNvSpPr>
          <p:nvPr/>
        </p:nvSpPr>
        <p:spPr>
          <a:xfrm xmlns:a="http://schemas.openxmlformats.org/drawingml/2006/main">
            <a:off x="828675" y="2085975"/>
            <a:ext cx="4495800" cy="2895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275" b="0">
                <a:solidFill>
                  <a:srgbClr val="F6F8FC"/>
                </a:solidFill>
                <a:latin typeface="Consolas"/>
                <a:ea typeface="Consolas"/>
                <a:cs typeface="Consolas"/>
              </a:defRPr>
            </a:defPPr>
          </a:lstStyle>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BEGIN</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DECLARE values[3] AS INTEGER</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DECLARE index AS INTEGER</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DECLARE value AS INTEGER</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READ index</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READ value</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SET values[index] = value</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PRINT values[index]</a:t>
            </a:r>
          </a:p>
          <a:p xmlns:a="http://schemas.openxmlformats.org/drawingml/2006/main">
            <a:pPr>
              <a:defRPr sz="1275" b="0">
                <a:solidFill>
                  <a:srgbClr val="F6F8FC"/>
                </a:solidFill>
                <a:latin typeface="Consolas"/>
                <a:ea typeface="Consolas"/>
                <a:cs typeface="Consolas"/>
              </a:defRPr>
            </a:pPr>
            <a:r>
              <a:rPr sz="1275"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B4F4D95E-5EEB-45DA-87EB-34E58BF478CD}"/>
              </a:ext>
            </a:extLst>
          </p:cNvPr>
          <p:cNvSpPr>
            <a:spLocks xmlns:a="http://schemas.openxmlformats.org/drawingml/2006/main" noGrp="1"/>
          </p:cNvSpPr>
          <p:nvPr/>
        </p:nvSpPr>
        <p:spPr>
          <a:xfrm xmlns:a="http://schemas.openxmlformats.org/drawingml/2006/main">
            <a:off x="5991225" y="1466850"/>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4C82FF"/>
                </a:solidFill>
                <a:latin typeface="Arial"/>
                <a:ea typeface="Arial"/>
                <a:cs typeface="Arial"/>
              </a:defRPr>
            </a:defPPr>
          </a:lstStyle>
          <a:p xmlns:a="http://schemas.openxmlformats.org/drawingml/2006/main">
            <a:pPr>
              <a:defRPr sz="1350" b="1">
                <a:solidFill>
                  <a:srgbClr val="4C82FF"/>
                </a:solidFill>
                <a:latin typeface="Arial"/>
                <a:ea typeface="Arial"/>
                <a:cs typeface="Arial"/>
              </a:defRPr>
            </a:pPr>
            <a:r>
              <a:rPr sz="1350" b="1">
                <a:solidFill>
                  <a:srgbClr val="4C82FF"/>
                </a:solidFill>
                <a:latin typeface="Arial"/>
                <a:ea typeface="Arial"/>
                <a:cs typeface="Arial"/>
              </a:rPr>
              <a:t>KEY IR</a:t>
            </a:r>
          </a:p>
        </p:txBody>
      </p:sp>
      <p:sp>
        <p:nvSpPr>
          <p:cNvPr id="12" name="">
            <a:extLst xmlns:a="http://schemas.openxmlformats.org/drawingml/2006/main">
              <a:ext uri="{FF2B5EF4-FFF2-40B4-BE49-F238E27FC236}">
                <a16:creationId xmlns:a16="http://schemas.microsoft.com/office/drawing/2014/main" id="{A456EA19-FBCB-41A7-BAC9-26EDD2BBBB45}"/>
              </a:ext>
            </a:extLst>
          </p:cNvPr>
          <p:cNvSpPr>
            <a:spLocks xmlns:a="http://schemas.openxmlformats.org/drawingml/2006/main" noGrp="1"/>
          </p:cNvSpPr>
          <p:nvPr/>
        </p:nvSpPr>
        <p:spPr>
          <a:xfrm xmlns:a="http://schemas.openxmlformats.org/drawingml/2006/main">
            <a:off x="5991225" y="1809750"/>
            <a:ext cx="5486400" cy="19050"/>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80CB960C-9533-41BE-A461-777F270BB967}"/>
              </a:ext>
            </a:extLst>
          </p:cNvPr>
          <p:cNvSpPr>
            <a:spLocks xmlns:a="http://schemas.openxmlformats.org/drawingml/2006/main" noGrp="1"/>
          </p:cNvSpPr>
          <p:nvPr/>
        </p:nvSpPr>
        <p:spPr>
          <a:xfrm xmlns:a="http://schemas.openxmlformats.org/drawingml/2006/main">
            <a:off x="5981700" y="1924050"/>
            <a:ext cx="5495925" cy="1333500"/>
          </a:xfrm>
          <a:prstGeom xmlns:a="http://schemas.openxmlformats.org/drawingml/2006/main" prst="roundRect">
            <a:avLst>
              <a:gd name="adj" fmla="val 7143"/>
            </a:avLst>
          </a:prstGeom>
          <a:solidFill xmlns:a="http://schemas.openxmlformats.org/drawingml/2006/main">
            <a:srgbClr val="101B2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AACF360-094B-40E2-9A28-D3E1E8001C9B}"/>
              </a:ext>
            </a:extLst>
          </p:cNvPr>
          <p:cNvSpPr>
            <a:spLocks xmlns:a="http://schemas.openxmlformats.org/drawingml/2006/main" noGrp="1"/>
          </p:cNvSpPr>
          <p:nvPr/>
        </p:nvSpPr>
        <p:spPr>
          <a:xfrm xmlns:a="http://schemas.openxmlformats.org/drawingml/2006/main">
            <a:off x="6191250" y="2085975"/>
            <a:ext cx="5076825" cy="1009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0">
                <a:solidFill>
                  <a:srgbClr val="F6F8FC"/>
                </a:solidFill>
                <a:latin typeface="Consolas"/>
                <a:ea typeface="Consolas"/>
                <a:cs typeface="Consolas"/>
              </a:defRPr>
            </a:defPPr>
          </a:lstStyle>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BOUNDS_CHECK values[index] IN 0..2</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values[index] = value</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BOUNDS_CHECK values[index] IN 0..2</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t1 = values[index]</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PRINT t1</a:t>
            </a:r>
          </a:p>
        </p:txBody>
      </p:sp>
      <p:sp>
        <p:nvSpPr>
          <p:cNvPr id="15" name="">
            <a:extLst xmlns:a="http://schemas.openxmlformats.org/drawingml/2006/main">
              <a:ext uri="{FF2B5EF4-FFF2-40B4-BE49-F238E27FC236}">
                <a16:creationId xmlns:a16="http://schemas.microsoft.com/office/drawing/2014/main" id="{63936D57-DB7F-41C3-A65E-6C1D8C3EAC1C}"/>
              </a:ext>
            </a:extLst>
          </p:cNvPr>
          <p:cNvSpPr>
            <a:spLocks xmlns:a="http://schemas.openxmlformats.org/drawingml/2006/main" noGrp="1"/>
          </p:cNvSpPr>
          <p:nvPr/>
        </p:nvSpPr>
        <p:spPr>
          <a:xfrm xmlns:a="http://schemas.openxmlformats.org/drawingml/2006/main">
            <a:off x="5991225" y="3419475"/>
            <a:ext cx="54864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GENERATED C CHECK</a:t>
            </a:r>
          </a:p>
        </p:txBody>
      </p:sp>
      <p:sp>
        <p:nvSpPr>
          <p:cNvPr id="16" name="">
            <a:extLst xmlns:a="http://schemas.openxmlformats.org/drawingml/2006/main">
              <a:ext uri="{FF2B5EF4-FFF2-40B4-BE49-F238E27FC236}">
                <a16:creationId xmlns:a16="http://schemas.microsoft.com/office/drawing/2014/main" id="{41FA16C0-38A7-4AC4-A9F2-123567F6430C}"/>
              </a:ext>
            </a:extLst>
          </p:cNvPr>
          <p:cNvSpPr>
            <a:spLocks xmlns:a="http://schemas.openxmlformats.org/drawingml/2006/main" noGrp="1"/>
          </p:cNvSpPr>
          <p:nvPr/>
        </p:nvSpPr>
        <p:spPr>
          <a:xfrm xmlns:a="http://schemas.openxmlformats.org/drawingml/2006/main">
            <a:off x="5991225" y="3762375"/>
            <a:ext cx="548640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7B1D2206-9DA3-42C7-8AD0-A81EAAA829D3}"/>
              </a:ext>
            </a:extLst>
          </p:cNvPr>
          <p:cNvSpPr>
            <a:spLocks xmlns:a="http://schemas.openxmlformats.org/drawingml/2006/main" noGrp="1"/>
          </p:cNvSpPr>
          <p:nvPr/>
        </p:nvSpPr>
        <p:spPr>
          <a:xfrm xmlns:a="http://schemas.openxmlformats.org/drawingml/2006/main">
            <a:off x="5981700" y="3876675"/>
            <a:ext cx="5495925" cy="1466850"/>
          </a:xfrm>
          <a:prstGeom xmlns:a="http://schemas.openxmlformats.org/drawingml/2006/main" prst="roundRect">
            <a:avLst>
              <a:gd name="adj" fmla="val 6494"/>
            </a:avLst>
          </a:prstGeom>
          <a:solidFill xmlns:a="http://schemas.openxmlformats.org/drawingml/2006/main">
            <a:srgbClr val="101B2C"/>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61268E3A-2532-437B-97BB-32FBE13BCA0F}"/>
              </a:ext>
            </a:extLst>
          </p:cNvPr>
          <p:cNvSpPr>
            <a:spLocks xmlns:a="http://schemas.openxmlformats.org/drawingml/2006/main" noGrp="1"/>
          </p:cNvSpPr>
          <p:nvPr/>
        </p:nvSpPr>
        <p:spPr>
          <a:xfrm xmlns:a="http://schemas.openxmlformats.org/drawingml/2006/main">
            <a:off x="6191250" y="4038600"/>
            <a:ext cx="5076825"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125" b="0">
                <a:solidFill>
                  <a:srgbClr val="F6F8FC"/>
                </a:solidFill>
                <a:latin typeface="Consolas"/>
                <a:ea typeface="Consolas"/>
                <a:cs typeface="Consolas"/>
              </a:defRPr>
            </a:defPPr>
          </a:lstStyle>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if (index &lt; 0 || index &gt;= 3) {</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  fprintf(stderr, "Array index out of bounds"</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          " at pseudocode line 7\n");</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  return 1;</a:t>
            </a:r>
          </a:p>
          <a:p xmlns:a="http://schemas.openxmlformats.org/drawingml/2006/main">
            <a:pPr>
              <a:defRPr sz="1125" b="0">
                <a:solidFill>
                  <a:srgbClr val="F6F8FC"/>
                </a:solidFill>
                <a:latin typeface="Consolas"/>
                <a:ea typeface="Consolas"/>
                <a:cs typeface="Consolas"/>
              </a:defRPr>
            </a:pPr>
            <a:r>
              <a:rPr sz="1125" b="0">
                <a:solidFill>
                  <a:srgbClr val="F6F8FC"/>
                </a:solidFill>
                <a:latin typeface="Consolas"/>
                <a:ea typeface="Consolas"/>
                <a:cs typeface="Consolas"/>
              </a:rPr>
              <a:t>}</a:t>
            </a:r>
          </a:p>
        </p:txBody>
      </p:sp>
      <p:sp>
        <p:nvSpPr>
          <p:cNvPr id="19" name="">
            <a:extLst xmlns:a="http://schemas.openxmlformats.org/drawingml/2006/main">
              <a:ext uri="{FF2B5EF4-FFF2-40B4-BE49-F238E27FC236}">
                <a16:creationId xmlns:a16="http://schemas.microsoft.com/office/drawing/2014/main" id="{3AEA2476-2957-4AC1-9DEB-D50950FB3327}"/>
              </a:ext>
            </a:extLst>
          </p:cNvPr>
          <p:cNvSpPr>
            <a:spLocks xmlns:a="http://schemas.openxmlformats.org/drawingml/2006/main" noGrp="1"/>
          </p:cNvSpPr>
          <p:nvPr/>
        </p:nvSpPr>
        <p:spPr>
          <a:xfrm xmlns:a="http://schemas.openxmlformats.org/drawingml/2006/main">
            <a:off x="638175" y="5514975"/>
            <a:ext cx="10839450" cy="4667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1">
                <a:solidFill>
                  <a:srgbClr val="F6B94D"/>
                </a:solidFill>
                <a:latin typeface="Arial"/>
                <a:ea typeface="Arial"/>
                <a:cs typeface="Arial"/>
              </a:defRPr>
            </a:defPPr>
          </a:lstStyle>
          <a:p xmlns:a="http://schemas.openxmlformats.org/drawingml/2006/main">
            <a:pPr>
              <a:defRPr sz="1575" b="1">
                <a:solidFill>
                  <a:srgbClr val="F6B94D"/>
                </a:solidFill>
                <a:latin typeface="Arial"/>
                <a:ea typeface="Arial"/>
                <a:cs typeface="Arial"/>
              </a:defRPr>
            </a:pPr>
            <a:r>
              <a:rPr sz="1575" b="1">
                <a:solidFill>
                  <a:srgbClr val="F6B94D"/>
                </a:solidFill>
                <a:latin typeface="Arial"/>
                <a:ea typeface="Arial"/>
                <a:cs typeface="Arial"/>
              </a:rPr>
              <a:t>INPUT: 3 42     RESULT: bounds error at line 7, exit status 1</a:t>
            </a:r>
          </a:p>
        </p:txBody>
      </p:sp>
    </p:spTree>
    <p:extLst>
      <p:ext uri="{BB962C8B-B14F-4D97-AF65-F5344CB8AC3E}">
        <p14:creationId xmlns:p14="http://schemas.microsoft.com/office/powerpoint/2010/main" val="1235355323"/>
      </p:ext>
    </p:extLst>
  </p:cSld>
</p:sld>
</file>

<file path=ppt/slides/slide10.xml><?xml version="1.0" encoding="utf-8"?>
<p:sld xmlns:p="http://schemas.openxmlformats.org/presentationml/2006/main">
  <p:cSld>
    <p:bg>
      <p:bgPr>
        <a:solidFill xmlns:a="http://schemas.openxmlformats.org/drawingml/2006/main">
          <a:srgbClr val="080E1C"/>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94910F5-68AA-4504-8053-8681D01D17C2}"/>
              </a:ext>
            </a:extLst>
          </p:cNvPr>
          <p:cNvSpPr>
            <a:spLocks xmlns:a="http://schemas.openxmlformats.org/drawingml/2006/main" noGrp="1"/>
          </p:cNvSpPr>
          <p:nvPr/>
        </p:nvSpPr>
        <p:spPr>
          <a:xfrm xmlns:a="http://schemas.openxmlformats.org/drawingml/2006/main">
            <a:off x="0" y="0"/>
            <a:ext cx="12192000" cy="47625"/>
          </a:xfrm>
          <a:prstGeom xmlns:a="http://schemas.openxmlformats.org/drawingml/2006/main" prst="rect">
            <a:avLst/>
          </a:prstGeom>
          <a:solidFill xmlns:a="http://schemas.openxmlformats.org/drawingml/2006/main">
            <a:srgbClr val="4C82FF"/>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EDDE863-FE8A-42E8-A281-898DD0366588}"/>
              </a:ext>
            </a:extLst>
          </p:cNvPr>
          <p:cNvSpPr>
            <a:spLocks xmlns:a="http://schemas.openxmlformats.org/drawingml/2006/main" noGrp="1"/>
          </p:cNvSpPr>
          <p:nvPr/>
        </p:nvSpPr>
        <p:spPr>
          <a:xfrm xmlns:a="http://schemas.openxmlformats.org/drawingml/2006/main">
            <a:off x="571500" y="409575"/>
            <a:ext cx="10858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3000" b="1">
                <a:solidFill>
                  <a:srgbClr val="F6F8FC"/>
                </a:solidFill>
                <a:latin typeface="Arial"/>
                <a:ea typeface="Arial"/>
                <a:cs typeface="Arial"/>
              </a:defRPr>
            </a:defPPr>
          </a:lstStyle>
          <a:p xmlns:a="http://schemas.openxmlformats.org/drawingml/2006/main">
            <a:pPr>
              <a:defRPr sz="3000" b="1">
                <a:solidFill>
                  <a:srgbClr val="F6F8FC"/>
                </a:solidFill>
                <a:latin typeface="Arial"/>
                <a:ea typeface="Arial"/>
                <a:cs typeface="Arial"/>
              </a:defRPr>
            </a:pPr>
            <a:r>
              <a:rPr sz="3000" b="1">
                <a:solidFill>
                  <a:srgbClr val="F6F8FC"/>
                </a:solidFill>
                <a:latin typeface="Arial"/>
                <a:ea typeface="Arial"/>
                <a:cs typeface="Arial"/>
              </a:rPr>
              <a:t>Compile-time errors and current limits</a:t>
            </a:r>
          </a:p>
        </p:txBody>
      </p:sp>
      <p:sp>
        <p:nvSpPr>
          <p:cNvPr id="3" name="">
            <a:extLst xmlns:a="http://schemas.openxmlformats.org/drawingml/2006/main">
              <a:ext uri="{FF2B5EF4-FFF2-40B4-BE49-F238E27FC236}">
                <a16:creationId xmlns:a16="http://schemas.microsoft.com/office/drawing/2014/main" id="{F236605C-DD49-4CAA-9027-47D6BBF3C126}"/>
              </a:ext>
            </a:extLst>
          </p:cNvPr>
          <p:cNvSpPr>
            <a:spLocks xmlns:a="http://schemas.openxmlformats.org/drawingml/2006/main" noGrp="1"/>
          </p:cNvSpPr>
          <p:nvPr/>
        </p:nvSpPr>
        <p:spPr>
          <a:xfrm xmlns:a="http://schemas.openxmlformats.org/drawingml/2006/main">
            <a:off x="590550" y="990600"/>
            <a:ext cx="10572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425" b="0">
                <a:solidFill>
                  <a:srgbClr val="AEBBD0"/>
                </a:solidFill>
                <a:latin typeface="Arial"/>
                <a:ea typeface="Arial"/>
                <a:cs typeface="Arial"/>
              </a:defRPr>
            </a:defPPr>
          </a:lstStyle>
          <a:p xmlns:a="http://schemas.openxmlformats.org/drawingml/2006/main">
            <a:pPr>
              <a:defRPr sz="1425" b="0">
                <a:solidFill>
                  <a:srgbClr val="AEBBD0"/>
                </a:solidFill>
                <a:latin typeface="Arial"/>
                <a:ea typeface="Arial"/>
                <a:cs typeface="Arial"/>
              </a:defRPr>
            </a:pPr>
            <a:r>
              <a:rPr sz="1425" b="0">
                <a:solidFill>
                  <a:srgbClr val="AEBBD0"/>
                </a:solidFill>
                <a:latin typeface="Arial"/>
                <a:ea typeface="Arial"/>
                <a:cs typeface="Arial"/>
              </a:rPr>
              <a:t>Invalid source is rejected before C generation; the translator stays within a defined grammar.</a:t>
            </a:r>
          </a:p>
        </p:txBody>
      </p:sp>
      <p:sp>
        <p:nvSpPr>
          <p:cNvPr id="4" name="">
            <a:extLst xmlns:a="http://schemas.openxmlformats.org/drawingml/2006/main">
              <a:ext uri="{FF2B5EF4-FFF2-40B4-BE49-F238E27FC236}">
                <a16:creationId xmlns:a16="http://schemas.microsoft.com/office/drawing/2014/main" id="{5157EC7D-5AA4-42D9-BF8E-ED4ABD563C30}"/>
              </a:ext>
            </a:extLst>
          </p:cNvPr>
          <p:cNvSpPr>
            <a:spLocks xmlns:a="http://schemas.openxmlformats.org/drawingml/2006/main" noGrp="1"/>
          </p:cNvSpPr>
          <p:nvPr/>
        </p:nvSpPr>
        <p:spPr>
          <a:xfrm xmlns:a="http://schemas.openxmlformats.org/drawingml/2006/main">
            <a:off x="571500" y="6219825"/>
            <a:ext cx="11049000" cy="19050"/>
          </a:xfrm>
          <a:prstGeom xmlns:a="http://schemas.openxmlformats.org/drawingml/2006/main" prst="rect">
            <a:avLst/>
          </a:prstGeom>
          <a:solidFill xmlns:a="http://schemas.openxmlformats.org/drawingml/2006/main">
            <a:srgbClr val="29405D"/>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8B6596F9-0609-488B-AD6B-FF17C72ABC07}"/>
              </a:ext>
            </a:extLst>
          </p:cNvPr>
          <p:cNvSpPr>
            <a:spLocks xmlns:a="http://schemas.openxmlformats.org/drawingml/2006/main" noGrp="1"/>
          </p:cNvSpPr>
          <p:nvPr/>
        </p:nvSpPr>
        <p:spPr>
          <a:xfrm xmlns:a="http://schemas.openxmlformats.org/drawingml/2006/main">
            <a:off x="571500" y="6362700"/>
            <a:ext cx="5905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AEBBD0"/>
                </a:solidFill>
                <a:latin typeface="Arial"/>
                <a:ea typeface="Arial"/>
                <a:cs typeface="Arial"/>
              </a:defRPr>
            </a:defPPr>
          </a:lstStyle>
          <a:p xmlns:a="http://schemas.openxmlformats.org/drawingml/2006/main">
            <a:pPr>
              <a:defRPr sz="1050" b="1">
                <a:solidFill>
                  <a:srgbClr val="AEBBD0"/>
                </a:solidFill>
                <a:latin typeface="Arial"/>
                <a:ea typeface="Arial"/>
                <a:cs typeface="Arial"/>
              </a:defRPr>
            </a:pPr>
            <a:r>
              <a:rPr sz="1050" b="1">
                <a:solidFill>
                  <a:srgbClr val="AEBBD0"/>
                </a:solidFill>
                <a:latin typeface="Arial"/>
                <a:ea typeface="Arial"/>
                <a:cs typeface="Arial"/>
              </a:rPr>
              <a:t>REVIEW 2  /  PSEUDOCODE TO C</a:t>
            </a:r>
          </a:p>
        </p:txBody>
      </p:sp>
      <p:sp>
        <p:nvSpPr>
          <p:cNvPr id="6" name="">
            <a:extLst xmlns:a="http://schemas.openxmlformats.org/drawingml/2006/main">
              <a:ext uri="{FF2B5EF4-FFF2-40B4-BE49-F238E27FC236}">
                <a16:creationId xmlns:a16="http://schemas.microsoft.com/office/drawing/2014/main" id="{C8FB9A85-5F7A-4BA4-A9BE-15DD5B40F178}"/>
              </a:ext>
            </a:extLst>
          </p:cNvPr>
          <p:cNvSpPr>
            <a:spLocks xmlns:a="http://schemas.openxmlformats.org/drawingml/2006/main" noGrp="1"/>
          </p:cNvSpPr>
          <p:nvPr/>
        </p:nvSpPr>
        <p:spPr>
          <a:xfrm xmlns:a="http://schemas.openxmlformats.org/drawingml/2006/main">
            <a:off x="10953750" y="6362700"/>
            <a:ext cx="6286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050" b="1">
                <a:solidFill>
                  <a:srgbClr val="20D5EA"/>
                </a:solidFill>
                <a:latin typeface="Arial"/>
                <a:ea typeface="Arial"/>
                <a:cs typeface="Arial"/>
              </a:defRPr>
            </a:defPPr>
          </a:lstStyle>
          <a:p xmlns:a="http://schemas.openxmlformats.org/drawingml/2006/main">
            <a:pPr>
              <a:defRPr sz="1050" b="1">
                <a:solidFill>
                  <a:srgbClr val="20D5EA"/>
                </a:solidFill>
                <a:latin typeface="Arial"/>
                <a:ea typeface="Arial"/>
                <a:cs typeface="Arial"/>
              </a:defRPr>
            </a:pPr>
            <a:r>
              <a:rPr sz="1050" b="1">
                <a:solidFill>
                  <a:srgbClr val="20D5EA"/>
                </a:solidFill>
                <a:latin typeface="Arial"/>
                <a:ea typeface="Arial"/>
                <a:cs typeface="Arial"/>
              </a:rPr>
              <a:t>10</a:t>
            </a:r>
          </a:p>
        </p:txBody>
      </p:sp>
      <p:sp>
        <p:nvSpPr>
          <p:cNvPr id="7" name="">
            <a:extLst xmlns:a="http://schemas.openxmlformats.org/drawingml/2006/main">
              <a:ext uri="{FF2B5EF4-FFF2-40B4-BE49-F238E27FC236}">
                <a16:creationId xmlns:a16="http://schemas.microsoft.com/office/drawing/2014/main" id="{D9D5C3E1-0E92-4926-92DE-0DB18B5D796D}"/>
              </a:ext>
            </a:extLst>
          </p:cNvPr>
          <p:cNvSpPr>
            <a:spLocks xmlns:a="http://schemas.openxmlformats.org/drawingml/2006/main" noGrp="1"/>
          </p:cNvSpPr>
          <p:nvPr/>
        </p:nvSpPr>
        <p:spPr>
          <a:xfrm xmlns:a="http://schemas.openxmlformats.org/drawingml/2006/main">
            <a:off x="628650" y="1476375"/>
            <a:ext cx="48958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F6B94D"/>
                </a:solidFill>
                <a:latin typeface="Arial"/>
                <a:ea typeface="Arial"/>
                <a:cs typeface="Arial"/>
              </a:defRPr>
            </a:defPPr>
          </a:lstStyle>
          <a:p xmlns:a="http://schemas.openxmlformats.org/drawingml/2006/main">
            <a:pPr>
              <a:defRPr sz="1350" b="1">
                <a:solidFill>
                  <a:srgbClr val="F6B94D"/>
                </a:solidFill>
                <a:latin typeface="Arial"/>
                <a:ea typeface="Arial"/>
                <a:cs typeface="Arial"/>
              </a:defRPr>
            </a:pPr>
            <a:r>
              <a:rPr sz="1350" b="1">
                <a:solidFill>
                  <a:srgbClr val="F6B94D"/>
                </a:solidFill>
                <a:latin typeface="Arial"/>
                <a:ea typeface="Arial"/>
                <a:cs typeface="Arial"/>
              </a:rPr>
              <a:t>INVALID PSEUDOCODE</a:t>
            </a:r>
          </a:p>
        </p:txBody>
      </p:sp>
      <p:sp>
        <p:nvSpPr>
          <p:cNvPr id="8" name="">
            <a:extLst xmlns:a="http://schemas.openxmlformats.org/drawingml/2006/main">
              <a:ext uri="{FF2B5EF4-FFF2-40B4-BE49-F238E27FC236}">
                <a16:creationId xmlns:a16="http://schemas.microsoft.com/office/drawing/2014/main" id="{8C538E63-0B22-41C9-BE27-6D7F50CE99DE}"/>
              </a:ext>
            </a:extLst>
          </p:cNvPr>
          <p:cNvSpPr>
            <a:spLocks xmlns:a="http://schemas.openxmlformats.org/drawingml/2006/main" noGrp="1"/>
          </p:cNvSpPr>
          <p:nvPr/>
        </p:nvSpPr>
        <p:spPr>
          <a:xfrm xmlns:a="http://schemas.openxmlformats.org/drawingml/2006/main">
            <a:off x="628650" y="1819275"/>
            <a:ext cx="4895850" cy="19050"/>
          </a:xfrm>
          <a:prstGeom xmlns:a="http://schemas.openxmlformats.org/drawingml/2006/main" prst="rect">
            <a:avLst/>
          </a:prstGeom>
          <a:solidFill xmlns:a="http://schemas.openxmlformats.org/drawingml/2006/main">
            <a:srgbClr val="F6B94D"/>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186C46D4-1EFC-447E-AF52-83C27A15FBAE}"/>
              </a:ext>
            </a:extLst>
          </p:cNvPr>
          <p:cNvSpPr>
            <a:spLocks xmlns:a="http://schemas.openxmlformats.org/drawingml/2006/main" noGrp="1"/>
          </p:cNvSpPr>
          <p:nvPr/>
        </p:nvSpPr>
        <p:spPr>
          <a:xfrm xmlns:a="http://schemas.openxmlformats.org/drawingml/2006/main">
            <a:off x="619125" y="1943100"/>
            <a:ext cx="4905375" cy="1866900"/>
          </a:xfrm>
          <a:prstGeom xmlns:a="http://schemas.openxmlformats.org/drawingml/2006/main" prst="roundRect">
            <a:avLst>
              <a:gd name="adj" fmla="val 5102"/>
            </a:avLst>
          </a:prstGeom>
          <a:solidFill xmlns:a="http://schemas.openxmlformats.org/drawingml/2006/main">
            <a:srgbClr val="101B2C"/>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030AFCB7-74F0-4AF4-8B22-20C0B2483DDD}"/>
              </a:ext>
            </a:extLst>
          </p:cNvPr>
          <p:cNvSpPr>
            <a:spLocks xmlns:a="http://schemas.openxmlformats.org/drawingml/2006/main" noGrp="1"/>
          </p:cNvSpPr>
          <p:nvPr/>
        </p:nvSpPr>
        <p:spPr>
          <a:xfrm xmlns:a="http://schemas.openxmlformats.org/drawingml/2006/main">
            <a:off x="828675" y="2105025"/>
            <a:ext cx="4486275"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00" b="0">
                <a:solidFill>
                  <a:srgbClr val="F6F8FC"/>
                </a:solidFill>
                <a:latin typeface="Consolas"/>
                <a:ea typeface="Consolas"/>
                <a:cs typeface="Consolas"/>
              </a:defRPr>
            </a:defPPr>
          </a:lstStyle>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BEGIN</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DECLARE x AS INTEGER</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SET y = 3</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SET x = 2.5</a:t>
            </a:r>
          </a:p>
          <a:p xmlns:a="http://schemas.openxmlformats.org/drawingml/2006/main">
            <a:pPr>
              <a:defRPr sz="1500" b="0">
                <a:solidFill>
                  <a:srgbClr val="F6F8FC"/>
                </a:solidFill>
                <a:latin typeface="Consolas"/>
                <a:ea typeface="Consolas"/>
                <a:cs typeface="Consolas"/>
              </a:defRPr>
            </a:pPr>
            <a:r>
              <a:rPr sz="1500" b="0">
                <a:solidFill>
                  <a:srgbClr val="F6F8FC"/>
                </a:solidFill>
                <a:latin typeface="Consolas"/>
                <a:ea typeface="Consolas"/>
                <a:cs typeface="Consolas"/>
              </a:rPr>
              <a:t>END</a:t>
            </a:r>
          </a:p>
        </p:txBody>
      </p:sp>
      <p:sp>
        <p:nvSpPr>
          <p:cNvPr id="11" name="">
            <a:extLst xmlns:a="http://schemas.openxmlformats.org/drawingml/2006/main">
              <a:ext uri="{FF2B5EF4-FFF2-40B4-BE49-F238E27FC236}">
                <a16:creationId xmlns:a16="http://schemas.microsoft.com/office/drawing/2014/main" id="{DE0071A3-2E04-4455-A173-F04C19A61A13}"/>
              </a:ext>
            </a:extLst>
          </p:cNvPr>
          <p:cNvSpPr>
            <a:spLocks xmlns:a="http://schemas.openxmlformats.org/drawingml/2006/main" noGrp="1"/>
          </p:cNvSpPr>
          <p:nvPr/>
        </p:nvSpPr>
        <p:spPr>
          <a:xfrm xmlns:a="http://schemas.openxmlformats.org/drawingml/2006/main">
            <a:off x="6000750" y="1476375"/>
            <a:ext cx="5467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20D5EA"/>
                </a:solidFill>
                <a:latin typeface="Arial"/>
                <a:ea typeface="Arial"/>
                <a:cs typeface="Arial"/>
              </a:defRPr>
            </a:defPPr>
          </a:lstStyle>
          <a:p xmlns:a="http://schemas.openxmlformats.org/drawingml/2006/main">
            <a:pPr>
              <a:defRPr sz="1350" b="1">
                <a:solidFill>
                  <a:srgbClr val="20D5EA"/>
                </a:solidFill>
                <a:latin typeface="Arial"/>
                <a:ea typeface="Arial"/>
                <a:cs typeface="Arial"/>
              </a:defRPr>
            </a:pPr>
            <a:r>
              <a:rPr sz="1350" b="1">
                <a:solidFill>
                  <a:srgbClr val="20D5EA"/>
                </a:solidFill>
                <a:latin typeface="Arial"/>
                <a:ea typeface="Arial"/>
                <a:cs typeface="Arial"/>
              </a:rPr>
              <a:t>COMPILER RESULT</a:t>
            </a:r>
          </a:p>
        </p:txBody>
      </p:sp>
      <p:sp>
        <p:nvSpPr>
          <p:cNvPr id="12" name="">
            <a:extLst xmlns:a="http://schemas.openxmlformats.org/drawingml/2006/main">
              <a:ext uri="{FF2B5EF4-FFF2-40B4-BE49-F238E27FC236}">
                <a16:creationId xmlns:a16="http://schemas.microsoft.com/office/drawing/2014/main" id="{46B83DD8-2568-4851-AAD8-65061F0FF219}"/>
              </a:ext>
            </a:extLst>
          </p:cNvPr>
          <p:cNvSpPr>
            <a:spLocks xmlns:a="http://schemas.openxmlformats.org/drawingml/2006/main" noGrp="1"/>
          </p:cNvSpPr>
          <p:nvPr/>
        </p:nvSpPr>
        <p:spPr>
          <a:xfrm xmlns:a="http://schemas.openxmlformats.org/drawingml/2006/main">
            <a:off x="6000750" y="1819275"/>
            <a:ext cx="5467350" cy="19050"/>
          </a:xfrm>
          <a:prstGeom xmlns:a="http://schemas.openxmlformats.org/drawingml/2006/main" prst="rect">
            <a:avLst/>
          </a:prstGeom>
          <a:solidFill xmlns:a="http://schemas.openxmlformats.org/drawingml/2006/main">
            <a:srgbClr val="20D5EA"/>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0079E5A5-11DD-4948-86FC-BD29911D04DD}"/>
              </a:ext>
            </a:extLst>
          </p:cNvPr>
          <p:cNvSpPr>
            <a:spLocks xmlns:a="http://schemas.openxmlformats.org/drawingml/2006/main" noGrp="1"/>
          </p:cNvSpPr>
          <p:nvPr/>
        </p:nvSpPr>
        <p:spPr>
          <a:xfrm xmlns:a="http://schemas.openxmlformats.org/drawingml/2006/main">
            <a:off x="5991225" y="1943100"/>
            <a:ext cx="5476875" cy="1866900"/>
          </a:xfrm>
          <a:prstGeom xmlns:a="http://schemas.openxmlformats.org/drawingml/2006/main" prst="roundRect">
            <a:avLst>
              <a:gd name="adj" fmla="val 5102"/>
            </a:avLst>
          </a:prstGeom>
          <a:solidFill xmlns:a="http://schemas.openxmlformats.org/drawingml/2006/main">
            <a:srgbClr val="101B2C"/>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1D759F30-981D-4951-B852-4D1312B3BB3A}"/>
              </a:ext>
            </a:extLst>
          </p:cNvPr>
          <p:cNvSpPr>
            <a:spLocks xmlns:a="http://schemas.openxmlformats.org/drawingml/2006/main" noGrp="1"/>
          </p:cNvSpPr>
          <p:nvPr/>
        </p:nvSpPr>
        <p:spPr>
          <a:xfrm xmlns:a="http://schemas.openxmlformats.org/drawingml/2006/main">
            <a:off x="6200775" y="2105025"/>
            <a:ext cx="5057775" cy="1543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0">
                <a:solidFill>
                  <a:srgbClr val="F6F8FC"/>
                </a:solidFill>
                <a:latin typeface="Consolas"/>
                <a:ea typeface="Consolas"/>
                <a:cs typeface="Consolas"/>
              </a:defRPr>
            </a:defPPr>
          </a:lstStyle>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Line 3: undeclared identifier y</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Line 4: cannot assign REAL to INTEGER</a:t>
            </a:r>
          </a:p>
          <a:p xmlns:a="http://schemas.openxmlformats.org/drawingml/2006/main">
            <a:r>
              <a:t/>
            </a:r>
          </a:p>
          <a:p xmlns:a="http://schemas.openxmlformats.org/drawingml/2006/main">
            <a:pPr>
              <a:defRPr sz="1350" b="0">
                <a:solidFill>
                  <a:srgbClr val="F6F8FC"/>
                </a:solidFill>
                <a:latin typeface="Consolas"/>
                <a:ea typeface="Consolas"/>
                <a:cs typeface="Consolas"/>
              </a:defRPr>
            </a:pPr>
            <a:r>
              <a:rPr sz="1350" b="0">
                <a:solidFill>
                  <a:srgbClr val="F6F8FC"/>
                </a:solidFill>
                <a:latin typeface="Consolas"/>
                <a:ea typeface="Consolas"/>
                <a:cs typeface="Consolas"/>
              </a:rPr>
              <a:t>No new C output is produced.</a:t>
            </a:r>
          </a:p>
        </p:txBody>
      </p:sp>
      <p:sp>
        <p:nvSpPr>
          <p:cNvPr id="15" name="">
            <a:extLst xmlns:a="http://schemas.openxmlformats.org/drawingml/2006/main">
              <a:ext uri="{FF2B5EF4-FFF2-40B4-BE49-F238E27FC236}">
                <a16:creationId xmlns:a16="http://schemas.microsoft.com/office/drawing/2014/main" id="{6526C70E-5310-4DC5-BC28-12CB243108E2}"/>
              </a:ext>
            </a:extLst>
          </p:cNvPr>
          <p:cNvSpPr>
            <a:spLocks xmlns:a="http://schemas.openxmlformats.org/drawingml/2006/main" noGrp="1"/>
          </p:cNvSpPr>
          <p:nvPr/>
        </p:nvSpPr>
        <p:spPr>
          <a:xfrm xmlns:a="http://schemas.openxmlformats.org/drawingml/2006/main">
            <a:off x="628650" y="4143375"/>
            <a:ext cx="10839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350" b="1">
                <a:solidFill>
                  <a:srgbClr val="33D69B"/>
                </a:solidFill>
                <a:latin typeface="Arial"/>
                <a:ea typeface="Arial"/>
                <a:cs typeface="Arial"/>
              </a:defRPr>
            </a:defPPr>
          </a:lstStyle>
          <a:p xmlns:a="http://schemas.openxmlformats.org/drawingml/2006/main">
            <a:pPr>
              <a:defRPr sz="1350" b="1">
                <a:solidFill>
                  <a:srgbClr val="33D69B"/>
                </a:solidFill>
                <a:latin typeface="Arial"/>
                <a:ea typeface="Arial"/>
                <a:cs typeface="Arial"/>
              </a:defRPr>
            </a:pPr>
            <a:r>
              <a:rPr sz="1350" b="1">
                <a:solidFill>
                  <a:srgbClr val="33D69B"/>
                </a:solidFill>
                <a:latin typeface="Arial"/>
                <a:ea typeface="Arial"/>
                <a:cs typeface="Arial"/>
              </a:rPr>
              <a:t>BOUNDARIES OF THE CURRENT LANGUAGE</a:t>
            </a:r>
          </a:p>
        </p:txBody>
      </p:sp>
      <p:sp>
        <p:nvSpPr>
          <p:cNvPr id="16" name="">
            <a:extLst xmlns:a="http://schemas.openxmlformats.org/drawingml/2006/main">
              <a:ext uri="{FF2B5EF4-FFF2-40B4-BE49-F238E27FC236}">
                <a16:creationId xmlns:a16="http://schemas.microsoft.com/office/drawing/2014/main" id="{FF13031F-B130-48A0-AEA4-94C7126909CB}"/>
              </a:ext>
            </a:extLst>
          </p:cNvPr>
          <p:cNvSpPr>
            <a:spLocks xmlns:a="http://schemas.openxmlformats.org/drawingml/2006/main" noGrp="1"/>
          </p:cNvSpPr>
          <p:nvPr/>
        </p:nvSpPr>
        <p:spPr>
          <a:xfrm xmlns:a="http://schemas.openxmlformats.org/drawingml/2006/main">
            <a:off x="628650" y="4486275"/>
            <a:ext cx="10839450" cy="19050"/>
          </a:xfrm>
          <a:prstGeom xmlns:a="http://schemas.openxmlformats.org/drawingml/2006/main" prst="rect">
            <a:avLst/>
          </a:prstGeom>
          <a:solidFill xmlns:a="http://schemas.openxmlformats.org/drawingml/2006/main">
            <a:srgbClr val="33D69B"/>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96DDD5E-2E4F-42F0-960E-5CC07D809D21}"/>
              </a:ext>
            </a:extLst>
          </p:cNvPr>
          <p:cNvSpPr>
            <a:spLocks xmlns:a="http://schemas.openxmlformats.org/drawingml/2006/main" noGrp="1"/>
          </p:cNvSpPr>
          <p:nvPr/>
        </p:nvSpPr>
        <p:spPr>
          <a:xfrm xmlns:a="http://schemas.openxmlformats.org/drawingml/2006/main">
            <a:off x="638175" y="4695825"/>
            <a:ext cx="108394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650" b="0">
                <a:solidFill>
                  <a:srgbClr val="F6F8FC"/>
                </a:solidFill>
                <a:latin typeface="Arial"/>
                <a:ea typeface="Arial"/>
                <a:cs typeface="Arial"/>
              </a:defRPr>
            </a:defPPr>
          </a:lstStyle>
          <a:p xmlns:a="http://schemas.openxmlformats.org/drawingml/2006/main">
            <a:pPr>
              <a:defRPr sz="1650" b="0">
                <a:solidFill>
                  <a:srgbClr val="F6F8FC"/>
                </a:solidFill>
                <a:latin typeface="Arial"/>
                <a:ea typeface="Arial"/>
                <a:cs typeface="Arial"/>
              </a:defRPr>
            </a:pPr>
            <a:r>
              <a:rPr sz="1650" b="0">
                <a:solidFill>
                  <a:srgbClr val="F6F8FC"/>
                </a:solidFill>
                <a:latin typeface="Arial"/>
                <a:ea typeface="Arial"/>
                <a:cs typeface="Arial"/>
              </a:rPr>
              <a:t>No free-form English, functions, multidimensional arrays or logical AND / OR.</a:t>
            </a:r>
          </a:p>
        </p:txBody>
      </p:sp>
      <p:sp>
        <p:nvSpPr>
          <p:cNvPr id="18" name="">
            <a:extLst xmlns:a="http://schemas.openxmlformats.org/drawingml/2006/main">
              <a:ext uri="{FF2B5EF4-FFF2-40B4-BE49-F238E27FC236}">
                <a16:creationId xmlns:a16="http://schemas.microsoft.com/office/drawing/2014/main" id="{8FC02867-84C6-4A04-9D84-029B446E5810}"/>
              </a:ext>
            </a:extLst>
          </p:cNvPr>
          <p:cNvSpPr>
            <a:spLocks xmlns:a="http://schemas.openxmlformats.org/drawingml/2006/main" noGrp="1"/>
          </p:cNvSpPr>
          <p:nvPr/>
        </p:nvSpPr>
        <p:spPr>
          <a:xfrm xmlns:a="http://schemas.openxmlformats.org/drawingml/2006/main">
            <a:off x="638175" y="5257800"/>
            <a:ext cx="108394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lstStyle xmlns:a="http://schemas.openxmlformats.org/drawingml/2006/main">
            <a:defPPr>
              <a:defRPr sz="1575" b="0">
                <a:solidFill>
                  <a:srgbClr val="AEBBD0"/>
                </a:solidFill>
                <a:latin typeface="Arial"/>
                <a:ea typeface="Arial"/>
                <a:cs typeface="Arial"/>
              </a:defRPr>
            </a:defPPr>
          </a:lstStyle>
          <a:p xmlns:a="http://schemas.openxmlformats.org/drawingml/2006/main">
            <a:pPr>
              <a:defRPr sz="1575" b="0">
                <a:solidFill>
                  <a:srgbClr val="AEBBD0"/>
                </a:solidFill>
                <a:latin typeface="Arial"/>
                <a:ea typeface="Arial"/>
                <a:cs typeface="Arial"/>
              </a:defRPr>
            </a:pPr>
            <a:r>
              <a:rPr sz="1575" b="0">
                <a:solidFill>
                  <a:srgbClr val="AEBBD0"/>
                </a:solidFill>
                <a:latin typeface="Arial"/>
                <a:ea typeface="Arial"/>
                <a:cs typeface="Arial"/>
              </a:rPr>
              <a:t>STRING holds at most 255 ASCII characters. General overflow and uninitialized use are not checked.</a:t>
            </a:r>
          </a:p>
        </p:txBody>
      </p:sp>
    </p:spTree>
    <p:extLst>
      <p:ext uri="{BB962C8B-B14F-4D97-AF65-F5344CB8AC3E}">
        <p14:creationId xmlns:p14="http://schemas.microsoft.com/office/powerpoint/2010/main" val="27965206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rial"/>
        <a:ea typeface=""/>
        <a:cs typeface=""/>
      </a:majorFont>
      <a:minorFont>
        <a:latin typeface="Arial"/>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2026-10-08T07:57:20.4560000Z</dcterms:created>
  <dcterms:modified xsi:type="dcterms:W3CDTF">2026-10-08T07:57:20.4570000Z</dcterms:modified>
</coreProperties>
</file>