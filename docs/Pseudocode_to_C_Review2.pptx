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2fe7e7d9234ba5" /><Relationship Type="http://schemas.openxmlformats.org/officeDocument/2006/relationships/extended-properties" Target="/docProps/app.xml" Id="R66390c460930434c" /><Relationship Type="http://schemas.openxmlformats.org/officeDocument/2006/relationships/officeDocument" Target="/ppt/presentation.xml" Id="Rddaa9b92ad2347df" /></Relationships>
</file>

<file path=ppt/presentation.xml><?xml version="1.0" encoding="utf-8"?>
<p:presentation xmlns:p="http://schemas.openxmlformats.org/presentationml/2006/main">
  <p:sldMasterIdLst>
    <p:sldMasterId xmlns:r="http://schemas.openxmlformats.org/officeDocument/2006/relationships" id="2147483648" r:id="R31458d326e944fb0"/>
  </p:sldMasterIdLst>
  <p:notesMasterIdLst>
    <p:notesMasterId xmlns:r="http://schemas.openxmlformats.org/officeDocument/2006/relationships" r:id="R4984694fe18747f9"/>
  </p:notesMasterIdLst>
  <p:sldIdLst>
    <p:sldId xmlns:r="http://schemas.openxmlformats.org/officeDocument/2006/relationships" id="256" r:id="R1ba7e09ef9454fbd"/>
    <p:sldId xmlns:r="http://schemas.openxmlformats.org/officeDocument/2006/relationships" id="257" r:id="R64b1ad7fa30545c2"/>
    <p:sldId xmlns:r="http://schemas.openxmlformats.org/officeDocument/2006/relationships" id="258" r:id="R9719ac024b104514"/>
    <p:sldId xmlns:r="http://schemas.openxmlformats.org/officeDocument/2006/relationships" id="259" r:id="Re5a30a735d4b4574"/>
    <p:sldId xmlns:r="http://schemas.openxmlformats.org/officeDocument/2006/relationships" id="260" r:id="Rb03474306c1244c9"/>
    <p:sldId xmlns:r="http://schemas.openxmlformats.org/officeDocument/2006/relationships" id="261" r:id="R586d4edded9f4a0f"/>
    <p:sldId xmlns:r="http://schemas.openxmlformats.org/officeDocument/2006/relationships" id="262" r:id="R2ee0301605a24437"/>
    <p:sldId xmlns:r="http://schemas.openxmlformats.org/officeDocument/2006/relationships" id="263" r:id="R45e022577206407b"/>
    <p:sldId xmlns:r="http://schemas.openxmlformats.org/officeDocument/2006/relationships" id="264" r:id="R1e85fedab0ed4f95"/>
    <p:sldId xmlns:r="http://schemas.openxmlformats.org/officeDocument/2006/relationships" id="265" r:id="Rb9b32ab4f6db4f2e"/>
    <p:sldId xmlns:r="http://schemas.openxmlformats.org/officeDocument/2006/relationships" id="266" r:id="Rfda648ebf6714102"/>
    <p:sldId xmlns:r="http://schemas.openxmlformats.org/officeDocument/2006/relationships" id="267" r:id="R14b88e9315724ca8"/>
    <p:sldId xmlns:r="http://schemas.openxmlformats.org/officeDocument/2006/relationships" id="268" r:id="Rb44add48abf541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ab6b7320854faf" /><Relationship Type="http://schemas.openxmlformats.org/officeDocument/2006/relationships/slideMaster" Target="/ppt/slideMasters/slideMaster1.xml" Id="R31458d326e944fb0" /><Relationship Type="http://schemas.openxmlformats.org/officeDocument/2006/relationships/notesMaster" Target="/ppt/notesMasters/notesMaster1.xml" Id="R4984694fe18747f9" /><Relationship Type="http://schemas.openxmlformats.org/officeDocument/2006/relationships/presProps" Target="/ppt/presProps.xml" Id="R2a09c73aafcf4980" /><Relationship Type="http://schemas.openxmlformats.org/officeDocument/2006/relationships/tableStyles" Target="/ppt/tableStyles.xml" Id="Rd53255d67ba940cd" /><Relationship Type="http://schemas.openxmlformats.org/officeDocument/2006/relationships/slide" Target="/ppt/slides/slide1.xml" Id="R1ba7e09ef9454fbd" /><Relationship Type="http://schemas.openxmlformats.org/officeDocument/2006/relationships/slide" Target="/ppt/slides/slide2.xml" Id="R64b1ad7fa30545c2" /><Relationship Type="http://schemas.openxmlformats.org/officeDocument/2006/relationships/slide" Target="/ppt/slides/slide3.xml" Id="R9719ac024b104514" /><Relationship Type="http://schemas.openxmlformats.org/officeDocument/2006/relationships/slide" Target="/ppt/slides/slide4.xml" Id="Re5a30a735d4b4574" /><Relationship Type="http://schemas.openxmlformats.org/officeDocument/2006/relationships/slide" Target="/ppt/slides/slide5.xml" Id="Rb03474306c1244c9" /><Relationship Type="http://schemas.openxmlformats.org/officeDocument/2006/relationships/slide" Target="/ppt/slides/slide6.xml" Id="R586d4edded9f4a0f" /><Relationship Type="http://schemas.openxmlformats.org/officeDocument/2006/relationships/slide" Target="/ppt/slides/slide7.xml" Id="R2ee0301605a24437" /><Relationship Type="http://schemas.openxmlformats.org/officeDocument/2006/relationships/slide" Target="/ppt/slides/slide8.xml" Id="R45e022577206407b" /><Relationship Type="http://schemas.openxmlformats.org/officeDocument/2006/relationships/slide" Target="/ppt/slides/slide9.xml" Id="R1e85fedab0ed4f95" /><Relationship Type="http://schemas.openxmlformats.org/officeDocument/2006/relationships/slide" Target="/ppt/slides/slide10.xml" Id="Rb9b32ab4f6db4f2e" /><Relationship Type="http://schemas.openxmlformats.org/officeDocument/2006/relationships/slide" Target="/ppt/slides/slide11.xml" Id="Rfda648ebf6714102" /><Relationship Type="http://schemas.openxmlformats.org/officeDocument/2006/relationships/slide" Target="/ppt/slides/slide12.xml" Id="R14b88e9315724ca8" /><Relationship Type="http://schemas.openxmlformats.org/officeDocument/2006/relationships/slide" Target="/ppt/slides/slide13.xml" Id="Rb44add48abf541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c27f9a6a1c41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fef9be473944ad" /><Relationship Type="http://schemas.openxmlformats.org/officeDocument/2006/relationships/notesMaster" Target="/ppt/notesMasters/notesMaster1.xml" Id="Rdcb5e66995c047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7a2966132d46a6" /><Relationship Type="http://schemas.openxmlformats.org/officeDocument/2006/relationships/notesMaster" Target="/ppt/notesMasters/notesMaster1.xml" Id="Rd2fc4e5b945243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2be4bd4e6645f5" /><Relationship Type="http://schemas.openxmlformats.org/officeDocument/2006/relationships/notesMaster" Target="/ppt/notesMasters/notesMaster1.xml" Id="R02e8c548052b4d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3589fc84314029" /><Relationship Type="http://schemas.openxmlformats.org/officeDocument/2006/relationships/notesMaster" Target="/ppt/notesMasters/notesMaster1.xml" Id="Rd85b223d060a42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f581b374ee4768" /><Relationship Type="http://schemas.openxmlformats.org/officeDocument/2006/relationships/notesMaster" Target="/ppt/notesMasters/notesMaster1.xml" Id="R8368a4279e8248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79e05925674d28" /><Relationship Type="http://schemas.openxmlformats.org/officeDocument/2006/relationships/notesMaster" Target="/ppt/notesMasters/notesMaster1.xml" Id="Rcce705347a2b4d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d23f0181c2466c" /><Relationship Type="http://schemas.openxmlformats.org/officeDocument/2006/relationships/notesMaster" Target="/ppt/notesMasters/notesMaster1.xml" Id="R8ffa4b6d489343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b7ae96bd324719" /><Relationship Type="http://schemas.openxmlformats.org/officeDocument/2006/relationships/notesMaster" Target="/ppt/notesMasters/notesMaster1.xml" Id="Rbfc46fd4f5da4a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d08fa0c3ff43c1" /><Relationship Type="http://schemas.openxmlformats.org/officeDocument/2006/relationships/notesMaster" Target="/ppt/notesMasters/notesMaster1.xml" Id="R4cc5e7fab5b347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3e053236264351" /><Relationship Type="http://schemas.openxmlformats.org/officeDocument/2006/relationships/notesMaster" Target="/ppt/notesMasters/notesMaster1.xml" Id="R8d91ab57e42a46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1ddf749f0b496a" /><Relationship Type="http://schemas.openxmlformats.org/officeDocument/2006/relationships/notesMaster" Target="/ppt/notesMasters/notesMaster1.xml" Id="Ref3539b5a94f41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abee4288bc42fc" /><Relationship Type="http://schemas.openxmlformats.org/officeDocument/2006/relationships/notesMaster" Target="/ppt/notesMasters/notesMaster1.xml" Id="R0f203261114a49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be8276e8804512" /><Relationship Type="http://schemas.openxmlformats.org/officeDocument/2006/relationships/notesMaster" Target="/ppt/notesMasters/notesMaster1.xml" Id="R5fe148a1970047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restricted pseudocode-to-C compiler. Explain that it reads a defined teaching language, checks it, builds an intermediate representation, and emits readable C. Review 2 shows the connected implementation and its current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problem simply: the project helps turn small, structured algorithms into C while exposing how a compiler works. The source uses a defined grammar. The output is a C program, not an interpretation of arbitrary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the baseline. The Phase 1 report highlighted simple declarations, assignments, arithmetic and PRINT. The supplied Review 1 code already contained IF/ELSE, WHILE, FOR, READ and one-dimensional arrays, so do not claim those were invented for Review 2. The new extensions are strings, bitwise operators, loop control, contracts, automatic guards, diagnostic suggestions and optimizer comparison. Source: docs/phase1-alignment.md.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flow in order. main.py obtains the source. lexer.py creates tokens. parser.py creates the AST. semantic.py checks declared identifiers, types and scopes and builds the symbol table. ir.py lowers the AST. optimizer.py performs conservative transformations. cgen.py produces C. GCC is an optional final validation/execution step and is not a compiler module. The CLI prints source, tokens, AST, symbols, IR, optimized IR and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slide briefly before the examples. The parser supports these constructs in a defined grammar. FOR endpoints are inclusive, STEP is a signed integer literal, and the iterator must be declared. One-dimensional fixed-size arrays are supported. REQUIRE and ENSURE are optional explicit conditions, not inferred conditions. A STRING uses a fixed 255-character ASCII limit.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end-to-end explanation. The lexer identifies keywords, x, literals and plus. The parser builds an assignment node with a binary addition. Semantic analysis finds x declared as INTEGER. The original IR uses a temporary t1. The optimizer safely folds 2 + 3 to 5. The generator emits x = 5 and printf. Running the generated C prints 5. The temporary appears in IR because IR exposes evaluation steps; it need not remain in final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complete path: the parser makes a FOR node containing an IF and assignment. The IR keeps the FOR and CONTINUE structure. The C backend emits a normal for loop and continue, with no goto. The run prints 8 because iteration 2 is skipped. This is the verified example in review2-build/ex-control.pseudo.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symbol table records name as STRING and bits as INTEGER. The IR retains a bitwise expression. C uses a fixed character buffer, strcpy and integer bitwise AND. The actual generated scanf line is wrapped in an input-failure check; the slide shows only the relevant statements. With input 5, the program prints Mira and 1 on separate lines. This is the verified example in review2-build/ex-string-bits.pseudo.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errors are found before C generation. The lexer and parser handle malformed input, while semantic analysis checks declarations, types and scope. For value-dependent operations the backend inserts selected runtime checks into the generated C. An explicit REQUIRE or ENSURE checks a stated condition; the automatic division, array and shift guards do not need one. The next two slides trace complete programs and actual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examples/automatic_division.pseudo. The IR shows an ordinary division. The C generator recognizes the variable divisor and inserts a zero check before the division. The slide uses equivalent adjacent C string literals to fit the diagnostic; the actual generator emits it on one source line. With input 20 0, the generated program reports “Division or remainder by zero at pseudocode line 6” and exits with status 1. This is the project’s implemented rule-based improvement. It does not infer arbitrary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examples/automatic_array_bounds.pseudo. The array has valid positions 0, 1 and 2. The IR inserts BOUNDS_CHECK before write and read. The C generator emits an index check before touching the array. The slide uses equivalent adjacent C string literals to fit the diagnostic; actual output is “Array index out of bounds at pseudocode line 7”. Input 3 42 fails on the write and exits with status 1. Input 2 42 succeeds and prints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about novelty, describe the contribution accurately: for this restricted translator, the C backend identifies particular operations and inserts small guards without requiring the pseudocode author to write them. The division and array slides are working examples; shift-count checking is also implemented. This is rule-based, not a new general program-analysis algorithm. The project additionally has a seeded optimizer comparison that runs optimized and unoptimized generated C and compares output, errors and exit status; it is validation evidence, not a correctness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is examples/invalid.pseudo. Semantic analysis reports both an undeclared y on line 3 and a REAL-to-INTEGER assignment on line 4, then stops before C generation. Syntax and lexical errors are also rejected at their stages. The language has a defined grammar, not free-form English. It lacks user-defined functions, multidimensional arrays and Boolean AND/OR. STRING is limited to 255 ASCII characters. General arithmetic overflow and uninitialized variable use remain unchecked.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a1756a429f4a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9705d78fa747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a6fcffd78740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2e8d3e71d440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b8493e5afc49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9396aca75848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7AC5AB-04BA-47F3-ACCA-EBFE27B9D2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C854E82-83A0-4D4F-B772-8D94ECF9E20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641D58C-EEC1-4609-8C1B-2A09B8F54F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E16702-712F-4BB9-9096-D0AF79D44A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DE356-3BF1-434B-87F5-BB6C877247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0D0DB4-AE87-4A24-96C7-8532437B37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76610C-8563-494C-B39D-0DB8142776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3AB13E5-F699-40C0-8AA3-90CAC7384A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41BBA8-D351-4993-A8EB-B2AD2209E4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EA41CA7-48DF-4753-B72D-B764E9F6AF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afe3ea13da45ec" /><Relationship Type="http://schemas.openxmlformats.org/officeDocument/2006/relationships/slideLayout" Target="/ppt/slideLayouts/slideLayout1.xml" Id="R4f46230b8bbf4c62" /><Relationship Type="http://schemas.openxmlformats.org/officeDocument/2006/relationships/slideLayout" Target="/ppt/slideLayouts/slideLayout2.xml" Id="R2128a91b68964916" /><Relationship Type="http://schemas.openxmlformats.org/officeDocument/2006/relationships/slideLayout" Target="/ppt/slideLayouts/slideLayout3.xml" Id="R84b66b85147b4006" /><Relationship Type="http://schemas.openxmlformats.org/officeDocument/2006/relationships/slideLayout" Target="/ppt/slideLayouts/slideLayout4.xml" Id="Rb6313216c8fe4173" /><Relationship Type="http://schemas.openxmlformats.org/officeDocument/2006/relationships/slideLayout" Target="/ppt/slideLayouts/slideLayout5.xml" Id="Re83e74dd647d45c0" /><Relationship Type="http://schemas.openxmlformats.org/officeDocument/2006/relationships/slideLayout" Target="/ppt/slideLayouts/slideLayout6.xml" Id="R615aa881cf5340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46230b8bbf4c62"/>
    <p:sldLayoutId xmlns:r="http://schemas.openxmlformats.org/officeDocument/2006/relationships" id="2147483650" r:id="R2128a91b68964916"/>
    <p:sldLayoutId xmlns:r="http://schemas.openxmlformats.org/officeDocument/2006/relationships" id="2147483651" r:id="R84b66b85147b4006"/>
    <p:sldLayoutId xmlns:r="http://schemas.openxmlformats.org/officeDocument/2006/relationships" id="2147483652" r:id="Rb6313216c8fe4173"/>
    <p:sldLayoutId xmlns:r="http://schemas.openxmlformats.org/officeDocument/2006/relationships" id="2147483653" r:id="Re83e74dd647d45c0"/>
    <p:sldLayoutId xmlns:r="http://schemas.openxmlformats.org/officeDocument/2006/relationships" id="2147483654" r:id="R615aa881cf5340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e4a1a9ab084a11" /><Relationship Type="http://schemas.openxmlformats.org/officeDocument/2006/relationships/notesSlide" Target="/ppt/notesSlides/notesSlide1.xml" Id="Rd2ce6ad1573949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1f772def0dd40a1" /><Relationship Type="http://schemas.openxmlformats.org/officeDocument/2006/relationships/notesSlide" Target="/ppt/notesSlides/notesSlide2.xml" Id="Rb61eae0f3a244b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558549525042de" /><Relationship Type="http://schemas.openxmlformats.org/officeDocument/2006/relationships/notesSlide" Target="/ppt/notesSlides/notesSlide3.xml" Id="Rf7460577c39d43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8c17277e22c4611" /><Relationship Type="http://schemas.openxmlformats.org/officeDocument/2006/relationships/notesSlide" Target="/ppt/notesSlides/notesSlide4.xml" Id="R07bd7c265b2e46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dab60998b54bc6" /><Relationship Type="http://schemas.openxmlformats.org/officeDocument/2006/relationships/notesSlide" Target="/ppt/notesSlides/notesSlide5.xml" Id="Rcb11388e4f664f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86623f8c2a465b" /><Relationship Type="http://schemas.openxmlformats.org/officeDocument/2006/relationships/notesSlide" Target="/ppt/notesSlides/notesSlide6.xml" Id="Rcb78aac054a248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af1f70edfdb46f1" /><Relationship Type="http://schemas.openxmlformats.org/officeDocument/2006/relationships/notesSlide" Target="/ppt/notesSlides/notesSlide7.xml" Id="R333ad19d782948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f60eb625852494e" /><Relationship Type="http://schemas.openxmlformats.org/officeDocument/2006/relationships/notesSlide" Target="/ppt/notesSlides/notesSlide8.xml" Id="R0bcfe246b94743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2946d3a6cef4869" /><Relationship Type="http://schemas.openxmlformats.org/officeDocument/2006/relationships/notesSlide" Target="/ppt/notesSlides/notesSlide9.xml" Id="R6a5a39ae17764e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e97ed9f029b4d8a" /><Relationship Type="http://schemas.openxmlformats.org/officeDocument/2006/relationships/notesSlide" Target="/ppt/notesSlides/notesSlide10.xml" Id="R54b9ed18e25443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3606e88042b47d0" /><Relationship Type="http://schemas.openxmlformats.org/officeDocument/2006/relationships/notesSlide" Target="/ppt/notesSlides/notesSlide11.xml" Id="R182cf423ad1b4e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0b0bc4976434001" /><Relationship Type="http://schemas.openxmlformats.org/officeDocument/2006/relationships/notesSlide" Target="/ppt/notesSlides/notesSlide12.xml" Id="R2d748be8da874d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961d73ab7364570" /><Relationship Type="http://schemas.openxmlformats.org/officeDocument/2006/relationships/notesSlide" Target="/ppt/notesSlides/notesSlide13.xml" Id="Ra6095a12d67b41e9" /></Relationships>
</file>

<file path=ppt/slides/slide1.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E0CF01-E8AC-48AE-B701-7BCCEA3323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6CFDAB-DDD9-42E2-9B5F-2EFE5DA47E55}"/>
              </a:ext>
            </a:extLst>
          </p:cNvPr>
          <p:cNvSpPr>
            <a:spLocks xmlns:a="http://schemas.openxmlformats.org/drawingml/2006/main" noGrp="1"/>
          </p:cNvSpPr>
          <p:nvPr/>
        </p:nvSpPr>
        <p:spPr>
          <a:xfrm xmlns:a="http://schemas.openxmlformats.org/drawingml/2006/main">
            <a:off x="619125" y="504825"/>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0D5EA"/>
                </a:solidFill>
                <a:latin typeface="Arial"/>
                <a:ea typeface="Arial"/>
                <a:cs typeface="Arial"/>
              </a:defRPr>
            </a:defPPr>
          </a:lstStyle>
          <a:p xmlns:a="http://schemas.openxmlformats.org/drawingml/2006/main">
            <a:pPr>
              <a:defRPr sz="1425" b="1">
                <a:solidFill>
                  <a:srgbClr val="20D5EA"/>
                </a:solidFill>
                <a:latin typeface="Arial"/>
                <a:ea typeface="Arial"/>
                <a:cs typeface="Arial"/>
              </a:defRPr>
            </a:pPr>
            <a:r>
              <a:rPr sz="1425" b="1">
                <a:solidFill>
                  <a:srgbClr val="20D5EA"/>
                </a:solidFill>
                <a:latin typeface="Arial"/>
                <a:ea typeface="Arial"/>
                <a:cs typeface="Arial"/>
              </a:rPr>
              <a:t>COMPILER DESIGN LABORATORY</a:t>
            </a:r>
          </a:p>
        </p:txBody>
      </p:sp>
      <p:sp>
        <p:nvSpPr>
          <p:cNvPr id="3" name="">
            <a:extLst xmlns:a="http://schemas.openxmlformats.org/drawingml/2006/main">
              <a:ext uri="{FF2B5EF4-FFF2-40B4-BE49-F238E27FC236}">
                <a16:creationId xmlns:a16="http://schemas.microsoft.com/office/drawing/2014/main" id="{AB1DAB0D-600F-4951-9173-1A093F85B5BF}"/>
              </a:ext>
            </a:extLst>
          </p:cNvPr>
          <p:cNvSpPr>
            <a:spLocks xmlns:a="http://schemas.openxmlformats.org/drawingml/2006/main" noGrp="1"/>
          </p:cNvSpPr>
          <p:nvPr/>
        </p:nvSpPr>
        <p:spPr>
          <a:xfrm xmlns:a="http://schemas.openxmlformats.org/drawingml/2006/main">
            <a:off x="619125" y="1476375"/>
            <a:ext cx="10287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050" b="1">
                <a:solidFill>
                  <a:srgbClr val="F6F8FC"/>
                </a:solidFill>
                <a:latin typeface="Arial"/>
                <a:ea typeface="Arial"/>
                <a:cs typeface="Arial"/>
              </a:defRPr>
            </a:defPPr>
          </a:lstStyle>
          <a:p xmlns:a="http://schemas.openxmlformats.org/drawingml/2006/main">
            <a:pPr>
              <a:defRPr sz="4050" b="1">
                <a:solidFill>
                  <a:srgbClr val="F6F8FC"/>
                </a:solidFill>
                <a:latin typeface="Arial"/>
                <a:ea typeface="Arial"/>
                <a:cs typeface="Arial"/>
              </a:defRPr>
            </a:pPr>
            <a:r>
              <a:rPr sz="4050" b="1">
                <a:solidFill>
                  <a:srgbClr val="F6F8FC"/>
                </a:solidFill>
                <a:latin typeface="Arial"/>
                <a:ea typeface="Arial"/>
                <a:cs typeface="Arial"/>
              </a:rPr>
              <a:t>Pseudocode-to-C</a:t>
            </a:r>
          </a:p>
          <a:p xmlns:a="http://schemas.openxmlformats.org/drawingml/2006/main">
            <a:pPr>
              <a:defRPr sz="4050" b="1">
                <a:solidFill>
                  <a:srgbClr val="F6F8FC"/>
                </a:solidFill>
                <a:latin typeface="Arial"/>
                <a:ea typeface="Arial"/>
                <a:cs typeface="Arial"/>
              </a:defRPr>
            </a:pPr>
            <a:r>
              <a:rPr sz="4050" b="1">
                <a:solidFill>
                  <a:srgbClr val="F6F8FC"/>
                </a:solidFill>
                <a:latin typeface="Arial"/>
                <a:ea typeface="Arial"/>
                <a:cs typeface="Arial"/>
              </a:rPr>
              <a:t>Code Translator</a:t>
            </a:r>
          </a:p>
        </p:txBody>
      </p:sp>
      <p:sp>
        <p:nvSpPr>
          <p:cNvPr id="4" name="">
            <a:extLst xmlns:a="http://schemas.openxmlformats.org/drawingml/2006/main">
              <a:ext uri="{FF2B5EF4-FFF2-40B4-BE49-F238E27FC236}">
                <a16:creationId xmlns:a16="http://schemas.microsoft.com/office/drawing/2014/main" id="{AD4D9D07-D4FC-4F7D-8076-6BF6EB5286CB}"/>
              </a:ext>
            </a:extLst>
          </p:cNvPr>
          <p:cNvSpPr>
            <a:spLocks xmlns:a="http://schemas.openxmlformats.org/drawingml/2006/main" noGrp="1"/>
          </p:cNvSpPr>
          <p:nvPr/>
        </p:nvSpPr>
        <p:spPr>
          <a:xfrm xmlns:a="http://schemas.openxmlformats.org/drawingml/2006/main">
            <a:off x="619125" y="3114675"/>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4C82FF"/>
                </a:solidFill>
                <a:latin typeface="Arial"/>
                <a:ea typeface="Arial"/>
                <a:cs typeface="Arial"/>
              </a:defRPr>
            </a:defPPr>
          </a:lstStyle>
          <a:p xmlns:a="http://schemas.openxmlformats.org/drawingml/2006/main">
            <a:pPr>
              <a:defRPr sz="2100" b="1">
                <a:solidFill>
                  <a:srgbClr val="4C82FF"/>
                </a:solidFill>
                <a:latin typeface="Arial"/>
                <a:ea typeface="Arial"/>
                <a:cs typeface="Arial"/>
              </a:defRPr>
            </a:pPr>
            <a:r>
              <a:rPr sz="2100" b="1">
                <a:solidFill>
                  <a:srgbClr val="4C82FF"/>
                </a:solidFill>
                <a:latin typeface="Arial"/>
                <a:ea typeface="Arial"/>
                <a:cs typeface="Arial"/>
              </a:rPr>
              <a:t>Review 2   Core implementation progress</a:t>
            </a:r>
          </a:p>
        </p:txBody>
      </p:sp>
      <p:sp>
        <p:nvSpPr>
          <p:cNvPr id="5" name="">
            <a:extLst xmlns:a="http://schemas.openxmlformats.org/drawingml/2006/main">
              <a:ext uri="{FF2B5EF4-FFF2-40B4-BE49-F238E27FC236}">
                <a16:creationId xmlns:a16="http://schemas.microsoft.com/office/drawing/2014/main" id="{F6CB393E-E2C1-4ABF-B20D-95F5CA803B50}"/>
              </a:ext>
            </a:extLst>
          </p:cNvPr>
          <p:cNvSpPr>
            <a:spLocks xmlns:a="http://schemas.openxmlformats.org/drawingml/2006/main" noGrp="1"/>
          </p:cNvSpPr>
          <p:nvPr/>
        </p:nvSpPr>
        <p:spPr>
          <a:xfrm xmlns:a="http://schemas.openxmlformats.org/drawingml/2006/main">
            <a:off x="619125" y="3905250"/>
            <a:ext cx="104775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9A9621E-E0CD-43E5-81D0-4C85E92B157E}"/>
              </a:ext>
            </a:extLst>
          </p:cNvPr>
          <p:cNvSpPr>
            <a:spLocks xmlns:a="http://schemas.openxmlformats.org/drawingml/2006/main" noGrp="1"/>
          </p:cNvSpPr>
          <p:nvPr/>
        </p:nvSpPr>
        <p:spPr>
          <a:xfrm xmlns:a="http://schemas.openxmlformats.org/drawingml/2006/main">
            <a:off x="619125" y="4210050"/>
            <a:ext cx="752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F6F8FC"/>
                </a:solidFill>
                <a:latin typeface="Arial"/>
                <a:ea typeface="Arial"/>
                <a:cs typeface="Arial"/>
              </a:defRPr>
            </a:defPPr>
          </a:lstStyle>
          <a:p xmlns:a="http://schemas.openxmlformats.org/drawingml/2006/main">
            <a:pPr>
              <a:defRPr sz="2025" b="1">
                <a:solidFill>
                  <a:srgbClr val="F6F8FC"/>
                </a:solidFill>
                <a:latin typeface="Arial"/>
                <a:ea typeface="Arial"/>
                <a:cs typeface="Arial"/>
              </a:defRPr>
            </a:pPr>
            <a:r>
              <a:rPr sz="2025" b="1">
                <a:solidFill>
                  <a:srgbClr val="F6F8FC"/>
                </a:solidFill>
                <a:latin typeface="Arial"/>
                <a:ea typeface="Arial"/>
                <a:cs typeface="Arial"/>
              </a:rPr>
              <a:t>Sashwath J   |   24BAI0059</a:t>
            </a:r>
          </a:p>
        </p:txBody>
      </p:sp>
      <p:sp>
        <p:nvSpPr>
          <p:cNvPr id="7" name="">
            <a:extLst xmlns:a="http://schemas.openxmlformats.org/drawingml/2006/main">
              <a:ext uri="{FF2B5EF4-FFF2-40B4-BE49-F238E27FC236}">
                <a16:creationId xmlns:a16="http://schemas.microsoft.com/office/drawing/2014/main" id="{E10A115D-0246-4AB2-9958-0C7A63B980F1}"/>
              </a:ext>
            </a:extLst>
          </p:cNvPr>
          <p:cNvSpPr>
            <a:spLocks xmlns:a="http://schemas.openxmlformats.org/drawingml/2006/main" noGrp="1"/>
          </p:cNvSpPr>
          <p:nvPr/>
        </p:nvSpPr>
        <p:spPr>
          <a:xfrm xmlns:a="http://schemas.openxmlformats.org/drawingml/2006/main">
            <a:off x="619125" y="46863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AEBBD0"/>
                </a:solidFill>
                <a:latin typeface="Arial"/>
                <a:ea typeface="Arial"/>
                <a:cs typeface="Arial"/>
              </a:defRPr>
            </a:defPPr>
          </a:lstStyle>
          <a:p xmlns:a="http://schemas.openxmlformats.org/drawingml/2006/main">
            <a:pPr>
              <a:defRPr sz="1575" b="0">
                <a:solidFill>
                  <a:srgbClr val="AEBBD0"/>
                </a:solidFill>
                <a:latin typeface="Arial"/>
                <a:ea typeface="Arial"/>
                <a:cs typeface="Arial"/>
              </a:defRPr>
            </a:pPr>
            <a:r>
              <a:rPr sz="1575" b="0">
                <a:solidFill>
                  <a:srgbClr val="AEBBD0"/>
                </a:solidFill>
                <a:latin typeface="Arial"/>
                <a:ea typeface="Arial"/>
                <a:cs typeface="Arial"/>
              </a:rPr>
              <a:t>BCSE307P   Compiler Design Laboratory   |   2026–27</a:t>
            </a:r>
          </a:p>
        </p:txBody>
      </p:sp>
      <p:sp>
        <p:nvSpPr>
          <p:cNvPr id="8" name="">
            <a:extLst xmlns:a="http://schemas.openxmlformats.org/drawingml/2006/main">
              <a:ext uri="{FF2B5EF4-FFF2-40B4-BE49-F238E27FC236}">
                <a16:creationId xmlns:a16="http://schemas.microsoft.com/office/drawing/2014/main" id="{B2E70075-7E15-4EEF-B6FA-1879509A06B0}"/>
              </a:ext>
            </a:extLst>
          </p:cNvPr>
          <p:cNvSpPr>
            <a:spLocks xmlns:a="http://schemas.openxmlformats.org/drawingml/2006/main" noGrp="1"/>
          </p:cNvSpPr>
          <p:nvPr/>
        </p:nvSpPr>
        <p:spPr>
          <a:xfrm xmlns:a="http://schemas.openxmlformats.org/drawingml/2006/main">
            <a:off x="619125" y="584835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Working translator, compiler stages, test evidence and current limits</a:t>
            </a:r>
          </a:p>
        </p:txBody>
      </p:sp>
    </p:spTree>
    <p:extLst>
      <p:ext uri="{BB962C8B-B14F-4D97-AF65-F5344CB8AC3E}">
        <p14:creationId xmlns:p14="http://schemas.microsoft.com/office/powerpoint/2010/main" val="608266552"/>
      </p:ext>
    </p:extLst>
  </p:cSld>
</p:sld>
</file>

<file path=ppt/slides/slide2.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0C01795-9552-4FF1-9BC8-AE32DBD627AE}"/>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048070-C05B-46B3-98E2-A5D6B5C09365}"/>
              </a:ext>
            </a:extLst>
          </p:cNvPr>
          <p:cNvSpPr>
            <a:spLocks xmlns:a="http://schemas.openxmlformats.org/drawingml/2006/main" noGrp="1"/>
          </p:cNvSpPr>
          <p:nvPr/>
        </p:nvSpPr>
        <p:spPr>
          <a:xfrm xmlns:a="http://schemas.openxmlformats.org/drawingml/2006/main">
            <a:off x="571500" y="4095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F6F8FC"/>
                </a:solidFill>
                <a:latin typeface="Arial"/>
                <a:ea typeface="Arial"/>
                <a:cs typeface="Arial"/>
              </a:defRPr>
            </a:defPPr>
          </a:lstStyle>
          <a:p xmlns:a="http://schemas.openxmlformats.org/drawingml/2006/main">
            <a:pPr>
              <a:defRPr sz="3000" b="1">
                <a:solidFill>
                  <a:srgbClr val="F6F8FC"/>
                </a:solidFill>
                <a:latin typeface="Arial"/>
                <a:ea typeface="Arial"/>
                <a:cs typeface="Arial"/>
              </a:defRPr>
            </a:pPr>
            <a:r>
              <a:rPr sz="3000" b="1">
                <a:solidFill>
                  <a:srgbClr val="F6F8FC"/>
                </a:solidFill>
                <a:latin typeface="Arial"/>
                <a:ea typeface="Arial"/>
                <a:cs typeface="Arial"/>
              </a:rPr>
              <a:t>Project objective and method</a:t>
            </a:r>
          </a:p>
        </p:txBody>
      </p:sp>
      <p:sp>
        <p:nvSpPr>
          <p:cNvPr id="3" name="">
            <a:extLst xmlns:a="http://schemas.openxmlformats.org/drawingml/2006/main">
              <a:ext uri="{FF2B5EF4-FFF2-40B4-BE49-F238E27FC236}">
                <a16:creationId xmlns:a16="http://schemas.microsoft.com/office/drawing/2014/main" id="{6A061D67-BBEB-4426-B50E-6601A737C399}"/>
              </a:ext>
            </a:extLst>
          </p:cNvPr>
          <p:cNvSpPr>
            <a:spLocks xmlns:a="http://schemas.openxmlformats.org/drawingml/2006/main" noGrp="1"/>
          </p:cNvSpPr>
          <p:nvPr/>
        </p:nvSpPr>
        <p:spPr>
          <a:xfrm xmlns:a="http://schemas.openxmlformats.org/drawingml/2006/main">
            <a:off x="590550" y="9906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Translate a defined pseudocode language into readable, compilable C.</a:t>
            </a:r>
          </a:p>
        </p:txBody>
      </p:sp>
      <p:sp>
        <p:nvSpPr>
          <p:cNvPr id="4" name="">
            <a:extLst xmlns:a="http://schemas.openxmlformats.org/drawingml/2006/main">
              <a:ext uri="{FF2B5EF4-FFF2-40B4-BE49-F238E27FC236}">
                <a16:creationId xmlns:a16="http://schemas.microsoft.com/office/drawing/2014/main" id="{0D7CEE2E-C0A8-4E7A-AAB7-3853E33C1717}"/>
              </a:ext>
            </a:extLst>
          </p:cNvPr>
          <p:cNvSpPr>
            <a:spLocks xmlns:a="http://schemas.openxmlformats.org/drawingml/2006/main" noGrp="1"/>
          </p:cNvSpPr>
          <p:nvPr/>
        </p:nvSpPr>
        <p:spPr>
          <a:xfrm xmlns:a="http://schemas.openxmlformats.org/drawingml/2006/main">
            <a:off x="571500" y="6219825"/>
            <a:ext cx="110490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4D0D23A-05ED-4836-8390-BA37006E4799}"/>
              </a:ext>
            </a:extLst>
          </p:cNvPr>
          <p:cNvSpPr>
            <a:spLocks xmlns:a="http://schemas.openxmlformats.org/drawingml/2006/main" noGrp="1"/>
          </p:cNvSpPr>
          <p:nvPr/>
        </p:nvSpPr>
        <p:spPr>
          <a:xfrm xmlns:a="http://schemas.openxmlformats.org/drawingml/2006/main">
            <a:off x="571500" y="63627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AEBBD0"/>
                </a:solidFill>
                <a:latin typeface="Arial"/>
                <a:ea typeface="Arial"/>
                <a:cs typeface="Arial"/>
              </a:defRPr>
            </a:defPPr>
          </a:lstStyle>
          <a:p xmlns:a="http://schemas.openxmlformats.org/drawingml/2006/main">
            <a:pPr>
              <a:defRPr sz="1050" b="1">
                <a:solidFill>
                  <a:srgbClr val="AEBBD0"/>
                </a:solidFill>
                <a:latin typeface="Arial"/>
                <a:ea typeface="Arial"/>
                <a:cs typeface="Arial"/>
              </a:defRPr>
            </a:pPr>
            <a:r>
              <a:rPr sz="1050" b="1">
                <a:solidFill>
                  <a:srgbClr val="AEBBD0"/>
                </a:solidFill>
                <a:latin typeface="Arial"/>
                <a:ea typeface="Arial"/>
                <a:cs typeface="Arial"/>
              </a:rPr>
              <a:t>REVIEW 2  /  PSEUDOCODE TO C</a:t>
            </a:r>
          </a:p>
        </p:txBody>
      </p:sp>
      <p:sp>
        <p:nvSpPr>
          <p:cNvPr id="6" name="">
            <a:extLst xmlns:a="http://schemas.openxmlformats.org/drawingml/2006/main">
              <a:ext uri="{FF2B5EF4-FFF2-40B4-BE49-F238E27FC236}">
                <a16:creationId xmlns:a16="http://schemas.microsoft.com/office/drawing/2014/main" id="{1D234BAD-E89C-45D8-94A9-67F3051AB3A4}"/>
              </a:ext>
            </a:extLst>
          </p:cNvPr>
          <p:cNvSpPr>
            <a:spLocks xmlns:a="http://schemas.openxmlformats.org/drawingml/2006/main" noGrp="1"/>
          </p:cNvSpPr>
          <p:nvPr/>
        </p:nvSpPr>
        <p:spPr>
          <a:xfrm xmlns:a="http://schemas.openxmlformats.org/drawingml/2006/main">
            <a:off x="10953750" y="636270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0D5EA"/>
                </a:solidFill>
                <a:latin typeface="Arial"/>
                <a:ea typeface="Arial"/>
                <a:cs typeface="Arial"/>
              </a:defRPr>
            </a:defPPr>
          </a:lstStyle>
          <a:p xmlns:a="http://schemas.openxmlformats.org/drawingml/2006/main">
            <a:pPr>
              <a:defRPr sz="1050" b="1">
                <a:solidFill>
                  <a:srgbClr val="20D5EA"/>
                </a:solidFill>
                <a:latin typeface="Arial"/>
                <a:ea typeface="Arial"/>
                <a:cs typeface="Arial"/>
              </a:defRPr>
            </a:pPr>
            <a:r>
              <a:rPr sz="1050" b="1">
                <a:solidFill>
                  <a:srgbClr val="20D5EA"/>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B9CC0FF-51B5-4EC9-960E-FE9F1FC875CC}"/>
              </a:ext>
            </a:extLst>
          </p:cNvPr>
          <p:cNvSpPr>
            <a:spLocks xmlns:a="http://schemas.openxmlformats.org/drawingml/2006/main" noGrp="1"/>
          </p:cNvSpPr>
          <p:nvPr/>
        </p:nvSpPr>
        <p:spPr>
          <a:xfrm xmlns:a="http://schemas.openxmlformats.org/drawingml/2006/main">
            <a:off x="638175" y="15525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20D5EA"/>
                </a:solidFill>
                <a:latin typeface="Arial"/>
                <a:ea typeface="Arial"/>
                <a:cs typeface="Arial"/>
              </a:defRPr>
            </a:defPPr>
          </a:lstStyle>
          <a:p xmlns:a="http://schemas.openxmlformats.org/drawingml/2006/main">
            <a:pPr>
              <a:defRPr sz="1350" b="1">
                <a:solidFill>
                  <a:srgbClr val="20D5EA"/>
                </a:solidFill>
                <a:latin typeface="Arial"/>
                <a:ea typeface="Arial"/>
                <a:cs typeface="Arial"/>
              </a:defRPr>
            </a:pPr>
            <a:r>
              <a:rPr sz="1350" b="1">
                <a:solidFill>
                  <a:srgbClr val="20D5EA"/>
                </a:solidFill>
                <a:latin typeface="Arial"/>
                <a:ea typeface="Arial"/>
                <a:cs typeface="Arial"/>
              </a:rPr>
              <a:t>INPUT</a:t>
            </a:r>
          </a:p>
        </p:txBody>
      </p:sp>
      <p:sp>
        <p:nvSpPr>
          <p:cNvPr id="8" name="">
            <a:extLst xmlns:a="http://schemas.openxmlformats.org/drawingml/2006/main">
              <a:ext uri="{FF2B5EF4-FFF2-40B4-BE49-F238E27FC236}">
                <a16:creationId xmlns:a16="http://schemas.microsoft.com/office/drawing/2014/main" id="{6D64D36D-CB2A-4A9E-B7BA-2997522D1B55}"/>
              </a:ext>
            </a:extLst>
          </p:cNvPr>
          <p:cNvSpPr>
            <a:spLocks xmlns:a="http://schemas.openxmlformats.org/drawingml/2006/main" noGrp="1"/>
          </p:cNvSpPr>
          <p:nvPr/>
        </p:nvSpPr>
        <p:spPr>
          <a:xfrm xmlns:a="http://schemas.openxmlformats.org/drawingml/2006/main">
            <a:off x="638175" y="1895475"/>
            <a:ext cx="3048000" cy="19050"/>
          </a:xfrm>
          <a:prstGeom xmlns:a="http://schemas.openxmlformats.org/drawingml/2006/main" prst="rect">
            <a:avLst/>
          </a:prstGeom>
          <a:solidFill xmlns:a="http://schemas.openxmlformats.org/drawingml/2006/main">
            <a:srgbClr val="20D5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F873943-17BF-4728-8914-9FF16870253D}"/>
              </a:ext>
            </a:extLst>
          </p:cNvPr>
          <p:cNvSpPr>
            <a:spLocks xmlns:a="http://schemas.openxmlformats.org/drawingml/2006/main" noGrp="1"/>
          </p:cNvSpPr>
          <p:nvPr/>
        </p:nvSpPr>
        <p:spPr>
          <a:xfrm xmlns:a="http://schemas.openxmlformats.org/drawingml/2006/main">
            <a:off x="628650" y="2066925"/>
            <a:ext cx="3048000" cy="2095500"/>
          </a:xfrm>
          <a:prstGeom xmlns:a="http://schemas.openxmlformats.org/drawingml/2006/main" prst="roundRect">
            <a:avLst>
              <a:gd name="adj" fmla="val 4545"/>
            </a:avLst>
          </a:prstGeom>
          <a:solidFill xmlns:a="http://schemas.openxmlformats.org/drawingml/2006/main">
            <a:srgbClr val="101B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DCF098C-A242-43B2-A726-74F677AE1EB8}"/>
              </a:ext>
            </a:extLst>
          </p:cNvPr>
          <p:cNvSpPr>
            <a:spLocks xmlns:a="http://schemas.openxmlformats.org/drawingml/2006/main" noGrp="1"/>
          </p:cNvSpPr>
          <p:nvPr/>
        </p:nvSpPr>
        <p:spPr>
          <a:xfrm xmlns:a="http://schemas.openxmlformats.org/drawingml/2006/main">
            <a:off x="838200" y="2228850"/>
            <a:ext cx="26289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6F8FC"/>
                </a:solidFill>
                <a:latin typeface="Consolas"/>
                <a:ea typeface="Consolas"/>
                <a:cs typeface="Consolas"/>
              </a:defRPr>
            </a:defPPr>
          </a:lstStyle>
          <a:p xmlns:a="http://schemas.openxmlformats.org/drawingml/2006/main">
            <a:pPr>
              <a:defRPr sz="1575" b="0">
                <a:solidFill>
                  <a:srgbClr val="F6F8FC"/>
                </a:solidFill>
                <a:latin typeface="Consolas"/>
                <a:ea typeface="Consolas"/>
                <a:cs typeface="Consolas"/>
              </a:defRPr>
            </a:pPr>
            <a:r>
              <a:rPr sz="1575" b="0">
                <a:solidFill>
                  <a:srgbClr val="F6F8FC"/>
                </a:solidFill>
                <a:latin typeface="Consolas"/>
                <a:ea typeface="Consolas"/>
                <a:cs typeface="Consolas"/>
              </a:rPr>
              <a:t>BEGIN</a:t>
            </a:r>
          </a:p>
          <a:p xmlns:a="http://schemas.openxmlformats.org/drawingml/2006/main">
            <a:pPr>
              <a:defRPr sz="1575" b="0">
                <a:solidFill>
                  <a:srgbClr val="F6F8FC"/>
                </a:solidFill>
                <a:latin typeface="Consolas"/>
                <a:ea typeface="Consolas"/>
                <a:cs typeface="Consolas"/>
              </a:defRPr>
            </a:pPr>
            <a:r>
              <a:rPr sz="1575" b="0">
                <a:solidFill>
                  <a:srgbClr val="F6F8FC"/>
                </a:solidFill>
                <a:latin typeface="Consolas"/>
                <a:ea typeface="Consolas"/>
                <a:cs typeface="Consolas"/>
              </a:rPr>
              <a:t>DECLARE x AS INTEGER</a:t>
            </a:r>
          </a:p>
          <a:p xmlns:a="http://schemas.openxmlformats.org/drawingml/2006/main">
            <a:pPr>
              <a:defRPr sz="1575" b="0">
                <a:solidFill>
                  <a:srgbClr val="F6F8FC"/>
                </a:solidFill>
                <a:latin typeface="Consolas"/>
                <a:ea typeface="Consolas"/>
                <a:cs typeface="Consolas"/>
              </a:defRPr>
            </a:pPr>
            <a:r>
              <a:rPr sz="1575" b="0">
                <a:solidFill>
                  <a:srgbClr val="F6F8FC"/>
                </a:solidFill>
                <a:latin typeface="Consolas"/>
                <a:ea typeface="Consolas"/>
                <a:cs typeface="Consolas"/>
              </a:rPr>
              <a:t>SET x = 2 + 3</a:t>
            </a:r>
          </a:p>
          <a:p xmlns:a="http://schemas.openxmlformats.org/drawingml/2006/main">
            <a:pPr>
              <a:defRPr sz="1575" b="0">
                <a:solidFill>
                  <a:srgbClr val="F6F8FC"/>
                </a:solidFill>
                <a:latin typeface="Consolas"/>
                <a:ea typeface="Consolas"/>
                <a:cs typeface="Consolas"/>
              </a:defRPr>
            </a:pPr>
            <a:r>
              <a:rPr sz="1575" b="0">
                <a:solidFill>
                  <a:srgbClr val="F6F8FC"/>
                </a:solidFill>
                <a:latin typeface="Consolas"/>
                <a:ea typeface="Consolas"/>
                <a:cs typeface="Consolas"/>
              </a:rPr>
              <a:t>PRINT x</a:t>
            </a:r>
          </a:p>
          <a:p xmlns:a="http://schemas.openxmlformats.org/drawingml/2006/main">
            <a:pPr>
              <a:defRPr sz="1575" b="0">
                <a:solidFill>
                  <a:srgbClr val="F6F8FC"/>
                </a:solidFill>
                <a:latin typeface="Consolas"/>
                <a:ea typeface="Consolas"/>
                <a:cs typeface="Consolas"/>
              </a:defRPr>
            </a:pPr>
            <a:r>
              <a:rPr sz="1575" b="0">
                <a:solidFill>
                  <a:srgbClr val="F6F8FC"/>
                </a:solidFill>
                <a:latin typeface="Consolas"/>
                <a:ea typeface="Consolas"/>
                <a:cs typeface="Consolas"/>
              </a:rPr>
              <a:t>END</a:t>
            </a:r>
          </a:p>
        </p:txBody>
      </p:sp>
      <p:sp>
        <p:nvSpPr>
          <p:cNvPr id="11" name="">
            <a:extLst xmlns:a="http://schemas.openxmlformats.org/drawingml/2006/main">
              <a:ext uri="{FF2B5EF4-FFF2-40B4-BE49-F238E27FC236}">
                <a16:creationId xmlns:a16="http://schemas.microsoft.com/office/drawing/2014/main" id="{555EA322-864F-42C0-B3F3-D25870372A75}"/>
              </a:ext>
            </a:extLst>
          </p:cNvPr>
          <p:cNvSpPr>
            <a:spLocks xmlns:a="http://schemas.openxmlformats.org/drawingml/2006/main" noGrp="1"/>
          </p:cNvSpPr>
          <p:nvPr/>
        </p:nvSpPr>
        <p:spPr>
          <a:xfrm xmlns:a="http://schemas.openxmlformats.org/drawingml/2006/main">
            <a:off x="4467225" y="15525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4C82FF"/>
                </a:solidFill>
                <a:latin typeface="Arial"/>
                <a:ea typeface="Arial"/>
                <a:cs typeface="Arial"/>
              </a:defRPr>
            </a:defPPr>
          </a:lstStyle>
          <a:p xmlns:a="http://schemas.openxmlformats.org/drawingml/2006/main">
            <a:pPr>
              <a:defRPr sz="1350" b="1">
                <a:solidFill>
                  <a:srgbClr val="4C82FF"/>
                </a:solidFill>
                <a:latin typeface="Arial"/>
                <a:ea typeface="Arial"/>
                <a:cs typeface="Arial"/>
              </a:defRPr>
            </a:pPr>
            <a:r>
              <a:rPr sz="1350" b="1">
                <a:solidFill>
                  <a:srgbClr val="4C82FF"/>
                </a:solidFill>
                <a:latin typeface="Arial"/>
                <a:ea typeface="Arial"/>
                <a:cs typeface="Arial"/>
              </a:rPr>
              <a:t>COMPILER</a:t>
            </a:r>
          </a:p>
        </p:txBody>
      </p:sp>
      <p:sp>
        <p:nvSpPr>
          <p:cNvPr id="12" name="">
            <a:extLst xmlns:a="http://schemas.openxmlformats.org/drawingml/2006/main">
              <a:ext uri="{FF2B5EF4-FFF2-40B4-BE49-F238E27FC236}">
                <a16:creationId xmlns:a16="http://schemas.microsoft.com/office/drawing/2014/main" id="{A0B03890-81A3-47D2-904E-924FCE795E7E}"/>
              </a:ext>
            </a:extLst>
          </p:cNvPr>
          <p:cNvSpPr>
            <a:spLocks xmlns:a="http://schemas.openxmlformats.org/drawingml/2006/main" noGrp="1"/>
          </p:cNvSpPr>
          <p:nvPr/>
        </p:nvSpPr>
        <p:spPr>
          <a:xfrm xmlns:a="http://schemas.openxmlformats.org/drawingml/2006/main">
            <a:off x="4467225" y="1895475"/>
            <a:ext cx="3048000" cy="19050"/>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599AC78-6250-47FE-B0CD-8E01723CBCF9}"/>
              </a:ext>
            </a:extLst>
          </p:cNvPr>
          <p:cNvSpPr>
            <a:spLocks xmlns:a="http://schemas.openxmlformats.org/drawingml/2006/main" noGrp="1"/>
          </p:cNvSpPr>
          <p:nvPr/>
        </p:nvSpPr>
        <p:spPr>
          <a:xfrm xmlns:a="http://schemas.openxmlformats.org/drawingml/2006/main">
            <a:off x="4476750" y="2095500"/>
            <a:ext cx="304800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F6F8FC"/>
                </a:solidFill>
                <a:latin typeface="Arial"/>
                <a:ea typeface="Arial"/>
                <a:cs typeface="Arial"/>
              </a:defRPr>
            </a:defPPr>
          </a:lstStyle>
          <a:p xmlns:a="http://schemas.openxmlformats.org/drawingml/2006/main">
            <a:pPr>
              <a:defRPr sz="1800" b="0">
                <a:solidFill>
                  <a:srgbClr val="F6F8FC"/>
                </a:solidFill>
                <a:latin typeface="Arial"/>
                <a:ea typeface="Arial"/>
                <a:cs typeface="Arial"/>
              </a:defRPr>
            </a:pPr>
            <a:r>
              <a:rPr sz="1800" b="0">
                <a:solidFill>
                  <a:srgbClr val="F6F8FC"/>
                </a:solidFill>
                <a:latin typeface="Arial"/>
                <a:ea typeface="Arial"/>
                <a:cs typeface="Arial"/>
              </a:rPr>
              <a:t>Recognize syntax</a:t>
            </a:r>
          </a:p>
          <a:p xmlns:a="http://schemas.openxmlformats.org/drawingml/2006/main">
            <a:pPr>
              <a:defRPr sz="1800" b="0">
                <a:solidFill>
                  <a:srgbClr val="F6F8FC"/>
                </a:solidFill>
                <a:latin typeface="Arial"/>
                <a:ea typeface="Arial"/>
                <a:cs typeface="Arial"/>
              </a:defRPr>
            </a:pPr>
            <a:r>
              <a:rPr sz="1800" b="0">
                <a:solidFill>
                  <a:srgbClr val="F6F8FC"/>
                </a:solidFill>
                <a:latin typeface="Arial"/>
                <a:ea typeface="Arial"/>
                <a:cs typeface="Arial"/>
              </a:rPr>
              <a:t>Check names and types</a:t>
            </a:r>
          </a:p>
          <a:p xmlns:a="http://schemas.openxmlformats.org/drawingml/2006/main">
            <a:pPr>
              <a:defRPr sz="1800" b="0">
                <a:solidFill>
                  <a:srgbClr val="F6F8FC"/>
                </a:solidFill>
                <a:latin typeface="Arial"/>
                <a:ea typeface="Arial"/>
                <a:cs typeface="Arial"/>
              </a:defRPr>
            </a:pPr>
            <a:r>
              <a:rPr sz="1800" b="0">
                <a:solidFill>
                  <a:srgbClr val="F6F8FC"/>
                </a:solidFill>
                <a:latin typeface="Arial"/>
                <a:ea typeface="Arial"/>
                <a:cs typeface="Arial"/>
              </a:rPr>
              <a:t>Build and optimize IR</a:t>
            </a:r>
          </a:p>
          <a:p xmlns:a="http://schemas.openxmlformats.org/drawingml/2006/main">
            <a:pPr>
              <a:defRPr sz="1800" b="0">
                <a:solidFill>
                  <a:srgbClr val="F6F8FC"/>
                </a:solidFill>
                <a:latin typeface="Arial"/>
                <a:ea typeface="Arial"/>
                <a:cs typeface="Arial"/>
              </a:defRPr>
            </a:pPr>
            <a:r>
              <a:rPr sz="1800" b="0">
                <a:solidFill>
                  <a:srgbClr val="F6F8FC"/>
                </a:solidFill>
                <a:latin typeface="Arial"/>
                <a:ea typeface="Arial"/>
                <a:cs typeface="Arial"/>
              </a:rPr>
              <a:t>Generate C</a:t>
            </a:r>
          </a:p>
        </p:txBody>
      </p:sp>
      <p:sp>
        <p:nvSpPr>
          <p:cNvPr id="14" name="">
            <a:extLst xmlns:a="http://schemas.openxmlformats.org/drawingml/2006/main">
              <a:ext uri="{FF2B5EF4-FFF2-40B4-BE49-F238E27FC236}">
                <a16:creationId xmlns:a16="http://schemas.microsoft.com/office/drawing/2014/main" id="{A379282B-662D-4D4D-94B8-10AE6A92CA92}"/>
              </a:ext>
            </a:extLst>
          </p:cNvPr>
          <p:cNvSpPr>
            <a:spLocks xmlns:a="http://schemas.openxmlformats.org/drawingml/2006/main" noGrp="1"/>
          </p:cNvSpPr>
          <p:nvPr/>
        </p:nvSpPr>
        <p:spPr>
          <a:xfrm xmlns:a="http://schemas.openxmlformats.org/drawingml/2006/main">
            <a:off x="8286750" y="1552575"/>
            <a:ext cx="3181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33D69B"/>
                </a:solidFill>
                <a:latin typeface="Arial"/>
                <a:ea typeface="Arial"/>
                <a:cs typeface="Arial"/>
              </a:defRPr>
            </a:defPPr>
          </a:lstStyle>
          <a:p xmlns:a="http://schemas.openxmlformats.org/drawingml/2006/main">
            <a:pPr>
              <a:defRPr sz="1350" b="1">
                <a:solidFill>
                  <a:srgbClr val="33D69B"/>
                </a:solidFill>
                <a:latin typeface="Arial"/>
                <a:ea typeface="Arial"/>
                <a:cs typeface="Arial"/>
              </a:defRPr>
            </a:pPr>
            <a:r>
              <a:rPr sz="1350" b="1">
                <a:solidFill>
                  <a:srgbClr val="33D69B"/>
                </a:solidFill>
                <a:latin typeface="Arial"/>
                <a:ea typeface="Arial"/>
                <a:cs typeface="Arial"/>
              </a:rPr>
              <a:t>OUTPUT</a:t>
            </a:r>
          </a:p>
        </p:txBody>
      </p:sp>
      <p:sp>
        <p:nvSpPr>
          <p:cNvPr id="15" name="">
            <a:extLst xmlns:a="http://schemas.openxmlformats.org/drawingml/2006/main">
              <a:ext uri="{FF2B5EF4-FFF2-40B4-BE49-F238E27FC236}">
                <a16:creationId xmlns:a16="http://schemas.microsoft.com/office/drawing/2014/main" id="{F725E344-644C-4C65-884A-847A54E84A65}"/>
              </a:ext>
            </a:extLst>
          </p:cNvPr>
          <p:cNvSpPr>
            <a:spLocks xmlns:a="http://schemas.openxmlformats.org/drawingml/2006/main" noGrp="1"/>
          </p:cNvSpPr>
          <p:nvPr/>
        </p:nvSpPr>
        <p:spPr>
          <a:xfrm xmlns:a="http://schemas.openxmlformats.org/drawingml/2006/main">
            <a:off x="8286750" y="1895475"/>
            <a:ext cx="3181350" cy="19050"/>
          </a:xfrm>
          <a:prstGeom xmlns:a="http://schemas.openxmlformats.org/drawingml/2006/main" prst="rect">
            <a:avLst/>
          </a:prstGeom>
          <a:solidFill xmlns:a="http://schemas.openxmlformats.org/drawingml/2006/main">
            <a:srgbClr val="33D69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AA3815D-FB94-4177-B517-E17E6AEC6D3D}"/>
              </a:ext>
            </a:extLst>
          </p:cNvPr>
          <p:cNvSpPr>
            <a:spLocks xmlns:a="http://schemas.openxmlformats.org/drawingml/2006/main" noGrp="1"/>
          </p:cNvSpPr>
          <p:nvPr/>
        </p:nvSpPr>
        <p:spPr>
          <a:xfrm xmlns:a="http://schemas.openxmlformats.org/drawingml/2006/main">
            <a:off x="8277225" y="2066925"/>
            <a:ext cx="3190875" cy="2095500"/>
          </a:xfrm>
          <a:prstGeom xmlns:a="http://schemas.openxmlformats.org/drawingml/2006/main" prst="roundRect">
            <a:avLst>
              <a:gd name="adj" fmla="val 4545"/>
            </a:avLst>
          </a:prstGeom>
          <a:solidFill xmlns:a="http://schemas.openxmlformats.org/drawingml/2006/main">
            <a:srgbClr val="101B2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1ADC41E-6627-4CD9-AE7B-B76B04F06E61}"/>
              </a:ext>
            </a:extLst>
          </p:cNvPr>
          <p:cNvSpPr>
            <a:spLocks xmlns:a="http://schemas.openxmlformats.org/drawingml/2006/main" noGrp="1"/>
          </p:cNvSpPr>
          <p:nvPr/>
        </p:nvSpPr>
        <p:spPr>
          <a:xfrm xmlns:a="http://schemas.openxmlformats.org/drawingml/2006/main">
            <a:off x="8486775" y="2228850"/>
            <a:ext cx="2771775"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F6F8FC"/>
                </a:solidFill>
                <a:latin typeface="Consolas"/>
                <a:ea typeface="Consolas"/>
                <a:cs typeface="Consolas"/>
              </a:defRPr>
            </a:defPPr>
          </a:lstStyle>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int x;</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x = 5;</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printf("%d\n", x);</a:t>
            </a:r>
          </a:p>
        </p:txBody>
      </p:sp>
      <p:sp>
        <p:nvSpPr>
          <p:cNvPr id="18" name="">
            <a:extLst xmlns:a="http://schemas.openxmlformats.org/drawingml/2006/main">
              <a:ext uri="{FF2B5EF4-FFF2-40B4-BE49-F238E27FC236}">
                <a16:creationId xmlns:a16="http://schemas.microsoft.com/office/drawing/2014/main" id="{4A826A26-1FF2-42B7-9C59-1F04A5C14E49}"/>
              </a:ext>
            </a:extLst>
          </p:cNvPr>
          <p:cNvSpPr>
            <a:spLocks xmlns:a="http://schemas.openxmlformats.org/drawingml/2006/main" noGrp="1"/>
          </p:cNvSpPr>
          <p:nvPr/>
        </p:nvSpPr>
        <p:spPr>
          <a:xfrm xmlns:a="http://schemas.openxmlformats.org/drawingml/2006/main">
            <a:off x="638175" y="4648200"/>
            <a:ext cx="10829925"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280DEBC-8DEB-4520-A92E-27617BD4DBF0}"/>
              </a:ext>
            </a:extLst>
          </p:cNvPr>
          <p:cNvSpPr>
            <a:spLocks xmlns:a="http://schemas.openxmlformats.org/drawingml/2006/main" noGrp="1"/>
          </p:cNvSpPr>
          <p:nvPr/>
        </p:nvSpPr>
        <p:spPr>
          <a:xfrm xmlns:a="http://schemas.openxmlformats.org/drawingml/2006/main">
            <a:off x="647700" y="48768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F6F8FC"/>
                </a:solidFill>
                <a:latin typeface="Arial"/>
                <a:ea typeface="Arial"/>
                <a:cs typeface="Arial"/>
              </a:defRPr>
            </a:defPPr>
          </a:lstStyle>
          <a:p xmlns:a="http://schemas.openxmlformats.org/drawingml/2006/main">
            <a:pPr>
              <a:defRPr sz="1725" b="1">
                <a:solidFill>
                  <a:srgbClr val="F6F8FC"/>
                </a:solidFill>
                <a:latin typeface="Arial"/>
                <a:ea typeface="Arial"/>
                <a:cs typeface="Arial"/>
              </a:defRPr>
            </a:pPr>
            <a:r>
              <a:rPr sz="1725" b="1">
                <a:solidFill>
                  <a:srgbClr val="F6F8FC"/>
                </a:solidFill>
                <a:latin typeface="Arial"/>
                <a:ea typeface="Arial"/>
                <a:cs typeface="Arial"/>
              </a:rPr>
              <a:t>The input is structured pseudocode, not unrestricted natural language.</a:t>
            </a:r>
          </a:p>
        </p:txBody>
      </p:sp>
      <p:sp>
        <p:nvSpPr>
          <p:cNvPr id="20" name="">
            <a:extLst xmlns:a="http://schemas.openxmlformats.org/drawingml/2006/main">
              <a:ext uri="{FF2B5EF4-FFF2-40B4-BE49-F238E27FC236}">
                <a16:creationId xmlns:a16="http://schemas.microsoft.com/office/drawing/2014/main" id="{715C9DC2-DFEB-40FC-A02B-476458AE1A7F}"/>
              </a:ext>
            </a:extLst>
          </p:cNvPr>
          <p:cNvSpPr>
            <a:spLocks xmlns:a="http://schemas.openxmlformats.org/drawingml/2006/main" noGrp="1"/>
          </p:cNvSpPr>
          <p:nvPr/>
        </p:nvSpPr>
        <p:spPr>
          <a:xfrm xmlns:a="http://schemas.openxmlformats.org/drawingml/2006/main">
            <a:off x="647700" y="54102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AEBBD0"/>
                </a:solidFill>
                <a:latin typeface="Arial"/>
                <a:ea typeface="Arial"/>
                <a:cs typeface="Arial"/>
              </a:defRPr>
            </a:defPPr>
          </a:lstStyle>
          <a:p xmlns:a="http://schemas.openxmlformats.org/drawingml/2006/main">
            <a:pPr>
              <a:defRPr sz="1650" b="0">
                <a:solidFill>
                  <a:srgbClr val="AEBBD0"/>
                </a:solidFill>
                <a:latin typeface="Arial"/>
                <a:ea typeface="Arial"/>
                <a:cs typeface="Arial"/>
              </a:defRPr>
            </a:pPr>
            <a:r>
              <a:rPr sz="1650" b="0">
                <a:solidFill>
                  <a:srgbClr val="AEBBD0"/>
                </a:solidFill>
                <a:latin typeface="Arial"/>
                <a:ea typeface="Arial"/>
                <a:cs typeface="Arial"/>
              </a:rPr>
              <a:t>The output is C source; GCC can compile and run it for supported programs.</a:t>
            </a:r>
          </a:p>
        </p:txBody>
      </p:sp>
    </p:spTree>
    <p:extLst>
      <p:ext uri="{BB962C8B-B14F-4D97-AF65-F5344CB8AC3E}">
        <p14:creationId xmlns:p14="http://schemas.microsoft.com/office/powerpoint/2010/main" val="2048369319"/>
      </p:ext>
    </p:extLst>
  </p:cSld>
</p:sld>
</file>

<file path=ppt/slides/slide3.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BE9531B-D5C1-4801-9B5E-599B1B468D05}"/>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A4D8FC-D54B-4C23-A5DB-E6FFE4FA624F}"/>
              </a:ext>
            </a:extLst>
          </p:cNvPr>
          <p:cNvSpPr>
            <a:spLocks xmlns:a="http://schemas.openxmlformats.org/drawingml/2006/main" noGrp="1"/>
          </p:cNvSpPr>
          <p:nvPr/>
        </p:nvSpPr>
        <p:spPr>
          <a:xfrm xmlns:a="http://schemas.openxmlformats.org/drawingml/2006/main">
            <a:off x="571500" y="4095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F6F8FC"/>
                </a:solidFill>
                <a:latin typeface="Arial"/>
                <a:ea typeface="Arial"/>
                <a:cs typeface="Arial"/>
              </a:defRPr>
            </a:defPPr>
          </a:lstStyle>
          <a:p xmlns:a="http://schemas.openxmlformats.org/drawingml/2006/main">
            <a:pPr>
              <a:defRPr sz="3000" b="1">
                <a:solidFill>
                  <a:srgbClr val="F6F8FC"/>
                </a:solidFill>
                <a:latin typeface="Arial"/>
                <a:ea typeface="Arial"/>
                <a:cs typeface="Arial"/>
              </a:defRPr>
            </a:pPr>
            <a:r>
              <a:rPr sz="3000" b="1">
                <a:solidFill>
                  <a:srgbClr val="F6F8FC"/>
                </a:solidFill>
                <a:latin typeface="Arial"/>
                <a:ea typeface="Arial"/>
                <a:cs typeface="Arial"/>
              </a:rPr>
              <a:t>What changed since Review 1</a:t>
            </a:r>
          </a:p>
        </p:txBody>
      </p:sp>
      <p:sp>
        <p:nvSpPr>
          <p:cNvPr id="3" name="">
            <a:extLst xmlns:a="http://schemas.openxmlformats.org/drawingml/2006/main">
              <a:ext uri="{FF2B5EF4-FFF2-40B4-BE49-F238E27FC236}">
                <a16:creationId xmlns:a16="http://schemas.microsoft.com/office/drawing/2014/main" id="{7B0BAEB9-EB74-4CB8-86BB-AAF2E499BE33}"/>
              </a:ext>
            </a:extLst>
          </p:cNvPr>
          <p:cNvSpPr>
            <a:spLocks xmlns:a="http://schemas.openxmlformats.org/drawingml/2006/main" noGrp="1"/>
          </p:cNvSpPr>
          <p:nvPr/>
        </p:nvSpPr>
        <p:spPr>
          <a:xfrm xmlns:a="http://schemas.openxmlformats.org/drawingml/2006/main">
            <a:off x="590550" y="9906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The original prototype and report established the compiler path; this version extends and checks it.</a:t>
            </a:r>
          </a:p>
        </p:txBody>
      </p:sp>
      <p:sp>
        <p:nvSpPr>
          <p:cNvPr id="4" name="">
            <a:extLst xmlns:a="http://schemas.openxmlformats.org/drawingml/2006/main">
              <a:ext uri="{FF2B5EF4-FFF2-40B4-BE49-F238E27FC236}">
                <a16:creationId xmlns:a16="http://schemas.microsoft.com/office/drawing/2014/main" id="{5B185598-EFE9-445C-9889-02848E937E64}"/>
              </a:ext>
            </a:extLst>
          </p:cNvPr>
          <p:cNvSpPr>
            <a:spLocks xmlns:a="http://schemas.openxmlformats.org/drawingml/2006/main" noGrp="1"/>
          </p:cNvSpPr>
          <p:nvPr/>
        </p:nvSpPr>
        <p:spPr>
          <a:xfrm xmlns:a="http://schemas.openxmlformats.org/drawingml/2006/main">
            <a:off x="571500" y="6219825"/>
            <a:ext cx="110490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FE66558-71A6-45C3-80C1-920F921777E5}"/>
              </a:ext>
            </a:extLst>
          </p:cNvPr>
          <p:cNvSpPr>
            <a:spLocks xmlns:a="http://schemas.openxmlformats.org/drawingml/2006/main" noGrp="1"/>
          </p:cNvSpPr>
          <p:nvPr/>
        </p:nvSpPr>
        <p:spPr>
          <a:xfrm xmlns:a="http://schemas.openxmlformats.org/drawingml/2006/main">
            <a:off x="571500" y="63627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AEBBD0"/>
                </a:solidFill>
                <a:latin typeface="Arial"/>
                <a:ea typeface="Arial"/>
                <a:cs typeface="Arial"/>
              </a:defRPr>
            </a:defPPr>
          </a:lstStyle>
          <a:p xmlns:a="http://schemas.openxmlformats.org/drawingml/2006/main">
            <a:pPr>
              <a:defRPr sz="1050" b="1">
                <a:solidFill>
                  <a:srgbClr val="AEBBD0"/>
                </a:solidFill>
                <a:latin typeface="Arial"/>
                <a:ea typeface="Arial"/>
                <a:cs typeface="Arial"/>
              </a:defRPr>
            </a:pPr>
            <a:r>
              <a:rPr sz="1050" b="1">
                <a:solidFill>
                  <a:srgbClr val="AEBBD0"/>
                </a:solidFill>
                <a:latin typeface="Arial"/>
                <a:ea typeface="Arial"/>
                <a:cs typeface="Arial"/>
              </a:rPr>
              <a:t>REVIEW 2  /  PSEUDOCODE TO C</a:t>
            </a:r>
          </a:p>
        </p:txBody>
      </p:sp>
      <p:sp>
        <p:nvSpPr>
          <p:cNvPr id="6" name="">
            <a:extLst xmlns:a="http://schemas.openxmlformats.org/drawingml/2006/main">
              <a:ext uri="{FF2B5EF4-FFF2-40B4-BE49-F238E27FC236}">
                <a16:creationId xmlns:a16="http://schemas.microsoft.com/office/drawing/2014/main" id="{9A1CA445-2ED3-4263-A2DE-9800D22BC206}"/>
              </a:ext>
            </a:extLst>
          </p:cNvPr>
          <p:cNvSpPr>
            <a:spLocks xmlns:a="http://schemas.openxmlformats.org/drawingml/2006/main" noGrp="1"/>
          </p:cNvSpPr>
          <p:nvPr/>
        </p:nvSpPr>
        <p:spPr>
          <a:xfrm xmlns:a="http://schemas.openxmlformats.org/drawingml/2006/main">
            <a:off x="10953750" y="636270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0D5EA"/>
                </a:solidFill>
                <a:latin typeface="Arial"/>
                <a:ea typeface="Arial"/>
                <a:cs typeface="Arial"/>
              </a:defRPr>
            </a:defPPr>
          </a:lstStyle>
          <a:p xmlns:a="http://schemas.openxmlformats.org/drawingml/2006/main">
            <a:pPr>
              <a:defRPr sz="1050" b="1">
                <a:solidFill>
                  <a:srgbClr val="20D5EA"/>
                </a:solidFill>
                <a:latin typeface="Arial"/>
                <a:ea typeface="Arial"/>
                <a:cs typeface="Arial"/>
              </a:defRPr>
            </a:pPr>
            <a:r>
              <a:rPr sz="1050" b="1">
                <a:solidFill>
                  <a:srgbClr val="20D5EA"/>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40DEDEE1-9983-48E3-9FCE-CF9A87B0D713}"/>
              </a:ext>
            </a:extLst>
          </p:cNvPr>
          <p:cNvSpPr>
            <a:spLocks xmlns:a="http://schemas.openxmlformats.org/drawingml/2006/main" noGrp="1"/>
          </p:cNvSpPr>
          <p:nvPr/>
        </p:nvSpPr>
        <p:spPr>
          <a:xfrm xmlns:a="http://schemas.openxmlformats.org/drawingml/2006/main">
            <a:off x="638175" y="158115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4C82FF"/>
                </a:solidFill>
                <a:latin typeface="Arial"/>
                <a:ea typeface="Arial"/>
                <a:cs typeface="Arial"/>
              </a:defRPr>
            </a:defPPr>
          </a:lstStyle>
          <a:p xmlns:a="http://schemas.openxmlformats.org/drawingml/2006/main">
            <a:pPr>
              <a:defRPr sz="1350" b="1">
                <a:solidFill>
                  <a:srgbClr val="4C82FF"/>
                </a:solidFill>
                <a:latin typeface="Arial"/>
                <a:ea typeface="Arial"/>
                <a:cs typeface="Arial"/>
              </a:defRPr>
            </a:pPr>
            <a:r>
              <a:rPr sz="1350" b="1">
                <a:solidFill>
                  <a:srgbClr val="4C82FF"/>
                </a:solidFill>
                <a:latin typeface="Arial"/>
                <a:ea typeface="Arial"/>
                <a:cs typeface="Arial"/>
              </a:rPr>
              <a:t>REVIEW 1 PROTOTYPE</a:t>
            </a:r>
          </a:p>
        </p:txBody>
      </p:sp>
      <p:sp>
        <p:nvSpPr>
          <p:cNvPr id="8" name="">
            <a:extLst xmlns:a="http://schemas.openxmlformats.org/drawingml/2006/main">
              <a:ext uri="{FF2B5EF4-FFF2-40B4-BE49-F238E27FC236}">
                <a16:creationId xmlns:a16="http://schemas.microsoft.com/office/drawing/2014/main" id="{76ECDFAB-1333-4BC3-969E-CD234AC981E0}"/>
              </a:ext>
            </a:extLst>
          </p:cNvPr>
          <p:cNvSpPr>
            <a:spLocks xmlns:a="http://schemas.openxmlformats.org/drawingml/2006/main" noGrp="1"/>
          </p:cNvSpPr>
          <p:nvPr/>
        </p:nvSpPr>
        <p:spPr>
          <a:xfrm xmlns:a="http://schemas.openxmlformats.org/drawingml/2006/main">
            <a:off x="638175" y="1924050"/>
            <a:ext cx="4857750" cy="19050"/>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DF13939-B65F-4120-BBE6-5434B86E8535}"/>
              </a:ext>
            </a:extLst>
          </p:cNvPr>
          <p:cNvSpPr>
            <a:spLocks xmlns:a="http://schemas.openxmlformats.org/drawingml/2006/main" noGrp="1"/>
          </p:cNvSpPr>
          <p:nvPr/>
        </p:nvSpPr>
        <p:spPr>
          <a:xfrm xmlns:a="http://schemas.openxmlformats.org/drawingml/2006/main">
            <a:off x="6334125" y="15811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33D69B"/>
                </a:solidFill>
                <a:latin typeface="Arial"/>
                <a:ea typeface="Arial"/>
                <a:cs typeface="Arial"/>
              </a:defRPr>
            </a:defPPr>
          </a:lstStyle>
          <a:p xmlns:a="http://schemas.openxmlformats.org/drawingml/2006/main">
            <a:pPr>
              <a:defRPr sz="1350" b="1">
                <a:solidFill>
                  <a:srgbClr val="33D69B"/>
                </a:solidFill>
                <a:latin typeface="Arial"/>
                <a:ea typeface="Arial"/>
                <a:cs typeface="Arial"/>
              </a:defRPr>
            </a:pPr>
            <a:r>
              <a:rPr sz="1350" b="1">
                <a:solidFill>
                  <a:srgbClr val="33D69B"/>
                </a:solidFill>
                <a:latin typeface="Arial"/>
                <a:ea typeface="Arial"/>
                <a:cs typeface="Arial"/>
              </a:rPr>
              <a:t>CURRENT IMPLEMENTATION</a:t>
            </a:r>
          </a:p>
        </p:txBody>
      </p:sp>
      <p:sp>
        <p:nvSpPr>
          <p:cNvPr id="10" name="">
            <a:extLst xmlns:a="http://schemas.openxmlformats.org/drawingml/2006/main">
              <a:ext uri="{FF2B5EF4-FFF2-40B4-BE49-F238E27FC236}">
                <a16:creationId xmlns:a16="http://schemas.microsoft.com/office/drawing/2014/main" id="{80A50540-A56D-4000-9E8E-9E9B61C9F148}"/>
              </a:ext>
            </a:extLst>
          </p:cNvPr>
          <p:cNvSpPr>
            <a:spLocks xmlns:a="http://schemas.openxmlformats.org/drawingml/2006/main" noGrp="1"/>
          </p:cNvSpPr>
          <p:nvPr/>
        </p:nvSpPr>
        <p:spPr>
          <a:xfrm xmlns:a="http://schemas.openxmlformats.org/drawingml/2006/main">
            <a:off x="6334125" y="1924050"/>
            <a:ext cx="5143500" cy="19050"/>
          </a:xfrm>
          <a:prstGeom xmlns:a="http://schemas.openxmlformats.org/drawingml/2006/main" prst="rect">
            <a:avLst/>
          </a:prstGeom>
          <a:solidFill xmlns:a="http://schemas.openxmlformats.org/drawingml/2006/main">
            <a:srgbClr val="33D69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AD0292F-ECDF-463B-9958-3414DDD1555E}"/>
              </a:ext>
            </a:extLst>
          </p:cNvPr>
          <p:cNvSpPr>
            <a:spLocks xmlns:a="http://schemas.openxmlformats.org/drawingml/2006/main" noGrp="1"/>
          </p:cNvSpPr>
          <p:nvPr/>
        </p:nvSpPr>
        <p:spPr>
          <a:xfrm xmlns:a="http://schemas.openxmlformats.org/drawingml/2006/main">
            <a:off x="647700" y="2143125"/>
            <a:ext cx="4857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F6F8FC"/>
                </a:solidFill>
                <a:latin typeface="Arial"/>
                <a:ea typeface="Arial"/>
                <a:cs typeface="Arial"/>
              </a:defRPr>
            </a:defPPr>
          </a:lstStyle>
          <a:p xmlns:a="http://schemas.openxmlformats.org/drawingml/2006/main">
            <a:pPr>
              <a:defRPr sz="1800" b="0">
                <a:solidFill>
                  <a:srgbClr val="F6F8FC"/>
                </a:solidFill>
                <a:latin typeface="Arial"/>
                <a:ea typeface="Arial"/>
                <a:cs typeface="Arial"/>
              </a:defRPr>
            </a:pPr>
            <a:r>
              <a:rPr sz="1800" b="0">
                <a:solidFill>
                  <a:srgbClr val="F6F8FC"/>
                </a:solidFill>
                <a:latin typeface="Arial"/>
                <a:ea typeface="Arial"/>
                <a:cs typeface="Arial"/>
              </a:rPr>
              <a:t>Declarations, assignment and PRINT</a:t>
            </a:r>
          </a:p>
          <a:p xmlns:a="http://schemas.openxmlformats.org/drawingml/2006/main">
            <a:pPr>
              <a:defRPr sz="1800" b="0">
                <a:solidFill>
                  <a:srgbClr val="F6F8FC"/>
                </a:solidFill>
                <a:latin typeface="Arial"/>
                <a:ea typeface="Arial"/>
                <a:cs typeface="Arial"/>
              </a:defRPr>
            </a:pPr>
            <a:r>
              <a:rPr sz="1800" b="0">
                <a:solidFill>
                  <a:srgbClr val="F6F8FC"/>
                </a:solidFill>
                <a:latin typeface="Arial"/>
                <a:ea typeface="Arial"/>
                <a:cs typeface="Arial"/>
              </a:rPr>
              <a:t>Arithmetic and constant folding</a:t>
            </a:r>
          </a:p>
          <a:p xmlns:a="http://schemas.openxmlformats.org/drawingml/2006/main">
            <a:pPr>
              <a:defRPr sz="1800" b="0">
                <a:solidFill>
                  <a:srgbClr val="F6F8FC"/>
                </a:solidFill>
                <a:latin typeface="Arial"/>
                <a:ea typeface="Arial"/>
                <a:cs typeface="Arial"/>
              </a:defRPr>
            </a:pPr>
            <a:r>
              <a:rPr sz="1800" b="0">
                <a:solidFill>
                  <a:srgbClr val="F6F8FC"/>
                </a:solidFill>
                <a:latin typeface="Arial"/>
                <a:ea typeface="Arial"/>
                <a:cs typeface="Arial"/>
              </a:rPr>
              <a:t>Lexer, parser, AST, symbols and IR</a:t>
            </a:r>
          </a:p>
          <a:p xmlns:a="http://schemas.openxmlformats.org/drawingml/2006/main">
            <a:pPr>
              <a:defRPr sz="1800" b="0">
                <a:solidFill>
                  <a:srgbClr val="F6F8FC"/>
                </a:solidFill>
                <a:latin typeface="Arial"/>
                <a:ea typeface="Arial"/>
                <a:cs typeface="Arial"/>
              </a:defRPr>
            </a:pPr>
            <a:r>
              <a:rPr sz="1800" b="0">
                <a:solidFill>
                  <a:srgbClr val="F6F8FC"/>
                </a:solidFill>
                <a:latin typeface="Arial"/>
                <a:ea typeface="Arial"/>
                <a:cs typeface="Arial"/>
              </a:rPr>
              <a:t>Basic control flow and arrays in Review 1 code</a:t>
            </a:r>
          </a:p>
        </p:txBody>
      </p:sp>
      <p:sp>
        <p:nvSpPr>
          <p:cNvPr id="12" name="">
            <a:extLst xmlns:a="http://schemas.openxmlformats.org/drawingml/2006/main">
              <a:ext uri="{FF2B5EF4-FFF2-40B4-BE49-F238E27FC236}">
                <a16:creationId xmlns:a16="http://schemas.microsoft.com/office/drawing/2014/main" id="{DD34809B-CBC6-443F-B35F-B7425B3FB537}"/>
              </a:ext>
            </a:extLst>
          </p:cNvPr>
          <p:cNvSpPr>
            <a:spLocks xmlns:a="http://schemas.openxmlformats.org/drawingml/2006/main" noGrp="1"/>
          </p:cNvSpPr>
          <p:nvPr/>
        </p:nvSpPr>
        <p:spPr>
          <a:xfrm xmlns:a="http://schemas.openxmlformats.org/drawingml/2006/main">
            <a:off x="6343650" y="2143125"/>
            <a:ext cx="5143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6F8FC"/>
                </a:solidFill>
                <a:latin typeface="Arial"/>
                <a:ea typeface="Arial"/>
                <a:cs typeface="Arial"/>
              </a:defRPr>
            </a:defPPr>
          </a:lstStyle>
          <a:p xmlns:a="http://schemas.openxmlformats.org/drawingml/2006/main">
            <a:pPr>
              <a:defRPr sz="1725" b="0">
                <a:solidFill>
                  <a:srgbClr val="F6F8FC"/>
                </a:solidFill>
                <a:latin typeface="Arial"/>
                <a:ea typeface="Arial"/>
                <a:cs typeface="Arial"/>
              </a:defRPr>
            </a:pPr>
            <a:r>
              <a:rPr sz="1725" b="0">
                <a:solidFill>
                  <a:srgbClr val="F6F8FC"/>
                </a:solidFill>
                <a:latin typeface="Arial"/>
                <a:ea typeface="Arial"/>
                <a:cs typeface="Arial"/>
              </a:rPr>
              <a:t>STRING and bitwise operators</a:t>
            </a:r>
          </a:p>
          <a:p xmlns:a="http://schemas.openxmlformats.org/drawingml/2006/main">
            <a:pPr>
              <a:defRPr sz="1725" b="0">
                <a:solidFill>
                  <a:srgbClr val="F6F8FC"/>
                </a:solidFill>
                <a:latin typeface="Arial"/>
                <a:ea typeface="Arial"/>
                <a:cs typeface="Arial"/>
              </a:defRPr>
            </a:pPr>
            <a:r>
              <a:rPr sz="1725" b="0">
                <a:solidFill>
                  <a:srgbClr val="F6F8FC"/>
                </a:solidFill>
                <a:latin typeface="Arial"/>
                <a:ea typeface="Arial"/>
                <a:cs typeface="Arial"/>
              </a:rPr>
              <a:t>BREAK / CONTINUE and readable FOR output</a:t>
            </a:r>
          </a:p>
          <a:p xmlns:a="http://schemas.openxmlformats.org/drawingml/2006/main">
            <a:pPr>
              <a:defRPr sz="1725" b="0">
                <a:solidFill>
                  <a:srgbClr val="F6F8FC"/>
                </a:solidFill>
                <a:latin typeface="Arial"/>
                <a:ea typeface="Arial"/>
                <a:cs typeface="Arial"/>
              </a:defRPr>
            </a:pPr>
            <a:r>
              <a:rPr sz="1725" b="0">
                <a:solidFill>
                  <a:srgbClr val="F6F8FC"/>
                </a:solidFill>
                <a:latin typeface="Arial"/>
                <a:ea typeface="Arial"/>
                <a:cs typeface="Arial"/>
              </a:rPr>
              <a:t>Optional REQUIRE / ENSURE conditions</a:t>
            </a:r>
          </a:p>
          <a:p xmlns:a="http://schemas.openxmlformats.org/drawingml/2006/main">
            <a:pPr>
              <a:defRPr sz="1725" b="0">
                <a:solidFill>
                  <a:srgbClr val="F6F8FC"/>
                </a:solidFill>
                <a:latin typeface="Arial"/>
                <a:ea typeface="Arial"/>
                <a:cs typeface="Arial"/>
              </a:defRPr>
            </a:pPr>
            <a:r>
              <a:rPr sz="1725" b="0">
                <a:solidFill>
                  <a:srgbClr val="F6F8FC"/>
                </a:solidFill>
                <a:latin typeface="Arial"/>
                <a:ea typeface="Arial"/>
                <a:cs typeface="Arial"/>
              </a:rPr>
              <a:t>Automatic guards and clearer diagnostics</a:t>
            </a:r>
          </a:p>
          <a:p xmlns:a="http://schemas.openxmlformats.org/drawingml/2006/main">
            <a:pPr>
              <a:defRPr sz="1725" b="0">
                <a:solidFill>
                  <a:srgbClr val="F6F8FC"/>
                </a:solidFill>
                <a:latin typeface="Arial"/>
                <a:ea typeface="Arial"/>
                <a:cs typeface="Arial"/>
              </a:defRPr>
            </a:pPr>
            <a:r>
              <a:rPr sz="1725" b="0">
                <a:solidFill>
                  <a:srgbClr val="F6F8FC"/>
                </a:solidFill>
                <a:latin typeface="Arial"/>
                <a:ea typeface="Arial"/>
                <a:cs typeface="Arial"/>
              </a:rPr>
              <a:t>Stage-by-stage compiler output</a:t>
            </a:r>
          </a:p>
        </p:txBody>
      </p:sp>
      <p:sp>
        <p:nvSpPr>
          <p:cNvPr id="13" name="">
            <a:extLst xmlns:a="http://schemas.openxmlformats.org/drawingml/2006/main">
              <a:ext uri="{FF2B5EF4-FFF2-40B4-BE49-F238E27FC236}">
                <a16:creationId xmlns:a16="http://schemas.microsoft.com/office/drawing/2014/main" id="{3E2C72CA-4C48-4764-9525-4F5B8ADD84DE}"/>
              </a:ext>
            </a:extLst>
          </p:cNvPr>
          <p:cNvSpPr>
            <a:spLocks xmlns:a="http://schemas.openxmlformats.org/drawingml/2006/main" noGrp="1"/>
          </p:cNvSpPr>
          <p:nvPr/>
        </p:nvSpPr>
        <p:spPr>
          <a:xfrm xmlns:a="http://schemas.openxmlformats.org/drawingml/2006/main">
            <a:off x="590550" y="5238750"/>
            <a:ext cx="1095375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2D8219E-2576-4D02-9803-EE431212AAFA}"/>
              </a:ext>
            </a:extLst>
          </p:cNvPr>
          <p:cNvSpPr>
            <a:spLocks xmlns:a="http://schemas.openxmlformats.org/drawingml/2006/main" noGrp="1"/>
          </p:cNvSpPr>
          <p:nvPr/>
        </p:nvSpPr>
        <p:spPr>
          <a:xfrm xmlns:a="http://schemas.openxmlformats.org/drawingml/2006/main">
            <a:off x="647700" y="541020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20D5EA"/>
                </a:solidFill>
                <a:latin typeface="Arial"/>
                <a:ea typeface="Arial"/>
                <a:cs typeface="Arial"/>
              </a:defRPr>
            </a:defPPr>
          </a:lstStyle>
          <a:p xmlns:a="http://schemas.openxmlformats.org/drawingml/2006/main">
            <a:pPr>
              <a:defRPr sz="1725" b="1">
                <a:solidFill>
                  <a:srgbClr val="20D5EA"/>
                </a:solidFill>
                <a:latin typeface="Arial"/>
                <a:ea typeface="Arial"/>
                <a:cs typeface="Arial"/>
              </a:defRPr>
            </a:pPr>
            <a:r>
              <a:rPr sz="1725" b="1">
                <a:solidFill>
                  <a:srgbClr val="20D5EA"/>
                </a:solidFill>
                <a:latin typeface="Arial"/>
                <a:ea typeface="Arial"/>
                <a:cs typeface="Arial"/>
              </a:rPr>
              <a:t>Result: wider translation, targeted checks and repeatable validation.</a:t>
            </a:r>
          </a:p>
        </p:txBody>
      </p:sp>
    </p:spTree>
    <p:extLst>
      <p:ext uri="{BB962C8B-B14F-4D97-AF65-F5344CB8AC3E}">
        <p14:creationId xmlns:p14="http://schemas.microsoft.com/office/powerpoint/2010/main" val="1170879286"/>
      </p:ext>
    </p:extLst>
  </p:cSld>
</p:sld>
</file>

<file path=ppt/slides/slide4.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34B337E7-D527-4DC0-BC57-0D5851042762}"/>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D8F957F-18E9-4C80-B685-4FBEAF740529}"/>
              </a:ext>
            </a:extLst>
          </p:cNvPr>
          <p:cNvSpPr>
            <a:spLocks xmlns:a="http://schemas.openxmlformats.org/drawingml/2006/main" noGrp="1"/>
          </p:cNvSpPr>
          <p:nvPr/>
        </p:nvSpPr>
        <p:spPr>
          <a:xfrm xmlns:a="http://schemas.openxmlformats.org/drawingml/2006/main">
            <a:off x="571500" y="4095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F6F8FC"/>
                </a:solidFill>
                <a:latin typeface="Arial"/>
                <a:ea typeface="Arial"/>
                <a:cs typeface="Arial"/>
              </a:defRPr>
            </a:defPPr>
          </a:lstStyle>
          <a:p xmlns:a="http://schemas.openxmlformats.org/drawingml/2006/main">
            <a:pPr>
              <a:defRPr sz="3000" b="1">
                <a:solidFill>
                  <a:srgbClr val="F6F8FC"/>
                </a:solidFill>
                <a:latin typeface="Arial"/>
                <a:ea typeface="Arial"/>
                <a:cs typeface="Arial"/>
              </a:defRPr>
            </a:pPr>
            <a:r>
              <a:rPr sz="3000" b="1">
                <a:solidFill>
                  <a:srgbClr val="F6F8FC"/>
                </a:solidFill>
                <a:latin typeface="Arial"/>
                <a:ea typeface="Arial"/>
                <a:cs typeface="Arial"/>
              </a:rPr>
              <a:t>Complete compiler workflow</a:t>
            </a:r>
          </a:p>
        </p:txBody>
      </p:sp>
      <p:sp>
        <p:nvSpPr>
          <p:cNvPr id="3" name="">
            <a:extLst xmlns:a="http://schemas.openxmlformats.org/drawingml/2006/main">
              <a:ext uri="{FF2B5EF4-FFF2-40B4-BE49-F238E27FC236}">
                <a16:creationId xmlns:a16="http://schemas.microsoft.com/office/drawing/2014/main" id="{FCFE9DD7-DFC1-446C-B5B1-CF69C232D609}"/>
              </a:ext>
            </a:extLst>
          </p:cNvPr>
          <p:cNvSpPr>
            <a:spLocks xmlns:a="http://schemas.openxmlformats.org/drawingml/2006/main" noGrp="1"/>
          </p:cNvSpPr>
          <p:nvPr/>
        </p:nvSpPr>
        <p:spPr>
          <a:xfrm xmlns:a="http://schemas.openxmlformats.org/drawingml/2006/main">
            <a:off x="590550" y="9906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Each stage has its own module and a visible intermediate result.</a:t>
            </a:r>
          </a:p>
        </p:txBody>
      </p:sp>
      <p:sp>
        <p:nvSpPr>
          <p:cNvPr id="4" name="">
            <a:extLst xmlns:a="http://schemas.openxmlformats.org/drawingml/2006/main">
              <a:ext uri="{FF2B5EF4-FFF2-40B4-BE49-F238E27FC236}">
                <a16:creationId xmlns:a16="http://schemas.microsoft.com/office/drawing/2014/main" id="{AFBAED5C-FD21-4A6F-A503-E7FE35FE03FF}"/>
              </a:ext>
            </a:extLst>
          </p:cNvPr>
          <p:cNvSpPr>
            <a:spLocks xmlns:a="http://schemas.openxmlformats.org/drawingml/2006/main" noGrp="1"/>
          </p:cNvSpPr>
          <p:nvPr/>
        </p:nvSpPr>
        <p:spPr>
          <a:xfrm xmlns:a="http://schemas.openxmlformats.org/drawingml/2006/main">
            <a:off x="571500" y="6219825"/>
            <a:ext cx="110490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C22586-83DE-433E-BF98-21A0058A8959}"/>
              </a:ext>
            </a:extLst>
          </p:cNvPr>
          <p:cNvSpPr>
            <a:spLocks xmlns:a="http://schemas.openxmlformats.org/drawingml/2006/main" noGrp="1"/>
          </p:cNvSpPr>
          <p:nvPr/>
        </p:nvSpPr>
        <p:spPr>
          <a:xfrm xmlns:a="http://schemas.openxmlformats.org/drawingml/2006/main">
            <a:off x="571500" y="63627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AEBBD0"/>
                </a:solidFill>
                <a:latin typeface="Arial"/>
                <a:ea typeface="Arial"/>
                <a:cs typeface="Arial"/>
              </a:defRPr>
            </a:defPPr>
          </a:lstStyle>
          <a:p xmlns:a="http://schemas.openxmlformats.org/drawingml/2006/main">
            <a:pPr>
              <a:defRPr sz="1050" b="1">
                <a:solidFill>
                  <a:srgbClr val="AEBBD0"/>
                </a:solidFill>
                <a:latin typeface="Arial"/>
                <a:ea typeface="Arial"/>
                <a:cs typeface="Arial"/>
              </a:defRPr>
            </a:pPr>
            <a:r>
              <a:rPr sz="1050" b="1">
                <a:solidFill>
                  <a:srgbClr val="AEBBD0"/>
                </a:solidFill>
                <a:latin typeface="Arial"/>
                <a:ea typeface="Arial"/>
                <a:cs typeface="Arial"/>
              </a:rPr>
              <a:t>REVIEW 2  /  PSEUDOCODE TO C</a:t>
            </a:r>
          </a:p>
        </p:txBody>
      </p:sp>
      <p:sp>
        <p:nvSpPr>
          <p:cNvPr id="6" name="">
            <a:extLst xmlns:a="http://schemas.openxmlformats.org/drawingml/2006/main">
              <a:ext uri="{FF2B5EF4-FFF2-40B4-BE49-F238E27FC236}">
                <a16:creationId xmlns:a16="http://schemas.microsoft.com/office/drawing/2014/main" id="{E907A7F9-B753-46E6-98B1-99C869E5C655}"/>
              </a:ext>
            </a:extLst>
          </p:cNvPr>
          <p:cNvSpPr>
            <a:spLocks xmlns:a="http://schemas.openxmlformats.org/drawingml/2006/main" noGrp="1"/>
          </p:cNvSpPr>
          <p:nvPr/>
        </p:nvSpPr>
        <p:spPr>
          <a:xfrm xmlns:a="http://schemas.openxmlformats.org/drawingml/2006/main">
            <a:off x="10953750" y="636270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0D5EA"/>
                </a:solidFill>
                <a:latin typeface="Arial"/>
                <a:ea typeface="Arial"/>
                <a:cs typeface="Arial"/>
              </a:defRPr>
            </a:defPPr>
          </a:lstStyle>
          <a:p xmlns:a="http://schemas.openxmlformats.org/drawingml/2006/main">
            <a:pPr>
              <a:defRPr sz="1050" b="1">
                <a:solidFill>
                  <a:srgbClr val="20D5EA"/>
                </a:solidFill>
                <a:latin typeface="Arial"/>
                <a:ea typeface="Arial"/>
                <a:cs typeface="Arial"/>
              </a:defRPr>
            </a:pPr>
            <a:r>
              <a:rPr sz="1050" b="1">
                <a:solidFill>
                  <a:srgbClr val="20D5EA"/>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9FE4A973-028D-4A7D-9CE1-54D9B79FA1CC}"/>
              </a:ext>
            </a:extLst>
          </p:cNvPr>
          <p:cNvSpPr>
            <a:spLocks xmlns:a="http://schemas.openxmlformats.org/drawingml/2006/main" noGrp="1"/>
          </p:cNvSpPr>
          <p:nvPr/>
        </p:nvSpPr>
        <p:spPr>
          <a:xfrm xmlns:a="http://schemas.openxmlformats.org/drawingml/2006/main">
            <a:off x="638175" y="1762125"/>
            <a:ext cx="2476500" cy="1000125"/>
          </a:xfrm>
          <a:prstGeom xmlns:a="http://schemas.openxmlformats.org/drawingml/2006/main" prst="roundRect">
            <a:avLst>
              <a:gd name="adj" fmla="val 7619"/>
            </a:avLst>
          </a:prstGeom>
          <a:solidFill xmlns:a="http://schemas.openxmlformats.org/drawingml/2006/main">
            <a:srgbClr val="101B2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96ACF44-E28A-4A1B-9F88-DC9E7C817473}"/>
              </a:ext>
            </a:extLst>
          </p:cNvPr>
          <p:cNvSpPr>
            <a:spLocks xmlns:a="http://schemas.openxmlformats.org/drawingml/2006/main" noGrp="1"/>
          </p:cNvSpPr>
          <p:nvPr/>
        </p:nvSpPr>
        <p:spPr>
          <a:xfrm xmlns:a="http://schemas.openxmlformats.org/drawingml/2006/main">
            <a:off x="781050" y="18859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20D5EA"/>
                </a:solidFill>
                <a:latin typeface="Arial"/>
                <a:ea typeface="Arial"/>
                <a:cs typeface="Arial"/>
              </a:defRPr>
            </a:defPPr>
          </a:lstStyle>
          <a:p xmlns:a="http://schemas.openxmlformats.org/drawingml/2006/main">
            <a:pPr>
              <a:defRPr sz="1575" b="1">
                <a:solidFill>
                  <a:srgbClr val="20D5EA"/>
                </a:solidFill>
                <a:latin typeface="Arial"/>
                <a:ea typeface="Arial"/>
                <a:cs typeface="Arial"/>
              </a:defRPr>
            </a:pPr>
            <a:r>
              <a:rPr sz="1575" b="1">
                <a:solidFill>
                  <a:srgbClr val="20D5EA"/>
                </a:solidFill>
                <a:latin typeface="Arial"/>
                <a:ea typeface="Arial"/>
                <a:cs typeface="Arial"/>
              </a:rPr>
              <a:t>1  SOURCE</a:t>
            </a:r>
          </a:p>
        </p:txBody>
      </p:sp>
      <p:sp>
        <p:nvSpPr>
          <p:cNvPr id="9" name="">
            <a:extLst xmlns:a="http://schemas.openxmlformats.org/drawingml/2006/main">
              <a:ext uri="{FF2B5EF4-FFF2-40B4-BE49-F238E27FC236}">
                <a16:creationId xmlns:a16="http://schemas.microsoft.com/office/drawing/2014/main" id="{4479063B-1A52-47DA-A146-4D1E401FB827}"/>
              </a:ext>
            </a:extLst>
          </p:cNvPr>
          <p:cNvSpPr>
            <a:spLocks xmlns:a="http://schemas.openxmlformats.org/drawingml/2006/main" noGrp="1"/>
          </p:cNvSpPr>
          <p:nvPr/>
        </p:nvSpPr>
        <p:spPr>
          <a:xfrm xmlns:a="http://schemas.openxmlformats.org/drawingml/2006/main">
            <a:off x="781050" y="23336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AEBBD0"/>
                </a:solidFill>
                <a:latin typeface="Arial"/>
                <a:ea typeface="Arial"/>
                <a:cs typeface="Arial"/>
              </a:defRPr>
            </a:defPPr>
          </a:lstStyle>
          <a:p xmlns:a="http://schemas.openxmlformats.org/drawingml/2006/main">
            <a:pPr>
              <a:defRPr sz="1350" b="0">
                <a:solidFill>
                  <a:srgbClr val="AEBBD0"/>
                </a:solidFill>
                <a:latin typeface="Arial"/>
                <a:ea typeface="Arial"/>
                <a:cs typeface="Arial"/>
              </a:defRPr>
            </a:pPr>
            <a:r>
              <a:rPr sz="1350" b="0">
                <a:solidFill>
                  <a:srgbClr val="AEBBD0"/>
                </a:solidFill>
                <a:latin typeface="Arial"/>
                <a:ea typeface="Arial"/>
                <a:cs typeface="Arial"/>
              </a:rPr>
              <a:t>main.py</a:t>
            </a:r>
          </a:p>
        </p:txBody>
      </p:sp>
      <p:sp>
        <p:nvSpPr>
          <p:cNvPr id="10" name="">
            <a:extLst xmlns:a="http://schemas.openxmlformats.org/drawingml/2006/main">
              <a:ext uri="{FF2B5EF4-FFF2-40B4-BE49-F238E27FC236}">
                <a16:creationId xmlns:a16="http://schemas.microsoft.com/office/drawing/2014/main" id="{CCC82909-78A0-4410-8C9F-B7194BF0C7C3}"/>
              </a:ext>
            </a:extLst>
          </p:cNvPr>
          <p:cNvSpPr>
            <a:spLocks xmlns:a="http://schemas.openxmlformats.org/drawingml/2006/main" noGrp="1"/>
          </p:cNvSpPr>
          <p:nvPr/>
        </p:nvSpPr>
        <p:spPr>
          <a:xfrm xmlns:a="http://schemas.openxmlformats.org/drawingml/2006/main">
            <a:off x="3143250" y="2095500"/>
            <a:ext cx="2952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4C82FF"/>
                </a:solidFill>
                <a:latin typeface="Arial"/>
                <a:ea typeface="Arial"/>
                <a:cs typeface="Arial"/>
              </a:defRPr>
            </a:defPPr>
          </a:lstStyle>
          <a:p xmlns:a="http://schemas.openxmlformats.org/drawingml/2006/main">
            <a:pPr>
              <a:defRPr sz="2025" b="1">
                <a:solidFill>
                  <a:srgbClr val="4C82FF"/>
                </a:solidFill>
                <a:latin typeface="Arial"/>
                <a:ea typeface="Arial"/>
                <a:cs typeface="Arial"/>
              </a:defRPr>
            </a:pPr>
            <a:r>
              <a:rPr sz="2025" b="1">
                <a:solidFill>
                  <a:srgbClr val="4C82F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40EA58C9-BA09-4C98-A385-FEBDC62A7E65}"/>
              </a:ext>
            </a:extLst>
          </p:cNvPr>
          <p:cNvSpPr>
            <a:spLocks xmlns:a="http://schemas.openxmlformats.org/drawingml/2006/main" noGrp="1"/>
          </p:cNvSpPr>
          <p:nvPr/>
        </p:nvSpPr>
        <p:spPr>
          <a:xfrm xmlns:a="http://schemas.openxmlformats.org/drawingml/2006/main">
            <a:off x="3448050" y="1762125"/>
            <a:ext cx="2476500" cy="1000125"/>
          </a:xfrm>
          <a:prstGeom xmlns:a="http://schemas.openxmlformats.org/drawingml/2006/main" prst="roundRect">
            <a:avLst>
              <a:gd name="adj" fmla="val 7619"/>
            </a:avLst>
          </a:prstGeom>
          <a:solidFill xmlns:a="http://schemas.openxmlformats.org/drawingml/2006/main">
            <a:srgbClr val="101B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D07CB4F-A005-4022-8EB6-E25DB6DC1830}"/>
              </a:ext>
            </a:extLst>
          </p:cNvPr>
          <p:cNvSpPr>
            <a:spLocks xmlns:a="http://schemas.openxmlformats.org/drawingml/2006/main" noGrp="1"/>
          </p:cNvSpPr>
          <p:nvPr/>
        </p:nvSpPr>
        <p:spPr>
          <a:xfrm xmlns:a="http://schemas.openxmlformats.org/drawingml/2006/main">
            <a:off x="3590925" y="18859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20D5EA"/>
                </a:solidFill>
                <a:latin typeface="Arial"/>
                <a:ea typeface="Arial"/>
                <a:cs typeface="Arial"/>
              </a:defRPr>
            </a:defPPr>
          </a:lstStyle>
          <a:p xmlns:a="http://schemas.openxmlformats.org/drawingml/2006/main">
            <a:pPr>
              <a:defRPr sz="1575" b="1">
                <a:solidFill>
                  <a:srgbClr val="20D5EA"/>
                </a:solidFill>
                <a:latin typeface="Arial"/>
                <a:ea typeface="Arial"/>
                <a:cs typeface="Arial"/>
              </a:defRPr>
            </a:pPr>
            <a:r>
              <a:rPr sz="1575" b="1">
                <a:solidFill>
                  <a:srgbClr val="20D5EA"/>
                </a:solidFill>
                <a:latin typeface="Arial"/>
                <a:ea typeface="Arial"/>
                <a:cs typeface="Arial"/>
              </a:rPr>
              <a:t>2  TOKENS</a:t>
            </a:r>
          </a:p>
        </p:txBody>
      </p:sp>
      <p:sp>
        <p:nvSpPr>
          <p:cNvPr id="13" name="">
            <a:extLst xmlns:a="http://schemas.openxmlformats.org/drawingml/2006/main">
              <a:ext uri="{FF2B5EF4-FFF2-40B4-BE49-F238E27FC236}">
                <a16:creationId xmlns:a16="http://schemas.microsoft.com/office/drawing/2014/main" id="{7CECD349-125A-48D7-AED0-782F93C4DE64}"/>
              </a:ext>
            </a:extLst>
          </p:cNvPr>
          <p:cNvSpPr>
            <a:spLocks xmlns:a="http://schemas.openxmlformats.org/drawingml/2006/main" noGrp="1"/>
          </p:cNvSpPr>
          <p:nvPr/>
        </p:nvSpPr>
        <p:spPr>
          <a:xfrm xmlns:a="http://schemas.openxmlformats.org/drawingml/2006/main">
            <a:off x="3590925" y="23336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AEBBD0"/>
                </a:solidFill>
                <a:latin typeface="Arial"/>
                <a:ea typeface="Arial"/>
                <a:cs typeface="Arial"/>
              </a:defRPr>
            </a:defPPr>
          </a:lstStyle>
          <a:p xmlns:a="http://schemas.openxmlformats.org/drawingml/2006/main">
            <a:pPr>
              <a:defRPr sz="1350" b="0">
                <a:solidFill>
                  <a:srgbClr val="AEBBD0"/>
                </a:solidFill>
                <a:latin typeface="Arial"/>
                <a:ea typeface="Arial"/>
                <a:cs typeface="Arial"/>
              </a:defRPr>
            </a:pPr>
            <a:r>
              <a:rPr sz="1350" b="0">
                <a:solidFill>
                  <a:srgbClr val="AEBBD0"/>
                </a:solidFill>
                <a:latin typeface="Arial"/>
                <a:ea typeface="Arial"/>
                <a:cs typeface="Arial"/>
              </a:rPr>
              <a:t>lexer.py</a:t>
            </a:r>
          </a:p>
        </p:txBody>
      </p:sp>
      <p:sp>
        <p:nvSpPr>
          <p:cNvPr id="14" name="">
            <a:extLst xmlns:a="http://schemas.openxmlformats.org/drawingml/2006/main">
              <a:ext uri="{FF2B5EF4-FFF2-40B4-BE49-F238E27FC236}">
                <a16:creationId xmlns:a16="http://schemas.microsoft.com/office/drawing/2014/main" id="{4C6D0840-4157-4095-A7FE-00F4ECDEE6BF}"/>
              </a:ext>
            </a:extLst>
          </p:cNvPr>
          <p:cNvSpPr>
            <a:spLocks xmlns:a="http://schemas.openxmlformats.org/drawingml/2006/main" noGrp="1"/>
          </p:cNvSpPr>
          <p:nvPr/>
        </p:nvSpPr>
        <p:spPr>
          <a:xfrm xmlns:a="http://schemas.openxmlformats.org/drawingml/2006/main">
            <a:off x="5953125" y="2095500"/>
            <a:ext cx="2952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4C82FF"/>
                </a:solidFill>
                <a:latin typeface="Arial"/>
                <a:ea typeface="Arial"/>
                <a:cs typeface="Arial"/>
              </a:defRPr>
            </a:defPPr>
          </a:lstStyle>
          <a:p xmlns:a="http://schemas.openxmlformats.org/drawingml/2006/main">
            <a:pPr>
              <a:defRPr sz="2025" b="1">
                <a:solidFill>
                  <a:srgbClr val="4C82FF"/>
                </a:solidFill>
                <a:latin typeface="Arial"/>
                <a:ea typeface="Arial"/>
                <a:cs typeface="Arial"/>
              </a:defRPr>
            </a:pPr>
            <a:r>
              <a:rPr sz="2025" b="1">
                <a:solidFill>
                  <a:srgbClr val="4C82F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60EF1C8D-5549-4B11-846C-E193A058B92B}"/>
              </a:ext>
            </a:extLst>
          </p:cNvPr>
          <p:cNvSpPr>
            <a:spLocks xmlns:a="http://schemas.openxmlformats.org/drawingml/2006/main" noGrp="1"/>
          </p:cNvSpPr>
          <p:nvPr/>
        </p:nvSpPr>
        <p:spPr>
          <a:xfrm xmlns:a="http://schemas.openxmlformats.org/drawingml/2006/main">
            <a:off x="6257925" y="1762125"/>
            <a:ext cx="2476500" cy="1000125"/>
          </a:xfrm>
          <a:prstGeom xmlns:a="http://schemas.openxmlformats.org/drawingml/2006/main" prst="roundRect">
            <a:avLst>
              <a:gd name="adj" fmla="val 7619"/>
            </a:avLst>
          </a:prstGeom>
          <a:solidFill xmlns:a="http://schemas.openxmlformats.org/drawingml/2006/main">
            <a:srgbClr val="101B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E52C1B7-3145-46C2-B5D2-BCF6E9E118EC}"/>
              </a:ext>
            </a:extLst>
          </p:cNvPr>
          <p:cNvSpPr>
            <a:spLocks xmlns:a="http://schemas.openxmlformats.org/drawingml/2006/main" noGrp="1"/>
          </p:cNvSpPr>
          <p:nvPr/>
        </p:nvSpPr>
        <p:spPr>
          <a:xfrm xmlns:a="http://schemas.openxmlformats.org/drawingml/2006/main">
            <a:off x="6400800" y="18859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20D5EA"/>
                </a:solidFill>
                <a:latin typeface="Arial"/>
                <a:ea typeface="Arial"/>
                <a:cs typeface="Arial"/>
              </a:defRPr>
            </a:defPPr>
          </a:lstStyle>
          <a:p xmlns:a="http://schemas.openxmlformats.org/drawingml/2006/main">
            <a:pPr>
              <a:defRPr sz="1575" b="1">
                <a:solidFill>
                  <a:srgbClr val="20D5EA"/>
                </a:solidFill>
                <a:latin typeface="Arial"/>
                <a:ea typeface="Arial"/>
                <a:cs typeface="Arial"/>
              </a:defRPr>
            </a:pPr>
            <a:r>
              <a:rPr sz="1575" b="1">
                <a:solidFill>
                  <a:srgbClr val="20D5EA"/>
                </a:solidFill>
                <a:latin typeface="Arial"/>
                <a:ea typeface="Arial"/>
                <a:cs typeface="Arial"/>
              </a:rPr>
              <a:t>3  AST</a:t>
            </a:r>
          </a:p>
        </p:txBody>
      </p:sp>
      <p:sp>
        <p:nvSpPr>
          <p:cNvPr id="17" name="">
            <a:extLst xmlns:a="http://schemas.openxmlformats.org/drawingml/2006/main">
              <a:ext uri="{FF2B5EF4-FFF2-40B4-BE49-F238E27FC236}">
                <a16:creationId xmlns:a16="http://schemas.microsoft.com/office/drawing/2014/main" id="{F139261B-2A0B-44A0-BBDE-448918AA55F8}"/>
              </a:ext>
            </a:extLst>
          </p:cNvPr>
          <p:cNvSpPr>
            <a:spLocks xmlns:a="http://schemas.openxmlformats.org/drawingml/2006/main" noGrp="1"/>
          </p:cNvSpPr>
          <p:nvPr/>
        </p:nvSpPr>
        <p:spPr>
          <a:xfrm xmlns:a="http://schemas.openxmlformats.org/drawingml/2006/main">
            <a:off x="6400800" y="23336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AEBBD0"/>
                </a:solidFill>
                <a:latin typeface="Arial"/>
                <a:ea typeface="Arial"/>
                <a:cs typeface="Arial"/>
              </a:defRPr>
            </a:defPPr>
          </a:lstStyle>
          <a:p xmlns:a="http://schemas.openxmlformats.org/drawingml/2006/main">
            <a:pPr>
              <a:defRPr sz="1350" b="0">
                <a:solidFill>
                  <a:srgbClr val="AEBBD0"/>
                </a:solidFill>
                <a:latin typeface="Arial"/>
                <a:ea typeface="Arial"/>
                <a:cs typeface="Arial"/>
              </a:defRPr>
            </a:pPr>
            <a:r>
              <a:rPr sz="1350" b="0">
                <a:solidFill>
                  <a:srgbClr val="AEBBD0"/>
                </a:solidFill>
                <a:latin typeface="Arial"/>
                <a:ea typeface="Arial"/>
                <a:cs typeface="Arial"/>
              </a:rPr>
              <a:t>parser.py</a:t>
            </a:r>
          </a:p>
        </p:txBody>
      </p:sp>
      <p:sp>
        <p:nvSpPr>
          <p:cNvPr id="18" name="">
            <a:extLst xmlns:a="http://schemas.openxmlformats.org/drawingml/2006/main">
              <a:ext uri="{FF2B5EF4-FFF2-40B4-BE49-F238E27FC236}">
                <a16:creationId xmlns:a16="http://schemas.microsoft.com/office/drawing/2014/main" id="{C623713A-6440-42A1-A3E4-8642B3F506CB}"/>
              </a:ext>
            </a:extLst>
          </p:cNvPr>
          <p:cNvSpPr>
            <a:spLocks xmlns:a="http://schemas.openxmlformats.org/drawingml/2006/main" noGrp="1"/>
          </p:cNvSpPr>
          <p:nvPr/>
        </p:nvSpPr>
        <p:spPr>
          <a:xfrm xmlns:a="http://schemas.openxmlformats.org/drawingml/2006/main">
            <a:off x="8763000" y="2095500"/>
            <a:ext cx="2952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4C82FF"/>
                </a:solidFill>
                <a:latin typeface="Arial"/>
                <a:ea typeface="Arial"/>
                <a:cs typeface="Arial"/>
              </a:defRPr>
            </a:defPPr>
          </a:lstStyle>
          <a:p xmlns:a="http://schemas.openxmlformats.org/drawingml/2006/main">
            <a:pPr>
              <a:defRPr sz="2025" b="1">
                <a:solidFill>
                  <a:srgbClr val="4C82FF"/>
                </a:solidFill>
                <a:latin typeface="Arial"/>
                <a:ea typeface="Arial"/>
                <a:cs typeface="Arial"/>
              </a:defRPr>
            </a:pPr>
            <a:r>
              <a:rPr sz="2025" b="1">
                <a:solidFill>
                  <a:srgbClr val="4C82F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3B6EA14B-4DF8-433B-8993-DB638217D439}"/>
              </a:ext>
            </a:extLst>
          </p:cNvPr>
          <p:cNvSpPr>
            <a:spLocks xmlns:a="http://schemas.openxmlformats.org/drawingml/2006/main" noGrp="1"/>
          </p:cNvSpPr>
          <p:nvPr/>
        </p:nvSpPr>
        <p:spPr>
          <a:xfrm xmlns:a="http://schemas.openxmlformats.org/drawingml/2006/main">
            <a:off x="9067800" y="1762125"/>
            <a:ext cx="2476500" cy="1000125"/>
          </a:xfrm>
          <a:prstGeom xmlns:a="http://schemas.openxmlformats.org/drawingml/2006/main" prst="roundRect">
            <a:avLst>
              <a:gd name="adj" fmla="val 7619"/>
            </a:avLst>
          </a:prstGeom>
          <a:solidFill xmlns:a="http://schemas.openxmlformats.org/drawingml/2006/main">
            <a:srgbClr val="101B2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181412A-3AB2-4D09-9001-70AA91F5D1B0}"/>
              </a:ext>
            </a:extLst>
          </p:cNvPr>
          <p:cNvSpPr>
            <a:spLocks xmlns:a="http://schemas.openxmlformats.org/drawingml/2006/main" noGrp="1"/>
          </p:cNvSpPr>
          <p:nvPr/>
        </p:nvSpPr>
        <p:spPr>
          <a:xfrm xmlns:a="http://schemas.openxmlformats.org/drawingml/2006/main">
            <a:off x="9210675" y="18859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20D5EA"/>
                </a:solidFill>
                <a:latin typeface="Arial"/>
                <a:ea typeface="Arial"/>
                <a:cs typeface="Arial"/>
              </a:defRPr>
            </a:defPPr>
          </a:lstStyle>
          <a:p xmlns:a="http://schemas.openxmlformats.org/drawingml/2006/main">
            <a:pPr>
              <a:defRPr sz="1575" b="1">
                <a:solidFill>
                  <a:srgbClr val="20D5EA"/>
                </a:solidFill>
                <a:latin typeface="Arial"/>
                <a:ea typeface="Arial"/>
                <a:cs typeface="Arial"/>
              </a:defRPr>
            </a:pPr>
            <a:r>
              <a:rPr sz="1575" b="1">
                <a:solidFill>
                  <a:srgbClr val="20D5EA"/>
                </a:solidFill>
                <a:latin typeface="Arial"/>
                <a:ea typeface="Arial"/>
                <a:cs typeface="Arial"/>
              </a:rPr>
              <a:t>4  CHECKS</a:t>
            </a:r>
          </a:p>
        </p:txBody>
      </p:sp>
      <p:sp>
        <p:nvSpPr>
          <p:cNvPr id="21" name="">
            <a:extLst xmlns:a="http://schemas.openxmlformats.org/drawingml/2006/main">
              <a:ext uri="{FF2B5EF4-FFF2-40B4-BE49-F238E27FC236}">
                <a16:creationId xmlns:a16="http://schemas.microsoft.com/office/drawing/2014/main" id="{B4EBB384-399D-4C3E-BF97-3D9A634A9B57}"/>
              </a:ext>
            </a:extLst>
          </p:cNvPr>
          <p:cNvSpPr>
            <a:spLocks xmlns:a="http://schemas.openxmlformats.org/drawingml/2006/main" noGrp="1"/>
          </p:cNvSpPr>
          <p:nvPr/>
        </p:nvSpPr>
        <p:spPr>
          <a:xfrm xmlns:a="http://schemas.openxmlformats.org/drawingml/2006/main">
            <a:off x="9210675" y="23336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AEBBD0"/>
                </a:solidFill>
                <a:latin typeface="Arial"/>
                <a:ea typeface="Arial"/>
                <a:cs typeface="Arial"/>
              </a:defRPr>
            </a:defPPr>
          </a:lstStyle>
          <a:p xmlns:a="http://schemas.openxmlformats.org/drawingml/2006/main">
            <a:pPr>
              <a:defRPr sz="1350" b="0">
                <a:solidFill>
                  <a:srgbClr val="AEBBD0"/>
                </a:solidFill>
                <a:latin typeface="Arial"/>
                <a:ea typeface="Arial"/>
                <a:cs typeface="Arial"/>
              </a:defRPr>
            </a:pPr>
            <a:r>
              <a:rPr sz="1350" b="0">
                <a:solidFill>
                  <a:srgbClr val="AEBBD0"/>
                </a:solidFill>
                <a:latin typeface="Arial"/>
                <a:ea typeface="Arial"/>
                <a:cs typeface="Arial"/>
              </a:rPr>
              <a:t>semantic.py</a:t>
            </a:r>
          </a:p>
        </p:txBody>
      </p:sp>
      <p:sp>
        <p:nvSpPr>
          <p:cNvPr id="22" name="">
            <a:extLst xmlns:a="http://schemas.openxmlformats.org/drawingml/2006/main">
              <a:ext uri="{FF2B5EF4-FFF2-40B4-BE49-F238E27FC236}">
                <a16:creationId xmlns:a16="http://schemas.microsoft.com/office/drawing/2014/main" id="{006825CC-77D2-4CEB-B5B0-0D70A186BF1F}"/>
              </a:ext>
            </a:extLst>
          </p:cNvPr>
          <p:cNvSpPr>
            <a:spLocks xmlns:a="http://schemas.openxmlformats.org/drawingml/2006/main" noGrp="1"/>
          </p:cNvSpPr>
          <p:nvPr/>
        </p:nvSpPr>
        <p:spPr>
          <a:xfrm xmlns:a="http://schemas.openxmlformats.org/drawingml/2006/main">
            <a:off x="638175" y="3381375"/>
            <a:ext cx="2476500" cy="1000125"/>
          </a:xfrm>
          <a:prstGeom xmlns:a="http://schemas.openxmlformats.org/drawingml/2006/main" prst="roundRect">
            <a:avLst>
              <a:gd name="adj" fmla="val 7619"/>
            </a:avLst>
          </a:prstGeom>
          <a:solidFill xmlns:a="http://schemas.openxmlformats.org/drawingml/2006/main">
            <a:srgbClr val="101B2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A153B95-EECD-4E0A-B63F-E41DEA0F4BC4}"/>
              </a:ext>
            </a:extLst>
          </p:cNvPr>
          <p:cNvSpPr>
            <a:spLocks xmlns:a="http://schemas.openxmlformats.org/drawingml/2006/main" noGrp="1"/>
          </p:cNvSpPr>
          <p:nvPr/>
        </p:nvSpPr>
        <p:spPr>
          <a:xfrm xmlns:a="http://schemas.openxmlformats.org/drawingml/2006/main">
            <a:off x="781050" y="350520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20D5EA"/>
                </a:solidFill>
                <a:latin typeface="Arial"/>
                <a:ea typeface="Arial"/>
                <a:cs typeface="Arial"/>
              </a:defRPr>
            </a:defPPr>
          </a:lstStyle>
          <a:p xmlns:a="http://schemas.openxmlformats.org/drawingml/2006/main">
            <a:pPr>
              <a:defRPr sz="1575" b="1">
                <a:solidFill>
                  <a:srgbClr val="20D5EA"/>
                </a:solidFill>
                <a:latin typeface="Arial"/>
                <a:ea typeface="Arial"/>
                <a:cs typeface="Arial"/>
              </a:defRPr>
            </a:pPr>
            <a:r>
              <a:rPr sz="1575" b="1">
                <a:solidFill>
                  <a:srgbClr val="20D5EA"/>
                </a:solidFill>
                <a:latin typeface="Arial"/>
                <a:ea typeface="Arial"/>
                <a:cs typeface="Arial"/>
              </a:rPr>
              <a:t>5  IR</a:t>
            </a:r>
          </a:p>
        </p:txBody>
      </p:sp>
      <p:sp>
        <p:nvSpPr>
          <p:cNvPr id="24" name="">
            <a:extLst xmlns:a="http://schemas.openxmlformats.org/drawingml/2006/main">
              <a:ext uri="{FF2B5EF4-FFF2-40B4-BE49-F238E27FC236}">
                <a16:creationId xmlns:a16="http://schemas.microsoft.com/office/drawing/2014/main" id="{DAF9B6D1-E4E3-4296-B00A-63B3137795A2}"/>
              </a:ext>
            </a:extLst>
          </p:cNvPr>
          <p:cNvSpPr>
            <a:spLocks xmlns:a="http://schemas.openxmlformats.org/drawingml/2006/main" noGrp="1"/>
          </p:cNvSpPr>
          <p:nvPr/>
        </p:nvSpPr>
        <p:spPr>
          <a:xfrm xmlns:a="http://schemas.openxmlformats.org/drawingml/2006/main">
            <a:off x="781050" y="395287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AEBBD0"/>
                </a:solidFill>
                <a:latin typeface="Arial"/>
                <a:ea typeface="Arial"/>
                <a:cs typeface="Arial"/>
              </a:defRPr>
            </a:defPPr>
          </a:lstStyle>
          <a:p xmlns:a="http://schemas.openxmlformats.org/drawingml/2006/main">
            <a:pPr>
              <a:defRPr sz="1350" b="0">
                <a:solidFill>
                  <a:srgbClr val="AEBBD0"/>
                </a:solidFill>
                <a:latin typeface="Arial"/>
                <a:ea typeface="Arial"/>
                <a:cs typeface="Arial"/>
              </a:defRPr>
            </a:pPr>
            <a:r>
              <a:rPr sz="1350" b="0">
                <a:solidFill>
                  <a:srgbClr val="AEBBD0"/>
                </a:solidFill>
                <a:latin typeface="Arial"/>
                <a:ea typeface="Arial"/>
                <a:cs typeface="Arial"/>
              </a:rPr>
              <a:t>ir.py</a:t>
            </a:r>
          </a:p>
        </p:txBody>
      </p:sp>
      <p:sp>
        <p:nvSpPr>
          <p:cNvPr id="25" name="">
            <a:extLst xmlns:a="http://schemas.openxmlformats.org/drawingml/2006/main">
              <a:ext uri="{FF2B5EF4-FFF2-40B4-BE49-F238E27FC236}">
                <a16:creationId xmlns:a16="http://schemas.microsoft.com/office/drawing/2014/main" id="{6EAD9DA6-0726-46A0-B014-97877250962E}"/>
              </a:ext>
            </a:extLst>
          </p:cNvPr>
          <p:cNvSpPr>
            <a:spLocks xmlns:a="http://schemas.openxmlformats.org/drawingml/2006/main" noGrp="1"/>
          </p:cNvSpPr>
          <p:nvPr/>
        </p:nvSpPr>
        <p:spPr>
          <a:xfrm xmlns:a="http://schemas.openxmlformats.org/drawingml/2006/main">
            <a:off x="3143250" y="3714750"/>
            <a:ext cx="2952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4C82FF"/>
                </a:solidFill>
                <a:latin typeface="Arial"/>
                <a:ea typeface="Arial"/>
                <a:cs typeface="Arial"/>
              </a:defRPr>
            </a:defPPr>
          </a:lstStyle>
          <a:p xmlns:a="http://schemas.openxmlformats.org/drawingml/2006/main">
            <a:pPr>
              <a:defRPr sz="2025" b="1">
                <a:solidFill>
                  <a:srgbClr val="4C82FF"/>
                </a:solidFill>
                <a:latin typeface="Arial"/>
                <a:ea typeface="Arial"/>
                <a:cs typeface="Arial"/>
              </a:defRPr>
            </a:pPr>
            <a:r>
              <a:rPr sz="2025" b="1">
                <a:solidFill>
                  <a:srgbClr val="4C82FF"/>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CDC94D25-7198-4E4D-BC8E-2A8B4D81219F}"/>
              </a:ext>
            </a:extLst>
          </p:cNvPr>
          <p:cNvSpPr>
            <a:spLocks xmlns:a="http://schemas.openxmlformats.org/drawingml/2006/main" noGrp="1"/>
          </p:cNvSpPr>
          <p:nvPr/>
        </p:nvSpPr>
        <p:spPr>
          <a:xfrm xmlns:a="http://schemas.openxmlformats.org/drawingml/2006/main">
            <a:off x="3448050" y="3381375"/>
            <a:ext cx="2476500" cy="1000125"/>
          </a:xfrm>
          <a:prstGeom xmlns:a="http://schemas.openxmlformats.org/drawingml/2006/main" prst="roundRect">
            <a:avLst>
              <a:gd name="adj" fmla="val 7619"/>
            </a:avLst>
          </a:prstGeom>
          <a:solidFill xmlns:a="http://schemas.openxmlformats.org/drawingml/2006/main">
            <a:srgbClr val="101B2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0085B63-1A8D-4734-A4AA-3368B2FAA1CC}"/>
              </a:ext>
            </a:extLst>
          </p:cNvPr>
          <p:cNvSpPr>
            <a:spLocks xmlns:a="http://schemas.openxmlformats.org/drawingml/2006/main" noGrp="1"/>
          </p:cNvSpPr>
          <p:nvPr/>
        </p:nvSpPr>
        <p:spPr>
          <a:xfrm xmlns:a="http://schemas.openxmlformats.org/drawingml/2006/main">
            <a:off x="3590925" y="350520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20D5EA"/>
                </a:solidFill>
                <a:latin typeface="Arial"/>
                <a:ea typeface="Arial"/>
                <a:cs typeface="Arial"/>
              </a:defRPr>
            </a:defPPr>
          </a:lstStyle>
          <a:p xmlns:a="http://schemas.openxmlformats.org/drawingml/2006/main">
            <a:pPr>
              <a:defRPr sz="1575" b="1">
                <a:solidFill>
                  <a:srgbClr val="20D5EA"/>
                </a:solidFill>
                <a:latin typeface="Arial"/>
                <a:ea typeface="Arial"/>
                <a:cs typeface="Arial"/>
              </a:defRPr>
            </a:pPr>
            <a:r>
              <a:rPr sz="1575" b="1">
                <a:solidFill>
                  <a:srgbClr val="20D5EA"/>
                </a:solidFill>
                <a:latin typeface="Arial"/>
                <a:ea typeface="Arial"/>
                <a:cs typeface="Arial"/>
              </a:rPr>
              <a:t>6  OPTIMIZED IR</a:t>
            </a:r>
          </a:p>
        </p:txBody>
      </p:sp>
      <p:sp>
        <p:nvSpPr>
          <p:cNvPr id="28" name="">
            <a:extLst xmlns:a="http://schemas.openxmlformats.org/drawingml/2006/main">
              <a:ext uri="{FF2B5EF4-FFF2-40B4-BE49-F238E27FC236}">
                <a16:creationId xmlns:a16="http://schemas.microsoft.com/office/drawing/2014/main" id="{36260D02-B47D-4CF0-95C7-5E04E293D7AE}"/>
              </a:ext>
            </a:extLst>
          </p:cNvPr>
          <p:cNvSpPr>
            <a:spLocks xmlns:a="http://schemas.openxmlformats.org/drawingml/2006/main" noGrp="1"/>
          </p:cNvSpPr>
          <p:nvPr/>
        </p:nvSpPr>
        <p:spPr>
          <a:xfrm xmlns:a="http://schemas.openxmlformats.org/drawingml/2006/main">
            <a:off x="3590925" y="395287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AEBBD0"/>
                </a:solidFill>
                <a:latin typeface="Arial"/>
                <a:ea typeface="Arial"/>
                <a:cs typeface="Arial"/>
              </a:defRPr>
            </a:defPPr>
          </a:lstStyle>
          <a:p xmlns:a="http://schemas.openxmlformats.org/drawingml/2006/main">
            <a:pPr>
              <a:defRPr sz="1350" b="0">
                <a:solidFill>
                  <a:srgbClr val="AEBBD0"/>
                </a:solidFill>
                <a:latin typeface="Arial"/>
                <a:ea typeface="Arial"/>
                <a:cs typeface="Arial"/>
              </a:defRPr>
            </a:pPr>
            <a:r>
              <a:rPr sz="1350" b="0">
                <a:solidFill>
                  <a:srgbClr val="AEBBD0"/>
                </a:solidFill>
                <a:latin typeface="Arial"/>
                <a:ea typeface="Arial"/>
                <a:cs typeface="Arial"/>
              </a:rPr>
              <a:t>optimizer.py</a:t>
            </a:r>
          </a:p>
        </p:txBody>
      </p:sp>
      <p:sp>
        <p:nvSpPr>
          <p:cNvPr id="29" name="">
            <a:extLst xmlns:a="http://schemas.openxmlformats.org/drawingml/2006/main">
              <a:ext uri="{FF2B5EF4-FFF2-40B4-BE49-F238E27FC236}">
                <a16:creationId xmlns:a16="http://schemas.microsoft.com/office/drawing/2014/main" id="{29B083B7-3BCE-4AEC-A54D-0BC3766A4AB2}"/>
              </a:ext>
            </a:extLst>
          </p:cNvPr>
          <p:cNvSpPr>
            <a:spLocks xmlns:a="http://schemas.openxmlformats.org/drawingml/2006/main" noGrp="1"/>
          </p:cNvSpPr>
          <p:nvPr/>
        </p:nvSpPr>
        <p:spPr>
          <a:xfrm xmlns:a="http://schemas.openxmlformats.org/drawingml/2006/main">
            <a:off x="5953125" y="3714750"/>
            <a:ext cx="2952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4C82FF"/>
                </a:solidFill>
                <a:latin typeface="Arial"/>
                <a:ea typeface="Arial"/>
                <a:cs typeface="Arial"/>
              </a:defRPr>
            </a:defPPr>
          </a:lstStyle>
          <a:p xmlns:a="http://schemas.openxmlformats.org/drawingml/2006/main">
            <a:pPr>
              <a:defRPr sz="2025" b="1">
                <a:solidFill>
                  <a:srgbClr val="4C82FF"/>
                </a:solidFill>
                <a:latin typeface="Arial"/>
                <a:ea typeface="Arial"/>
                <a:cs typeface="Arial"/>
              </a:defRPr>
            </a:pPr>
            <a:r>
              <a:rPr sz="2025" b="1">
                <a:solidFill>
                  <a:srgbClr val="4C82FF"/>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557BA3D4-1680-4258-926F-6798743DEF29}"/>
              </a:ext>
            </a:extLst>
          </p:cNvPr>
          <p:cNvSpPr>
            <a:spLocks xmlns:a="http://schemas.openxmlformats.org/drawingml/2006/main" noGrp="1"/>
          </p:cNvSpPr>
          <p:nvPr/>
        </p:nvSpPr>
        <p:spPr>
          <a:xfrm xmlns:a="http://schemas.openxmlformats.org/drawingml/2006/main">
            <a:off x="6257925" y="3381375"/>
            <a:ext cx="2476500" cy="1000125"/>
          </a:xfrm>
          <a:prstGeom xmlns:a="http://schemas.openxmlformats.org/drawingml/2006/main" prst="roundRect">
            <a:avLst>
              <a:gd name="adj" fmla="val 7619"/>
            </a:avLst>
          </a:prstGeom>
          <a:solidFill xmlns:a="http://schemas.openxmlformats.org/drawingml/2006/main">
            <a:srgbClr val="101B2C"/>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8265B24-F914-4BF1-8BCF-D17BF3E40E66}"/>
              </a:ext>
            </a:extLst>
          </p:cNvPr>
          <p:cNvSpPr>
            <a:spLocks xmlns:a="http://schemas.openxmlformats.org/drawingml/2006/main" noGrp="1"/>
          </p:cNvSpPr>
          <p:nvPr/>
        </p:nvSpPr>
        <p:spPr>
          <a:xfrm xmlns:a="http://schemas.openxmlformats.org/drawingml/2006/main">
            <a:off x="6400800" y="350520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20D5EA"/>
                </a:solidFill>
                <a:latin typeface="Arial"/>
                <a:ea typeface="Arial"/>
                <a:cs typeface="Arial"/>
              </a:defRPr>
            </a:defPPr>
          </a:lstStyle>
          <a:p xmlns:a="http://schemas.openxmlformats.org/drawingml/2006/main">
            <a:pPr>
              <a:defRPr sz="1575" b="1">
                <a:solidFill>
                  <a:srgbClr val="20D5EA"/>
                </a:solidFill>
                <a:latin typeface="Arial"/>
                <a:ea typeface="Arial"/>
                <a:cs typeface="Arial"/>
              </a:defRPr>
            </a:pPr>
            <a:r>
              <a:rPr sz="1575" b="1">
                <a:solidFill>
                  <a:srgbClr val="20D5EA"/>
                </a:solidFill>
                <a:latin typeface="Arial"/>
                <a:ea typeface="Arial"/>
                <a:cs typeface="Arial"/>
              </a:rPr>
              <a:t>7  C SOURCE</a:t>
            </a:r>
          </a:p>
        </p:txBody>
      </p:sp>
      <p:sp>
        <p:nvSpPr>
          <p:cNvPr id="32" name="">
            <a:extLst xmlns:a="http://schemas.openxmlformats.org/drawingml/2006/main">
              <a:ext uri="{FF2B5EF4-FFF2-40B4-BE49-F238E27FC236}">
                <a16:creationId xmlns:a16="http://schemas.microsoft.com/office/drawing/2014/main" id="{68F6FD45-2099-48AC-98C3-86D4C992579C}"/>
              </a:ext>
            </a:extLst>
          </p:cNvPr>
          <p:cNvSpPr>
            <a:spLocks xmlns:a="http://schemas.openxmlformats.org/drawingml/2006/main" noGrp="1"/>
          </p:cNvSpPr>
          <p:nvPr/>
        </p:nvSpPr>
        <p:spPr>
          <a:xfrm xmlns:a="http://schemas.openxmlformats.org/drawingml/2006/main">
            <a:off x="6400800" y="395287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AEBBD0"/>
                </a:solidFill>
                <a:latin typeface="Arial"/>
                <a:ea typeface="Arial"/>
                <a:cs typeface="Arial"/>
              </a:defRPr>
            </a:defPPr>
          </a:lstStyle>
          <a:p xmlns:a="http://schemas.openxmlformats.org/drawingml/2006/main">
            <a:pPr>
              <a:defRPr sz="1350" b="0">
                <a:solidFill>
                  <a:srgbClr val="AEBBD0"/>
                </a:solidFill>
                <a:latin typeface="Arial"/>
                <a:ea typeface="Arial"/>
                <a:cs typeface="Arial"/>
              </a:defRPr>
            </a:pPr>
            <a:r>
              <a:rPr sz="1350" b="0">
                <a:solidFill>
                  <a:srgbClr val="AEBBD0"/>
                </a:solidFill>
                <a:latin typeface="Arial"/>
                <a:ea typeface="Arial"/>
                <a:cs typeface="Arial"/>
              </a:rPr>
              <a:t>cgen.py</a:t>
            </a:r>
          </a:p>
        </p:txBody>
      </p:sp>
      <p:sp>
        <p:nvSpPr>
          <p:cNvPr id="33" name="">
            <a:extLst xmlns:a="http://schemas.openxmlformats.org/drawingml/2006/main">
              <a:ext uri="{FF2B5EF4-FFF2-40B4-BE49-F238E27FC236}">
                <a16:creationId xmlns:a16="http://schemas.microsoft.com/office/drawing/2014/main" id="{474A87C3-94ED-48AA-ABAE-B74CC6A7C6A1}"/>
              </a:ext>
            </a:extLst>
          </p:cNvPr>
          <p:cNvSpPr>
            <a:spLocks xmlns:a="http://schemas.openxmlformats.org/drawingml/2006/main" noGrp="1"/>
          </p:cNvSpPr>
          <p:nvPr/>
        </p:nvSpPr>
        <p:spPr>
          <a:xfrm xmlns:a="http://schemas.openxmlformats.org/drawingml/2006/main">
            <a:off x="8763000" y="3714750"/>
            <a:ext cx="2952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4C82FF"/>
                </a:solidFill>
                <a:latin typeface="Arial"/>
                <a:ea typeface="Arial"/>
                <a:cs typeface="Arial"/>
              </a:defRPr>
            </a:defPPr>
          </a:lstStyle>
          <a:p xmlns:a="http://schemas.openxmlformats.org/drawingml/2006/main">
            <a:pPr>
              <a:defRPr sz="2025" b="1">
                <a:solidFill>
                  <a:srgbClr val="4C82FF"/>
                </a:solidFill>
                <a:latin typeface="Arial"/>
                <a:ea typeface="Arial"/>
                <a:cs typeface="Arial"/>
              </a:defRPr>
            </a:pPr>
            <a:r>
              <a:rPr sz="2025" b="1">
                <a:solidFill>
                  <a:srgbClr val="4C82FF"/>
                </a:solidFill>
                <a:latin typeface="Arial"/>
                <a:ea typeface="Arial"/>
                <a:cs typeface="Arial"/>
              </a:rPr>
              <a:t>→</a:t>
            </a:r>
          </a:p>
        </p:txBody>
      </p:sp>
      <p:sp>
        <p:nvSpPr>
          <p:cNvPr id="34" name="">
            <a:extLst xmlns:a="http://schemas.openxmlformats.org/drawingml/2006/main">
              <a:ext uri="{FF2B5EF4-FFF2-40B4-BE49-F238E27FC236}">
                <a16:creationId xmlns:a16="http://schemas.microsoft.com/office/drawing/2014/main" id="{2AA9FF28-0571-4931-9F81-DF1BBB7162B0}"/>
              </a:ext>
            </a:extLst>
          </p:cNvPr>
          <p:cNvSpPr>
            <a:spLocks xmlns:a="http://schemas.openxmlformats.org/drawingml/2006/main" noGrp="1"/>
          </p:cNvSpPr>
          <p:nvPr/>
        </p:nvSpPr>
        <p:spPr>
          <a:xfrm xmlns:a="http://schemas.openxmlformats.org/drawingml/2006/main">
            <a:off x="9067800" y="3381375"/>
            <a:ext cx="2476500" cy="1000125"/>
          </a:xfrm>
          <a:prstGeom xmlns:a="http://schemas.openxmlformats.org/drawingml/2006/main" prst="roundRect">
            <a:avLst>
              <a:gd name="adj" fmla="val 7619"/>
            </a:avLst>
          </a:prstGeom>
          <a:solidFill xmlns:a="http://schemas.openxmlformats.org/drawingml/2006/main">
            <a:srgbClr val="101B2C"/>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7D61374-43C8-47AE-ADC7-3B5E939AD4B7}"/>
              </a:ext>
            </a:extLst>
          </p:cNvPr>
          <p:cNvSpPr>
            <a:spLocks xmlns:a="http://schemas.openxmlformats.org/drawingml/2006/main" noGrp="1"/>
          </p:cNvSpPr>
          <p:nvPr/>
        </p:nvSpPr>
        <p:spPr>
          <a:xfrm xmlns:a="http://schemas.openxmlformats.org/drawingml/2006/main">
            <a:off x="9210675" y="350520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33D69B"/>
                </a:solidFill>
                <a:latin typeface="Arial"/>
                <a:ea typeface="Arial"/>
                <a:cs typeface="Arial"/>
              </a:defRPr>
            </a:defPPr>
          </a:lstStyle>
          <a:p xmlns:a="http://schemas.openxmlformats.org/drawingml/2006/main">
            <a:pPr>
              <a:defRPr sz="1575" b="1">
                <a:solidFill>
                  <a:srgbClr val="33D69B"/>
                </a:solidFill>
                <a:latin typeface="Arial"/>
                <a:ea typeface="Arial"/>
                <a:cs typeface="Arial"/>
              </a:defRPr>
            </a:pPr>
            <a:r>
              <a:rPr sz="1575" b="1">
                <a:solidFill>
                  <a:srgbClr val="33D69B"/>
                </a:solidFill>
                <a:latin typeface="Arial"/>
                <a:ea typeface="Arial"/>
                <a:cs typeface="Arial"/>
              </a:rPr>
              <a:t>8  EXECUTION</a:t>
            </a:r>
          </a:p>
        </p:txBody>
      </p:sp>
      <p:sp>
        <p:nvSpPr>
          <p:cNvPr id="36" name="">
            <a:extLst xmlns:a="http://schemas.openxmlformats.org/drawingml/2006/main">
              <a:ext uri="{FF2B5EF4-FFF2-40B4-BE49-F238E27FC236}">
                <a16:creationId xmlns:a16="http://schemas.microsoft.com/office/drawing/2014/main" id="{5BC4ED37-B10B-4252-AA25-B5FF97793785}"/>
              </a:ext>
            </a:extLst>
          </p:cNvPr>
          <p:cNvSpPr>
            <a:spLocks xmlns:a="http://schemas.openxmlformats.org/drawingml/2006/main" noGrp="1"/>
          </p:cNvSpPr>
          <p:nvPr/>
        </p:nvSpPr>
        <p:spPr>
          <a:xfrm xmlns:a="http://schemas.openxmlformats.org/drawingml/2006/main">
            <a:off x="9210675" y="395287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AEBBD0"/>
                </a:solidFill>
                <a:latin typeface="Arial"/>
                <a:ea typeface="Arial"/>
                <a:cs typeface="Arial"/>
              </a:defRPr>
            </a:defPPr>
          </a:lstStyle>
          <a:p xmlns:a="http://schemas.openxmlformats.org/drawingml/2006/main">
            <a:pPr>
              <a:defRPr sz="1350" b="0">
                <a:solidFill>
                  <a:srgbClr val="AEBBD0"/>
                </a:solidFill>
                <a:latin typeface="Arial"/>
                <a:ea typeface="Arial"/>
                <a:cs typeface="Arial"/>
              </a:defRPr>
            </a:pPr>
            <a:r>
              <a:rPr sz="1350" b="0">
                <a:solidFill>
                  <a:srgbClr val="AEBBD0"/>
                </a:solidFill>
                <a:latin typeface="Arial"/>
                <a:ea typeface="Arial"/>
                <a:cs typeface="Arial"/>
              </a:rPr>
              <a:t>GCC, optional</a:t>
            </a:r>
          </a:p>
        </p:txBody>
      </p:sp>
      <p:sp>
        <p:nvSpPr>
          <p:cNvPr id="37" name="">
            <a:extLst xmlns:a="http://schemas.openxmlformats.org/drawingml/2006/main">
              <a:ext uri="{FF2B5EF4-FFF2-40B4-BE49-F238E27FC236}">
                <a16:creationId xmlns:a16="http://schemas.microsoft.com/office/drawing/2014/main" id="{953C6675-4D38-4B09-B1D5-9BA13FCB65DC}"/>
              </a:ext>
            </a:extLst>
          </p:cNvPr>
          <p:cNvSpPr>
            <a:spLocks xmlns:a="http://schemas.openxmlformats.org/drawingml/2006/main" noGrp="1"/>
          </p:cNvSpPr>
          <p:nvPr/>
        </p:nvSpPr>
        <p:spPr>
          <a:xfrm xmlns:a="http://schemas.openxmlformats.org/drawingml/2006/main">
            <a:off x="9620250" y="287655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4C82FF"/>
                </a:solidFill>
                <a:latin typeface="Arial"/>
                <a:ea typeface="Arial"/>
                <a:cs typeface="Arial"/>
              </a:defRPr>
            </a:defPPr>
          </a:lstStyle>
          <a:p xmlns:a="http://schemas.openxmlformats.org/drawingml/2006/main">
            <a:pPr>
              <a:defRPr sz="1350" b="1">
                <a:solidFill>
                  <a:srgbClr val="4C82FF"/>
                </a:solidFill>
                <a:latin typeface="Arial"/>
                <a:ea typeface="Arial"/>
                <a:cs typeface="Arial"/>
              </a:defRPr>
            </a:pPr>
            <a:r>
              <a:rPr sz="1350" b="1">
                <a:solidFill>
                  <a:srgbClr val="4C82FF"/>
                </a:solidFill>
                <a:latin typeface="Arial"/>
                <a:ea typeface="Arial"/>
                <a:cs typeface="Arial"/>
              </a:rPr>
              <a:t>continues below ↓</a:t>
            </a:r>
          </a:p>
        </p:txBody>
      </p:sp>
      <p:sp>
        <p:nvSpPr>
          <p:cNvPr id="38" name="">
            <a:extLst xmlns:a="http://schemas.openxmlformats.org/drawingml/2006/main">
              <a:ext uri="{FF2B5EF4-FFF2-40B4-BE49-F238E27FC236}">
                <a16:creationId xmlns:a16="http://schemas.microsoft.com/office/drawing/2014/main" id="{52F85111-9732-4559-89F3-83827B126581}"/>
              </a:ext>
            </a:extLst>
          </p:cNvPr>
          <p:cNvSpPr>
            <a:spLocks xmlns:a="http://schemas.openxmlformats.org/drawingml/2006/main" noGrp="1"/>
          </p:cNvSpPr>
          <p:nvPr/>
        </p:nvSpPr>
        <p:spPr>
          <a:xfrm xmlns:a="http://schemas.openxmlformats.org/drawingml/2006/main">
            <a:off x="638175" y="5143500"/>
            <a:ext cx="10829925"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D6E5DB7-47DD-42E5-97B3-60D6AC2C43E9}"/>
              </a:ext>
            </a:extLst>
          </p:cNvPr>
          <p:cNvSpPr>
            <a:spLocks xmlns:a="http://schemas.openxmlformats.org/drawingml/2006/main" noGrp="1"/>
          </p:cNvSpPr>
          <p:nvPr/>
        </p:nvSpPr>
        <p:spPr>
          <a:xfrm xmlns:a="http://schemas.openxmlformats.org/drawingml/2006/main">
            <a:off x="647700" y="5324475"/>
            <a:ext cx="5191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F6B94D"/>
                </a:solidFill>
                <a:latin typeface="Arial"/>
                <a:ea typeface="Arial"/>
                <a:cs typeface="Arial"/>
              </a:defRPr>
            </a:defPPr>
          </a:lstStyle>
          <a:p xmlns:a="http://schemas.openxmlformats.org/drawingml/2006/main">
            <a:pPr>
              <a:defRPr sz="1575" b="1">
                <a:solidFill>
                  <a:srgbClr val="F6B94D"/>
                </a:solidFill>
                <a:latin typeface="Arial"/>
                <a:ea typeface="Arial"/>
                <a:cs typeface="Arial"/>
              </a:defRPr>
            </a:pPr>
            <a:r>
              <a:rPr sz="1575" b="1">
                <a:solidFill>
                  <a:srgbClr val="F6B94D"/>
                </a:solidFill>
                <a:latin typeface="Arial"/>
                <a:ea typeface="Arial"/>
                <a:cs typeface="Arial"/>
              </a:rPr>
              <a:t>Compile-time: syntax, names and types</a:t>
            </a:r>
          </a:p>
        </p:txBody>
      </p:sp>
      <p:sp>
        <p:nvSpPr>
          <p:cNvPr id="40" name="">
            <a:extLst xmlns:a="http://schemas.openxmlformats.org/drawingml/2006/main">
              <a:ext uri="{FF2B5EF4-FFF2-40B4-BE49-F238E27FC236}">
                <a16:creationId xmlns:a16="http://schemas.microsoft.com/office/drawing/2014/main" id="{6306A87C-9546-4735-900F-7C76B0ABCAF2}"/>
              </a:ext>
            </a:extLst>
          </p:cNvPr>
          <p:cNvSpPr>
            <a:spLocks xmlns:a="http://schemas.openxmlformats.org/drawingml/2006/main" noGrp="1"/>
          </p:cNvSpPr>
          <p:nvPr/>
        </p:nvSpPr>
        <p:spPr>
          <a:xfrm xmlns:a="http://schemas.openxmlformats.org/drawingml/2006/main">
            <a:off x="6162675" y="53244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33D69B"/>
                </a:solidFill>
                <a:latin typeface="Arial"/>
                <a:ea typeface="Arial"/>
                <a:cs typeface="Arial"/>
              </a:defRPr>
            </a:defPPr>
          </a:lstStyle>
          <a:p xmlns:a="http://schemas.openxmlformats.org/drawingml/2006/main">
            <a:pPr>
              <a:defRPr sz="1575" b="1">
                <a:solidFill>
                  <a:srgbClr val="33D69B"/>
                </a:solidFill>
                <a:latin typeface="Arial"/>
                <a:ea typeface="Arial"/>
                <a:cs typeface="Arial"/>
              </a:defRPr>
            </a:pPr>
            <a:r>
              <a:rPr sz="1575" b="1">
                <a:solidFill>
                  <a:srgbClr val="33D69B"/>
                </a:solidFill>
                <a:latin typeface="Arial"/>
                <a:ea typeface="Arial"/>
                <a:cs typeface="Arial"/>
              </a:rPr>
              <a:t>Runtime: checks in generated C</a:t>
            </a:r>
          </a:p>
        </p:txBody>
      </p:sp>
    </p:spTree>
    <p:extLst>
      <p:ext uri="{BB962C8B-B14F-4D97-AF65-F5344CB8AC3E}">
        <p14:creationId xmlns:p14="http://schemas.microsoft.com/office/powerpoint/2010/main" val="1219795438"/>
      </p:ext>
    </p:extLst>
  </p:cSld>
</p:sld>
</file>

<file path=ppt/slides/slide5.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9323135-5A0F-406D-9F71-EA4269384C99}"/>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319B10B-D863-4180-AF5E-0814FCA7248C}"/>
              </a:ext>
            </a:extLst>
          </p:cNvPr>
          <p:cNvSpPr>
            <a:spLocks xmlns:a="http://schemas.openxmlformats.org/drawingml/2006/main" noGrp="1"/>
          </p:cNvSpPr>
          <p:nvPr/>
        </p:nvSpPr>
        <p:spPr>
          <a:xfrm xmlns:a="http://schemas.openxmlformats.org/drawingml/2006/main">
            <a:off x="571500" y="4095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F6F8FC"/>
                </a:solidFill>
                <a:latin typeface="Arial"/>
                <a:ea typeface="Arial"/>
                <a:cs typeface="Arial"/>
              </a:defRPr>
            </a:defPPr>
          </a:lstStyle>
          <a:p xmlns:a="http://schemas.openxmlformats.org/drawingml/2006/main">
            <a:pPr>
              <a:defRPr sz="3000" b="1">
                <a:solidFill>
                  <a:srgbClr val="F6F8FC"/>
                </a:solidFill>
                <a:latin typeface="Arial"/>
                <a:ea typeface="Arial"/>
                <a:cs typeface="Arial"/>
              </a:defRPr>
            </a:pPr>
            <a:r>
              <a:rPr sz="3000" b="1">
                <a:solidFill>
                  <a:srgbClr val="F6F8FC"/>
                </a:solidFill>
                <a:latin typeface="Arial"/>
                <a:ea typeface="Arial"/>
                <a:cs typeface="Arial"/>
              </a:rPr>
              <a:t>Supported language at a glance</a:t>
            </a:r>
          </a:p>
        </p:txBody>
      </p:sp>
      <p:sp>
        <p:nvSpPr>
          <p:cNvPr id="3" name="">
            <a:extLst xmlns:a="http://schemas.openxmlformats.org/drawingml/2006/main">
              <a:ext uri="{FF2B5EF4-FFF2-40B4-BE49-F238E27FC236}">
                <a16:creationId xmlns:a16="http://schemas.microsoft.com/office/drawing/2014/main" id="{EC65CA6E-846A-4C16-B32F-4D357DA2B91C}"/>
              </a:ext>
            </a:extLst>
          </p:cNvPr>
          <p:cNvSpPr>
            <a:spLocks xmlns:a="http://schemas.openxmlformats.org/drawingml/2006/main" noGrp="1"/>
          </p:cNvSpPr>
          <p:nvPr/>
        </p:nvSpPr>
        <p:spPr>
          <a:xfrm xmlns:a="http://schemas.openxmlformats.org/drawingml/2006/main">
            <a:off x="590550" y="9906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The examples that follow use a small, explicit grammar rather than free-form prose.</a:t>
            </a:r>
          </a:p>
        </p:txBody>
      </p:sp>
      <p:sp>
        <p:nvSpPr>
          <p:cNvPr id="4" name="">
            <a:extLst xmlns:a="http://schemas.openxmlformats.org/drawingml/2006/main">
              <a:ext uri="{FF2B5EF4-FFF2-40B4-BE49-F238E27FC236}">
                <a16:creationId xmlns:a16="http://schemas.microsoft.com/office/drawing/2014/main" id="{0E40A40D-D291-4FD4-B628-590BADB1EDF5}"/>
              </a:ext>
            </a:extLst>
          </p:cNvPr>
          <p:cNvSpPr>
            <a:spLocks xmlns:a="http://schemas.openxmlformats.org/drawingml/2006/main" noGrp="1"/>
          </p:cNvSpPr>
          <p:nvPr/>
        </p:nvSpPr>
        <p:spPr>
          <a:xfrm xmlns:a="http://schemas.openxmlformats.org/drawingml/2006/main">
            <a:off x="571500" y="6219825"/>
            <a:ext cx="110490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9306F20-4EB9-4B45-A0B2-254291CD380A}"/>
              </a:ext>
            </a:extLst>
          </p:cNvPr>
          <p:cNvSpPr>
            <a:spLocks xmlns:a="http://schemas.openxmlformats.org/drawingml/2006/main" noGrp="1"/>
          </p:cNvSpPr>
          <p:nvPr/>
        </p:nvSpPr>
        <p:spPr>
          <a:xfrm xmlns:a="http://schemas.openxmlformats.org/drawingml/2006/main">
            <a:off x="571500" y="63627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AEBBD0"/>
                </a:solidFill>
                <a:latin typeface="Arial"/>
                <a:ea typeface="Arial"/>
                <a:cs typeface="Arial"/>
              </a:defRPr>
            </a:defPPr>
          </a:lstStyle>
          <a:p xmlns:a="http://schemas.openxmlformats.org/drawingml/2006/main">
            <a:pPr>
              <a:defRPr sz="1050" b="1">
                <a:solidFill>
                  <a:srgbClr val="AEBBD0"/>
                </a:solidFill>
                <a:latin typeface="Arial"/>
                <a:ea typeface="Arial"/>
                <a:cs typeface="Arial"/>
              </a:defRPr>
            </a:pPr>
            <a:r>
              <a:rPr sz="1050" b="1">
                <a:solidFill>
                  <a:srgbClr val="AEBBD0"/>
                </a:solidFill>
                <a:latin typeface="Arial"/>
                <a:ea typeface="Arial"/>
                <a:cs typeface="Arial"/>
              </a:rPr>
              <a:t>REVIEW 2  /  PSEUDOCODE TO C</a:t>
            </a:r>
          </a:p>
        </p:txBody>
      </p:sp>
      <p:sp>
        <p:nvSpPr>
          <p:cNvPr id="6" name="">
            <a:extLst xmlns:a="http://schemas.openxmlformats.org/drawingml/2006/main">
              <a:ext uri="{FF2B5EF4-FFF2-40B4-BE49-F238E27FC236}">
                <a16:creationId xmlns:a16="http://schemas.microsoft.com/office/drawing/2014/main" id="{446C695C-F0FA-401A-AE8F-4B99E2997EFC}"/>
              </a:ext>
            </a:extLst>
          </p:cNvPr>
          <p:cNvSpPr>
            <a:spLocks xmlns:a="http://schemas.openxmlformats.org/drawingml/2006/main" noGrp="1"/>
          </p:cNvSpPr>
          <p:nvPr/>
        </p:nvSpPr>
        <p:spPr>
          <a:xfrm xmlns:a="http://schemas.openxmlformats.org/drawingml/2006/main">
            <a:off x="10953750" y="636270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0D5EA"/>
                </a:solidFill>
                <a:latin typeface="Arial"/>
                <a:ea typeface="Arial"/>
                <a:cs typeface="Arial"/>
              </a:defRPr>
            </a:defPPr>
          </a:lstStyle>
          <a:p xmlns:a="http://schemas.openxmlformats.org/drawingml/2006/main">
            <a:pPr>
              <a:defRPr sz="1050" b="1">
                <a:solidFill>
                  <a:srgbClr val="20D5EA"/>
                </a:solidFill>
                <a:latin typeface="Arial"/>
                <a:ea typeface="Arial"/>
                <a:cs typeface="Arial"/>
              </a:defRPr>
            </a:pPr>
            <a:r>
              <a:rPr sz="1050" b="1">
                <a:solidFill>
                  <a:srgbClr val="20D5EA"/>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97D2D3C9-D5F6-4790-94E7-53F5A62FFCE9}"/>
              </a:ext>
            </a:extLst>
          </p:cNvPr>
          <p:cNvSpPr>
            <a:spLocks xmlns:a="http://schemas.openxmlformats.org/drawingml/2006/main" noGrp="1"/>
          </p:cNvSpPr>
          <p:nvPr/>
        </p:nvSpPr>
        <p:spPr>
          <a:xfrm xmlns:a="http://schemas.openxmlformats.org/drawingml/2006/main">
            <a:off x="628650" y="1562100"/>
            <a:ext cx="500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4C82FF"/>
                </a:solidFill>
                <a:latin typeface="Arial"/>
                <a:ea typeface="Arial"/>
                <a:cs typeface="Arial"/>
              </a:defRPr>
            </a:defPPr>
          </a:lstStyle>
          <a:p xmlns:a="http://schemas.openxmlformats.org/drawingml/2006/main">
            <a:pPr>
              <a:defRPr sz="1350" b="1">
                <a:solidFill>
                  <a:srgbClr val="4C82FF"/>
                </a:solidFill>
                <a:latin typeface="Arial"/>
                <a:ea typeface="Arial"/>
                <a:cs typeface="Arial"/>
              </a:defRPr>
            </a:pPr>
            <a:r>
              <a:rPr sz="1350" b="1">
                <a:solidFill>
                  <a:srgbClr val="4C82FF"/>
                </a:solidFill>
                <a:latin typeface="Arial"/>
                <a:ea typeface="Arial"/>
                <a:cs typeface="Arial"/>
              </a:rPr>
              <a:t>CONTROL FLOW</a:t>
            </a:r>
          </a:p>
        </p:txBody>
      </p:sp>
      <p:sp>
        <p:nvSpPr>
          <p:cNvPr id="8" name="">
            <a:extLst xmlns:a="http://schemas.openxmlformats.org/drawingml/2006/main">
              <a:ext uri="{FF2B5EF4-FFF2-40B4-BE49-F238E27FC236}">
                <a16:creationId xmlns:a16="http://schemas.microsoft.com/office/drawing/2014/main" id="{92E69073-17EF-488D-A508-214699C7E536}"/>
              </a:ext>
            </a:extLst>
          </p:cNvPr>
          <p:cNvSpPr>
            <a:spLocks xmlns:a="http://schemas.openxmlformats.org/drawingml/2006/main" noGrp="1"/>
          </p:cNvSpPr>
          <p:nvPr/>
        </p:nvSpPr>
        <p:spPr>
          <a:xfrm xmlns:a="http://schemas.openxmlformats.org/drawingml/2006/main">
            <a:off x="628650" y="1905000"/>
            <a:ext cx="5000625" cy="19050"/>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BB0DD4A-77B3-468B-B64F-42A005742F47}"/>
              </a:ext>
            </a:extLst>
          </p:cNvPr>
          <p:cNvSpPr>
            <a:spLocks xmlns:a="http://schemas.openxmlformats.org/drawingml/2006/main" noGrp="1"/>
          </p:cNvSpPr>
          <p:nvPr/>
        </p:nvSpPr>
        <p:spPr>
          <a:xfrm xmlns:a="http://schemas.openxmlformats.org/drawingml/2006/main">
            <a:off x="638175" y="2066925"/>
            <a:ext cx="471487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F6F8FC"/>
                </a:solidFill>
                <a:latin typeface="Arial"/>
                <a:ea typeface="Arial"/>
                <a:cs typeface="Arial"/>
              </a:defRPr>
            </a:defPPr>
          </a:lstStyle>
          <a:p xmlns:a="http://schemas.openxmlformats.org/drawingml/2006/main">
            <a:pPr>
              <a:defRPr sz="1875" b="0">
                <a:solidFill>
                  <a:srgbClr val="F6F8FC"/>
                </a:solidFill>
                <a:latin typeface="Arial"/>
                <a:ea typeface="Arial"/>
                <a:cs typeface="Arial"/>
              </a:defRPr>
            </a:pPr>
            <a:r>
              <a:rPr sz="1875" b="0">
                <a:solidFill>
                  <a:srgbClr val="F6F8FC"/>
                </a:solidFill>
                <a:latin typeface="Arial"/>
                <a:ea typeface="Arial"/>
                <a:cs typeface="Arial"/>
              </a:rPr>
              <a:t>IF / ELSE</a:t>
            </a:r>
          </a:p>
          <a:p xmlns:a="http://schemas.openxmlformats.org/drawingml/2006/main">
            <a:pPr>
              <a:defRPr sz="1875" b="0">
                <a:solidFill>
                  <a:srgbClr val="F6F8FC"/>
                </a:solidFill>
                <a:latin typeface="Arial"/>
                <a:ea typeface="Arial"/>
                <a:cs typeface="Arial"/>
              </a:defRPr>
            </a:pPr>
            <a:r>
              <a:rPr sz="1875" b="0">
                <a:solidFill>
                  <a:srgbClr val="F6F8FC"/>
                </a:solidFill>
                <a:latin typeface="Arial"/>
                <a:ea typeface="Arial"/>
                <a:cs typeface="Arial"/>
              </a:rPr>
              <a:t>WHILE</a:t>
            </a:r>
          </a:p>
          <a:p xmlns:a="http://schemas.openxmlformats.org/drawingml/2006/main">
            <a:pPr>
              <a:defRPr sz="1875" b="0">
                <a:solidFill>
                  <a:srgbClr val="F6F8FC"/>
                </a:solidFill>
                <a:latin typeface="Arial"/>
                <a:ea typeface="Arial"/>
                <a:cs typeface="Arial"/>
              </a:defRPr>
            </a:pPr>
            <a:r>
              <a:rPr sz="1875" b="0">
                <a:solidFill>
                  <a:srgbClr val="F6F8FC"/>
                </a:solidFill>
                <a:latin typeface="Arial"/>
                <a:ea typeface="Arial"/>
                <a:cs typeface="Arial"/>
              </a:rPr>
              <a:t>Inclusive FOR with STEP</a:t>
            </a:r>
          </a:p>
          <a:p xmlns:a="http://schemas.openxmlformats.org/drawingml/2006/main">
            <a:pPr>
              <a:defRPr sz="1875" b="0">
                <a:solidFill>
                  <a:srgbClr val="F6F8FC"/>
                </a:solidFill>
                <a:latin typeface="Arial"/>
                <a:ea typeface="Arial"/>
                <a:cs typeface="Arial"/>
              </a:defRPr>
            </a:pPr>
            <a:r>
              <a:rPr sz="1875" b="0">
                <a:solidFill>
                  <a:srgbClr val="F6F8FC"/>
                </a:solidFill>
                <a:latin typeface="Arial"/>
                <a:ea typeface="Arial"/>
                <a:cs typeface="Arial"/>
              </a:rPr>
              <a:t>BREAK and CONTINUE</a:t>
            </a:r>
          </a:p>
        </p:txBody>
      </p:sp>
      <p:sp>
        <p:nvSpPr>
          <p:cNvPr id="10" name="">
            <a:extLst xmlns:a="http://schemas.openxmlformats.org/drawingml/2006/main">
              <a:ext uri="{FF2B5EF4-FFF2-40B4-BE49-F238E27FC236}">
                <a16:creationId xmlns:a16="http://schemas.microsoft.com/office/drawing/2014/main" id="{76EE1FCB-D70E-4370-9A29-0972B1E0E98C}"/>
              </a:ext>
            </a:extLst>
          </p:cNvPr>
          <p:cNvSpPr>
            <a:spLocks xmlns:a="http://schemas.openxmlformats.org/drawingml/2006/main" noGrp="1"/>
          </p:cNvSpPr>
          <p:nvPr/>
        </p:nvSpPr>
        <p:spPr>
          <a:xfrm xmlns:a="http://schemas.openxmlformats.org/drawingml/2006/main">
            <a:off x="6172200" y="156210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33D69B"/>
                </a:solidFill>
                <a:latin typeface="Arial"/>
                <a:ea typeface="Arial"/>
                <a:cs typeface="Arial"/>
              </a:defRPr>
            </a:defPPr>
          </a:lstStyle>
          <a:p xmlns:a="http://schemas.openxmlformats.org/drawingml/2006/main">
            <a:pPr>
              <a:defRPr sz="1350" b="1">
                <a:solidFill>
                  <a:srgbClr val="33D69B"/>
                </a:solidFill>
                <a:latin typeface="Arial"/>
                <a:ea typeface="Arial"/>
                <a:cs typeface="Arial"/>
              </a:defRPr>
            </a:pPr>
            <a:r>
              <a:rPr sz="1350" b="1">
                <a:solidFill>
                  <a:srgbClr val="33D69B"/>
                </a:solidFill>
                <a:latin typeface="Arial"/>
                <a:ea typeface="Arial"/>
                <a:cs typeface="Arial"/>
              </a:rPr>
              <a:t>DATA AND OPERATIONS</a:t>
            </a:r>
          </a:p>
        </p:txBody>
      </p:sp>
      <p:sp>
        <p:nvSpPr>
          <p:cNvPr id="11" name="">
            <a:extLst xmlns:a="http://schemas.openxmlformats.org/drawingml/2006/main">
              <a:ext uri="{FF2B5EF4-FFF2-40B4-BE49-F238E27FC236}">
                <a16:creationId xmlns:a16="http://schemas.microsoft.com/office/drawing/2014/main" id="{BC56243E-B259-4174-AC78-F81D2FBD1B0F}"/>
              </a:ext>
            </a:extLst>
          </p:cNvPr>
          <p:cNvSpPr>
            <a:spLocks xmlns:a="http://schemas.openxmlformats.org/drawingml/2006/main" noGrp="1"/>
          </p:cNvSpPr>
          <p:nvPr/>
        </p:nvSpPr>
        <p:spPr>
          <a:xfrm xmlns:a="http://schemas.openxmlformats.org/drawingml/2006/main">
            <a:off x="6172200" y="1905000"/>
            <a:ext cx="5286375" cy="19050"/>
          </a:xfrm>
          <a:prstGeom xmlns:a="http://schemas.openxmlformats.org/drawingml/2006/main" prst="rect">
            <a:avLst/>
          </a:prstGeom>
          <a:solidFill xmlns:a="http://schemas.openxmlformats.org/drawingml/2006/main">
            <a:srgbClr val="33D69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7A1A2D2-0B92-4BF4-A59B-4A83074E2BE9}"/>
              </a:ext>
            </a:extLst>
          </p:cNvPr>
          <p:cNvSpPr>
            <a:spLocks xmlns:a="http://schemas.openxmlformats.org/drawingml/2006/main" noGrp="1"/>
          </p:cNvSpPr>
          <p:nvPr/>
        </p:nvSpPr>
        <p:spPr>
          <a:xfrm xmlns:a="http://schemas.openxmlformats.org/drawingml/2006/main">
            <a:off x="6181725" y="2066925"/>
            <a:ext cx="52387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F6F8FC"/>
                </a:solidFill>
                <a:latin typeface="Arial"/>
                <a:ea typeface="Arial"/>
                <a:cs typeface="Arial"/>
              </a:defRPr>
            </a:defPPr>
          </a:lstStyle>
          <a:p xmlns:a="http://schemas.openxmlformats.org/drawingml/2006/main">
            <a:pPr>
              <a:defRPr sz="1800" b="0">
                <a:solidFill>
                  <a:srgbClr val="F6F8FC"/>
                </a:solidFill>
                <a:latin typeface="Arial"/>
                <a:ea typeface="Arial"/>
                <a:cs typeface="Arial"/>
              </a:defRPr>
            </a:pPr>
            <a:r>
              <a:rPr sz="1800" b="0">
                <a:solidFill>
                  <a:srgbClr val="F6F8FC"/>
                </a:solidFill>
                <a:latin typeface="Arial"/>
                <a:ea typeface="Arial"/>
                <a:cs typeface="Arial"/>
              </a:rPr>
              <a:t>INTEGER, REAL, CHAR, STRING</a:t>
            </a:r>
          </a:p>
          <a:p xmlns:a="http://schemas.openxmlformats.org/drawingml/2006/main">
            <a:pPr>
              <a:defRPr sz="1800" b="0">
                <a:solidFill>
                  <a:srgbClr val="F6F8FC"/>
                </a:solidFill>
                <a:latin typeface="Arial"/>
                <a:ea typeface="Arial"/>
                <a:cs typeface="Arial"/>
              </a:defRPr>
            </a:pPr>
            <a:r>
              <a:rPr sz="1800" b="0">
                <a:solidFill>
                  <a:srgbClr val="F6F8FC"/>
                </a:solidFill>
                <a:latin typeface="Arial"/>
                <a:ea typeface="Arial"/>
                <a:cs typeface="Arial"/>
              </a:rPr>
              <a:t>Fixed-size one-dimensional arrays</a:t>
            </a:r>
          </a:p>
          <a:p xmlns:a="http://schemas.openxmlformats.org/drawingml/2006/main">
            <a:pPr>
              <a:defRPr sz="1800" b="0">
                <a:solidFill>
                  <a:srgbClr val="F6F8FC"/>
                </a:solidFill>
                <a:latin typeface="Arial"/>
                <a:ea typeface="Arial"/>
                <a:cs typeface="Arial"/>
              </a:defRPr>
            </a:pPr>
            <a:r>
              <a:rPr sz="1800" b="0">
                <a:solidFill>
                  <a:srgbClr val="F6F8FC"/>
                </a:solidFill>
                <a:latin typeface="Arial"/>
                <a:ea typeface="Arial"/>
                <a:cs typeface="Arial"/>
              </a:rPr>
              <a:t>Bitwise &amp;, |, ^, ~, &lt;&lt;, &gt;&gt;</a:t>
            </a:r>
          </a:p>
          <a:p xmlns:a="http://schemas.openxmlformats.org/drawingml/2006/main">
            <a:pPr>
              <a:defRPr sz="1800" b="0">
                <a:solidFill>
                  <a:srgbClr val="F6F8FC"/>
                </a:solidFill>
                <a:latin typeface="Arial"/>
                <a:ea typeface="Arial"/>
                <a:cs typeface="Arial"/>
              </a:defRPr>
            </a:pPr>
            <a:r>
              <a:rPr sz="1800" b="0">
                <a:solidFill>
                  <a:srgbClr val="F6F8FC"/>
                </a:solidFill>
                <a:latin typeface="Arial"/>
                <a:ea typeface="Arial"/>
                <a:cs typeface="Arial"/>
              </a:rPr>
              <a:t>READ, PRINT, REQUIRE and ENSURE</a:t>
            </a:r>
          </a:p>
        </p:txBody>
      </p:sp>
      <p:sp>
        <p:nvSpPr>
          <p:cNvPr id="13" name="">
            <a:extLst xmlns:a="http://schemas.openxmlformats.org/drawingml/2006/main">
              <a:ext uri="{FF2B5EF4-FFF2-40B4-BE49-F238E27FC236}">
                <a16:creationId xmlns:a16="http://schemas.microsoft.com/office/drawing/2014/main" id="{D87797D4-8512-450F-BAF3-8FF4CC3B737F}"/>
              </a:ext>
            </a:extLst>
          </p:cNvPr>
          <p:cNvSpPr>
            <a:spLocks xmlns:a="http://schemas.openxmlformats.org/drawingml/2006/main" noGrp="1"/>
          </p:cNvSpPr>
          <p:nvPr/>
        </p:nvSpPr>
        <p:spPr>
          <a:xfrm xmlns:a="http://schemas.openxmlformats.org/drawingml/2006/main">
            <a:off x="628650" y="4591050"/>
            <a:ext cx="1083945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239E7D2-6F8D-4C00-8B8E-571D45948390}"/>
              </a:ext>
            </a:extLst>
          </p:cNvPr>
          <p:cNvSpPr>
            <a:spLocks xmlns:a="http://schemas.openxmlformats.org/drawingml/2006/main" noGrp="1"/>
          </p:cNvSpPr>
          <p:nvPr/>
        </p:nvSpPr>
        <p:spPr>
          <a:xfrm xmlns:a="http://schemas.openxmlformats.org/drawingml/2006/main">
            <a:off x="647700" y="4829175"/>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6F8FC"/>
                </a:solidFill>
                <a:latin typeface="Arial"/>
                <a:ea typeface="Arial"/>
                <a:cs typeface="Arial"/>
              </a:defRPr>
            </a:defPPr>
          </a:lstStyle>
          <a:p xmlns:a="http://schemas.openxmlformats.org/drawingml/2006/main">
            <a:pPr>
              <a:defRPr sz="1650" b="0">
                <a:solidFill>
                  <a:srgbClr val="F6F8FC"/>
                </a:solidFill>
                <a:latin typeface="Arial"/>
                <a:ea typeface="Arial"/>
                <a:cs typeface="Arial"/>
              </a:defRPr>
            </a:pPr>
            <a:r>
              <a:rPr sz="1650" b="0">
                <a:solidFill>
                  <a:srgbClr val="F6F8FC"/>
                </a:solidFill>
                <a:latin typeface="Arial"/>
                <a:ea typeface="Arial"/>
                <a:cs typeface="Arial"/>
              </a:rPr>
              <a:t>The grammar defines each statement; semantic analysis checks types, declarations and scope.</a:t>
            </a:r>
          </a:p>
        </p:txBody>
      </p:sp>
    </p:spTree>
    <p:extLst>
      <p:ext uri="{BB962C8B-B14F-4D97-AF65-F5344CB8AC3E}">
        <p14:creationId xmlns:p14="http://schemas.microsoft.com/office/powerpoint/2010/main" val="900211313"/>
      </p:ext>
    </p:extLst>
  </p:cSld>
</p:sld>
</file>

<file path=ppt/slides/slide6.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E3951A5-D92F-4871-94D4-4394739DA3E9}"/>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E53088B-DE95-41D7-8A71-FC0FDB814017}"/>
              </a:ext>
            </a:extLst>
          </p:cNvPr>
          <p:cNvSpPr>
            <a:spLocks xmlns:a="http://schemas.openxmlformats.org/drawingml/2006/main" noGrp="1"/>
          </p:cNvSpPr>
          <p:nvPr/>
        </p:nvSpPr>
        <p:spPr>
          <a:xfrm xmlns:a="http://schemas.openxmlformats.org/drawingml/2006/main">
            <a:off x="571500" y="4095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F6F8FC"/>
                </a:solidFill>
                <a:latin typeface="Arial"/>
                <a:ea typeface="Arial"/>
                <a:cs typeface="Arial"/>
              </a:defRPr>
            </a:defPPr>
          </a:lstStyle>
          <a:p xmlns:a="http://schemas.openxmlformats.org/drawingml/2006/main">
            <a:pPr>
              <a:defRPr sz="3000" b="1">
                <a:solidFill>
                  <a:srgbClr val="F6F8FC"/>
                </a:solidFill>
                <a:latin typeface="Arial"/>
                <a:ea typeface="Arial"/>
                <a:cs typeface="Arial"/>
              </a:defRPr>
            </a:pPr>
            <a:r>
              <a:rPr sz="3000" b="1">
                <a:solidFill>
                  <a:srgbClr val="F6F8FC"/>
                </a:solidFill>
                <a:latin typeface="Arial"/>
                <a:ea typeface="Arial"/>
                <a:cs typeface="Arial"/>
              </a:rPr>
              <a:t>Example 1: arithmetic and optimization</a:t>
            </a:r>
          </a:p>
        </p:txBody>
      </p:sp>
      <p:sp>
        <p:nvSpPr>
          <p:cNvPr id="3" name="">
            <a:extLst xmlns:a="http://schemas.openxmlformats.org/drawingml/2006/main">
              <a:ext uri="{FF2B5EF4-FFF2-40B4-BE49-F238E27FC236}">
                <a16:creationId xmlns:a16="http://schemas.microsoft.com/office/drawing/2014/main" id="{C5D18260-E549-4D07-B0BF-07C2B60EBC44}"/>
              </a:ext>
            </a:extLst>
          </p:cNvPr>
          <p:cNvSpPr>
            <a:spLocks xmlns:a="http://schemas.openxmlformats.org/drawingml/2006/main" noGrp="1"/>
          </p:cNvSpPr>
          <p:nvPr/>
        </p:nvSpPr>
        <p:spPr>
          <a:xfrm xmlns:a="http://schemas.openxmlformats.org/drawingml/2006/main">
            <a:off x="590550" y="9906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One small input shows tokens, AST, symbols, IR, optimized IR and C output.</a:t>
            </a:r>
          </a:p>
        </p:txBody>
      </p:sp>
      <p:sp>
        <p:nvSpPr>
          <p:cNvPr id="4" name="">
            <a:extLst xmlns:a="http://schemas.openxmlformats.org/drawingml/2006/main">
              <a:ext uri="{FF2B5EF4-FFF2-40B4-BE49-F238E27FC236}">
                <a16:creationId xmlns:a16="http://schemas.microsoft.com/office/drawing/2014/main" id="{BF518188-C261-49BC-9BFE-971267ED0E72}"/>
              </a:ext>
            </a:extLst>
          </p:cNvPr>
          <p:cNvSpPr>
            <a:spLocks xmlns:a="http://schemas.openxmlformats.org/drawingml/2006/main" noGrp="1"/>
          </p:cNvSpPr>
          <p:nvPr/>
        </p:nvSpPr>
        <p:spPr>
          <a:xfrm xmlns:a="http://schemas.openxmlformats.org/drawingml/2006/main">
            <a:off x="571500" y="6219825"/>
            <a:ext cx="110490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8062B40-A60B-4AA7-A529-8721CDF3892B}"/>
              </a:ext>
            </a:extLst>
          </p:cNvPr>
          <p:cNvSpPr>
            <a:spLocks xmlns:a="http://schemas.openxmlformats.org/drawingml/2006/main" noGrp="1"/>
          </p:cNvSpPr>
          <p:nvPr/>
        </p:nvSpPr>
        <p:spPr>
          <a:xfrm xmlns:a="http://schemas.openxmlformats.org/drawingml/2006/main">
            <a:off x="571500" y="63627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AEBBD0"/>
                </a:solidFill>
                <a:latin typeface="Arial"/>
                <a:ea typeface="Arial"/>
                <a:cs typeface="Arial"/>
              </a:defRPr>
            </a:defPPr>
          </a:lstStyle>
          <a:p xmlns:a="http://schemas.openxmlformats.org/drawingml/2006/main">
            <a:pPr>
              <a:defRPr sz="1050" b="1">
                <a:solidFill>
                  <a:srgbClr val="AEBBD0"/>
                </a:solidFill>
                <a:latin typeface="Arial"/>
                <a:ea typeface="Arial"/>
                <a:cs typeface="Arial"/>
              </a:defRPr>
            </a:pPr>
            <a:r>
              <a:rPr sz="1050" b="1">
                <a:solidFill>
                  <a:srgbClr val="AEBBD0"/>
                </a:solidFill>
                <a:latin typeface="Arial"/>
                <a:ea typeface="Arial"/>
                <a:cs typeface="Arial"/>
              </a:rPr>
              <a:t>REVIEW 2  /  PSEUDOCODE TO C</a:t>
            </a:r>
          </a:p>
        </p:txBody>
      </p:sp>
      <p:sp>
        <p:nvSpPr>
          <p:cNvPr id="6" name="">
            <a:extLst xmlns:a="http://schemas.openxmlformats.org/drawingml/2006/main">
              <a:ext uri="{FF2B5EF4-FFF2-40B4-BE49-F238E27FC236}">
                <a16:creationId xmlns:a16="http://schemas.microsoft.com/office/drawing/2014/main" id="{9DBDCBA1-83E2-496B-B466-A3F9E156091F}"/>
              </a:ext>
            </a:extLst>
          </p:cNvPr>
          <p:cNvSpPr>
            <a:spLocks xmlns:a="http://schemas.openxmlformats.org/drawingml/2006/main" noGrp="1"/>
          </p:cNvSpPr>
          <p:nvPr/>
        </p:nvSpPr>
        <p:spPr>
          <a:xfrm xmlns:a="http://schemas.openxmlformats.org/drawingml/2006/main">
            <a:off x="10953750" y="636270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0D5EA"/>
                </a:solidFill>
                <a:latin typeface="Arial"/>
                <a:ea typeface="Arial"/>
                <a:cs typeface="Arial"/>
              </a:defRPr>
            </a:defPPr>
          </a:lstStyle>
          <a:p xmlns:a="http://schemas.openxmlformats.org/drawingml/2006/main">
            <a:pPr>
              <a:defRPr sz="1050" b="1">
                <a:solidFill>
                  <a:srgbClr val="20D5EA"/>
                </a:solidFill>
                <a:latin typeface="Arial"/>
                <a:ea typeface="Arial"/>
                <a:cs typeface="Arial"/>
              </a:defRPr>
            </a:pPr>
            <a:r>
              <a:rPr sz="1050" b="1">
                <a:solidFill>
                  <a:srgbClr val="20D5EA"/>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E686A318-9413-48E3-AC36-BA310ACFD1D6}"/>
              </a:ext>
            </a:extLst>
          </p:cNvPr>
          <p:cNvSpPr>
            <a:spLocks xmlns:a="http://schemas.openxmlformats.org/drawingml/2006/main" noGrp="1"/>
          </p:cNvSpPr>
          <p:nvPr/>
        </p:nvSpPr>
        <p:spPr>
          <a:xfrm xmlns:a="http://schemas.openxmlformats.org/drawingml/2006/main">
            <a:off x="628650" y="1495425"/>
            <a:ext cx="2809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20D5EA"/>
                </a:solidFill>
                <a:latin typeface="Arial"/>
                <a:ea typeface="Arial"/>
                <a:cs typeface="Arial"/>
              </a:defRPr>
            </a:defPPr>
          </a:lstStyle>
          <a:p xmlns:a="http://schemas.openxmlformats.org/drawingml/2006/main">
            <a:pPr>
              <a:defRPr sz="1350" b="1">
                <a:solidFill>
                  <a:srgbClr val="20D5EA"/>
                </a:solidFill>
                <a:latin typeface="Arial"/>
                <a:ea typeface="Arial"/>
                <a:cs typeface="Arial"/>
              </a:defRPr>
            </a:pPr>
            <a:r>
              <a:rPr sz="1350" b="1">
                <a:solidFill>
                  <a:srgbClr val="20D5EA"/>
                </a:solidFill>
                <a:latin typeface="Arial"/>
                <a:ea typeface="Arial"/>
                <a:cs typeface="Arial"/>
              </a:rPr>
              <a:t>PSEUDOCODE</a:t>
            </a:r>
          </a:p>
        </p:txBody>
      </p:sp>
      <p:sp>
        <p:nvSpPr>
          <p:cNvPr id="8" name="">
            <a:extLst xmlns:a="http://schemas.openxmlformats.org/drawingml/2006/main">
              <a:ext uri="{FF2B5EF4-FFF2-40B4-BE49-F238E27FC236}">
                <a16:creationId xmlns:a16="http://schemas.microsoft.com/office/drawing/2014/main" id="{12BD181D-F272-4AEC-8350-35A3D1BF61E5}"/>
              </a:ext>
            </a:extLst>
          </p:cNvPr>
          <p:cNvSpPr>
            <a:spLocks xmlns:a="http://schemas.openxmlformats.org/drawingml/2006/main" noGrp="1"/>
          </p:cNvSpPr>
          <p:nvPr/>
        </p:nvSpPr>
        <p:spPr>
          <a:xfrm xmlns:a="http://schemas.openxmlformats.org/drawingml/2006/main">
            <a:off x="628650" y="1838325"/>
            <a:ext cx="2809875" cy="19050"/>
          </a:xfrm>
          <a:prstGeom xmlns:a="http://schemas.openxmlformats.org/drawingml/2006/main" prst="rect">
            <a:avLst/>
          </a:prstGeom>
          <a:solidFill xmlns:a="http://schemas.openxmlformats.org/drawingml/2006/main">
            <a:srgbClr val="20D5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472B755-D76B-4EDE-B8EA-7CB884078441}"/>
              </a:ext>
            </a:extLst>
          </p:cNvPr>
          <p:cNvSpPr>
            <a:spLocks xmlns:a="http://schemas.openxmlformats.org/drawingml/2006/main" noGrp="1"/>
          </p:cNvSpPr>
          <p:nvPr/>
        </p:nvSpPr>
        <p:spPr>
          <a:xfrm xmlns:a="http://schemas.openxmlformats.org/drawingml/2006/main">
            <a:off x="3657600" y="14954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4C82FF"/>
                </a:solidFill>
                <a:latin typeface="Arial"/>
                <a:ea typeface="Arial"/>
                <a:cs typeface="Arial"/>
              </a:defRPr>
            </a:defPPr>
          </a:lstStyle>
          <a:p xmlns:a="http://schemas.openxmlformats.org/drawingml/2006/main">
            <a:pPr>
              <a:defRPr sz="1350" b="1">
                <a:solidFill>
                  <a:srgbClr val="4C82FF"/>
                </a:solidFill>
                <a:latin typeface="Arial"/>
                <a:ea typeface="Arial"/>
                <a:cs typeface="Arial"/>
              </a:defRPr>
            </a:pPr>
            <a:r>
              <a:rPr sz="1350" b="1">
                <a:solidFill>
                  <a:srgbClr val="4C82FF"/>
                </a:solidFill>
                <a:latin typeface="Arial"/>
                <a:ea typeface="Arial"/>
                <a:cs typeface="Arial"/>
              </a:rPr>
              <a:t>ORIGINAL IR</a:t>
            </a:r>
          </a:p>
        </p:txBody>
      </p:sp>
      <p:sp>
        <p:nvSpPr>
          <p:cNvPr id="10" name="">
            <a:extLst xmlns:a="http://schemas.openxmlformats.org/drawingml/2006/main">
              <a:ext uri="{FF2B5EF4-FFF2-40B4-BE49-F238E27FC236}">
                <a16:creationId xmlns:a16="http://schemas.microsoft.com/office/drawing/2014/main" id="{734B31D0-AAFC-462A-B512-F5CD1E71F5CE}"/>
              </a:ext>
            </a:extLst>
          </p:cNvPr>
          <p:cNvSpPr>
            <a:spLocks xmlns:a="http://schemas.openxmlformats.org/drawingml/2006/main" noGrp="1"/>
          </p:cNvSpPr>
          <p:nvPr/>
        </p:nvSpPr>
        <p:spPr>
          <a:xfrm xmlns:a="http://schemas.openxmlformats.org/drawingml/2006/main">
            <a:off x="3657600" y="1838325"/>
            <a:ext cx="2667000" cy="19050"/>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12E7468-295B-4324-A35C-9DCF1A4F5130}"/>
              </a:ext>
            </a:extLst>
          </p:cNvPr>
          <p:cNvSpPr>
            <a:spLocks xmlns:a="http://schemas.openxmlformats.org/drawingml/2006/main" noGrp="1"/>
          </p:cNvSpPr>
          <p:nvPr/>
        </p:nvSpPr>
        <p:spPr>
          <a:xfrm xmlns:a="http://schemas.openxmlformats.org/drawingml/2006/main">
            <a:off x="6543675" y="14954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33D69B"/>
                </a:solidFill>
                <a:latin typeface="Arial"/>
                <a:ea typeface="Arial"/>
                <a:cs typeface="Arial"/>
              </a:defRPr>
            </a:defPPr>
          </a:lstStyle>
          <a:p xmlns:a="http://schemas.openxmlformats.org/drawingml/2006/main">
            <a:pPr>
              <a:defRPr sz="1350" b="1">
                <a:solidFill>
                  <a:srgbClr val="33D69B"/>
                </a:solidFill>
                <a:latin typeface="Arial"/>
                <a:ea typeface="Arial"/>
                <a:cs typeface="Arial"/>
              </a:defRPr>
            </a:pPr>
            <a:r>
              <a:rPr sz="1350" b="1">
                <a:solidFill>
                  <a:srgbClr val="33D69B"/>
                </a:solidFill>
                <a:latin typeface="Arial"/>
                <a:ea typeface="Arial"/>
                <a:cs typeface="Arial"/>
              </a:rPr>
              <a:t>OPTIMIZED IR</a:t>
            </a:r>
          </a:p>
        </p:txBody>
      </p:sp>
      <p:sp>
        <p:nvSpPr>
          <p:cNvPr id="12" name="">
            <a:extLst xmlns:a="http://schemas.openxmlformats.org/drawingml/2006/main">
              <a:ext uri="{FF2B5EF4-FFF2-40B4-BE49-F238E27FC236}">
                <a16:creationId xmlns:a16="http://schemas.microsoft.com/office/drawing/2014/main" id="{4CA16D3E-85FD-4BBB-A28F-2ABEFB4CC0B5}"/>
              </a:ext>
            </a:extLst>
          </p:cNvPr>
          <p:cNvSpPr>
            <a:spLocks xmlns:a="http://schemas.openxmlformats.org/drawingml/2006/main" noGrp="1"/>
          </p:cNvSpPr>
          <p:nvPr/>
        </p:nvSpPr>
        <p:spPr>
          <a:xfrm xmlns:a="http://schemas.openxmlformats.org/drawingml/2006/main">
            <a:off x="6543675" y="1838325"/>
            <a:ext cx="2667000" cy="19050"/>
          </a:xfrm>
          <a:prstGeom xmlns:a="http://schemas.openxmlformats.org/drawingml/2006/main" prst="rect">
            <a:avLst/>
          </a:prstGeom>
          <a:solidFill xmlns:a="http://schemas.openxmlformats.org/drawingml/2006/main">
            <a:srgbClr val="33D69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6BDB5F9-1980-4A78-89D4-C4D4423704D1}"/>
              </a:ext>
            </a:extLst>
          </p:cNvPr>
          <p:cNvSpPr>
            <a:spLocks xmlns:a="http://schemas.openxmlformats.org/drawingml/2006/main" noGrp="1"/>
          </p:cNvSpPr>
          <p:nvPr/>
        </p:nvSpPr>
        <p:spPr>
          <a:xfrm xmlns:a="http://schemas.openxmlformats.org/drawingml/2006/main">
            <a:off x="9429750" y="1495425"/>
            <a:ext cx="2143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F6B94D"/>
                </a:solidFill>
                <a:latin typeface="Arial"/>
                <a:ea typeface="Arial"/>
                <a:cs typeface="Arial"/>
              </a:defRPr>
            </a:defPPr>
          </a:lstStyle>
          <a:p xmlns:a="http://schemas.openxmlformats.org/drawingml/2006/main">
            <a:pPr>
              <a:defRPr sz="1350" b="1">
                <a:solidFill>
                  <a:srgbClr val="F6B94D"/>
                </a:solidFill>
                <a:latin typeface="Arial"/>
                <a:ea typeface="Arial"/>
                <a:cs typeface="Arial"/>
              </a:defRPr>
            </a:pPr>
            <a:r>
              <a:rPr sz="1350" b="1">
                <a:solidFill>
                  <a:srgbClr val="F6B94D"/>
                </a:solidFill>
                <a:latin typeface="Arial"/>
                <a:ea typeface="Arial"/>
                <a:cs typeface="Arial"/>
              </a:rPr>
              <a:t>C STATEMENTS</a:t>
            </a:r>
          </a:p>
        </p:txBody>
      </p:sp>
      <p:sp>
        <p:nvSpPr>
          <p:cNvPr id="14" name="">
            <a:extLst xmlns:a="http://schemas.openxmlformats.org/drawingml/2006/main">
              <a:ext uri="{FF2B5EF4-FFF2-40B4-BE49-F238E27FC236}">
                <a16:creationId xmlns:a16="http://schemas.microsoft.com/office/drawing/2014/main" id="{424D5970-CFF9-405D-AD12-3FDA479F0A95}"/>
              </a:ext>
            </a:extLst>
          </p:cNvPr>
          <p:cNvSpPr>
            <a:spLocks xmlns:a="http://schemas.openxmlformats.org/drawingml/2006/main" noGrp="1"/>
          </p:cNvSpPr>
          <p:nvPr/>
        </p:nvSpPr>
        <p:spPr>
          <a:xfrm xmlns:a="http://schemas.openxmlformats.org/drawingml/2006/main">
            <a:off x="9429750" y="1838325"/>
            <a:ext cx="2143125" cy="19050"/>
          </a:xfrm>
          <a:prstGeom xmlns:a="http://schemas.openxmlformats.org/drawingml/2006/main" prst="rect">
            <a:avLst/>
          </a:prstGeom>
          <a:solidFill xmlns:a="http://schemas.openxmlformats.org/drawingml/2006/main">
            <a:srgbClr val="F6B94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25667EE-5AAA-432F-A3A4-D1651D7097A2}"/>
              </a:ext>
            </a:extLst>
          </p:cNvPr>
          <p:cNvSpPr>
            <a:spLocks xmlns:a="http://schemas.openxmlformats.org/drawingml/2006/main" noGrp="1"/>
          </p:cNvSpPr>
          <p:nvPr/>
        </p:nvSpPr>
        <p:spPr>
          <a:xfrm xmlns:a="http://schemas.openxmlformats.org/drawingml/2006/main">
            <a:off x="619125" y="2000250"/>
            <a:ext cx="2819400" cy="2219325"/>
          </a:xfrm>
          <a:prstGeom xmlns:a="http://schemas.openxmlformats.org/drawingml/2006/main" prst="roundRect">
            <a:avLst>
              <a:gd name="adj" fmla="val 4292"/>
            </a:avLst>
          </a:prstGeom>
          <a:solidFill xmlns:a="http://schemas.openxmlformats.org/drawingml/2006/main">
            <a:srgbClr val="101B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BADB615-C72C-4496-97A7-59064F28E6DD}"/>
              </a:ext>
            </a:extLst>
          </p:cNvPr>
          <p:cNvSpPr>
            <a:spLocks xmlns:a="http://schemas.openxmlformats.org/drawingml/2006/main" noGrp="1"/>
          </p:cNvSpPr>
          <p:nvPr/>
        </p:nvSpPr>
        <p:spPr>
          <a:xfrm xmlns:a="http://schemas.openxmlformats.org/drawingml/2006/main">
            <a:off x="828675" y="2162175"/>
            <a:ext cx="2400300" cy="1895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F6F8FC"/>
                </a:solidFill>
                <a:latin typeface="Consolas"/>
                <a:ea typeface="Consolas"/>
                <a:cs typeface="Consolas"/>
              </a:defRPr>
            </a:defPPr>
          </a:lstStyle>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BEGIN</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DECLARE x AS INTEGER</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SET x = 2 + 3</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PRINT x</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END</a:t>
            </a:r>
          </a:p>
        </p:txBody>
      </p:sp>
      <p:sp>
        <p:nvSpPr>
          <p:cNvPr id="17" name="">
            <a:extLst xmlns:a="http://schemas.openxmlformats.org/drawingml/2006/main">
              <a:ext uri="{FF2B5EF4-FFF2-40B4-BE49-F238E27FC236}">
                <a16:creationId xmlns:a16="http://schemas.microsoft.com/office/drawing/2014/main" id="{00763B54-C639-4C2B-9F83-20D3480D7278}"/>
              </a:ext>
            </a:extLst>
          </p:cNvPr>
          <p:cNvSpPr>
            <a:spLocks xmlns:a="http://schemas.openxmlformats.org/drawingml/2006/main" noGrp="1"/>
          </p:cNvSpPr>
          <p:nvPr/>
        </p:nvSpPr>
        <p:spPr>
          <a:xfrm xmlns:a="http://schemas.openxmlformats.org/drawingml/2006/main">
            <a:off x="3638550" y="2000250"/>
            <a:ext cx="2686050" cy="2219325"/>
          </a:xfrm>
          <a:prstGeom xmlns:a="http://schemas.openxmlformats.org/drawingml/2006/main" prst="roundRect">
            <a:avLst>
              <a:gd name="adj" fmla="val 4292"/>
            </a:avLst>
          </a:prstGeom>
          <a:solidFill xmlns:a="http://schemas.openxmlformats.org/drawingml/2006/main">
            <a:srgbClr val="101B2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ABE682A-A56B-42A2-9B8F-6DFC5B136A67}"/>
              </a:ext>
            </a:extLst>
          </p:cNvPr>
          <p:cNvSpPr>
            <a:spLocks xmlns:a="http://schemas.openxmlformats.org/drawingml/2006/main" noGrp="1"/>
          </p:cNvSpPr>
          <p:nvPr/>
        </p:nvSpPr>
        <p:spPr>
          <a:xfrm xmlns:a="http://schemas.openxmlformats.org/drawingml/2006/main">
            <a:off x="3848100" y="2162175"/>
            <a:ext cx="2266950" cy="1895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F6F8FC"/>
                </a:solidFill>
                <a:latin typeface="Consolas"/>
                <a:ea typeface="Consolas"/>
                <a:cs typeface="Consolas"/>
              </a:defRPr>
            </a:defPPr>
          </a:lstStyle>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DECLARE x : INTEGER</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t1 = 2 + 3</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x = t1</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PRINT x</a:t>
            </a:r>
          </a:p>
        </p:txBody>
      </p:sp>
      <p:sp>
        <p:nvSpPr>
          <p:cNvPr id="19" name="">
            <a:extLst xmlns:a="http://schemas.openxmlformats.org/drawingml/2006/main">
              <a:ext uri="{FF2B5EF4-FFF2-40B4-BE49-F238E27FC236}">
                <a16:creationId xmlns:a16="http://schemas.microsoft.com/office/drawing/2014/main" id="{4D85AABE-91F7-49B4-8AC2-BFE1C5C612A8}"/>
              </a:ext>
            </a:extLst>
          </p:cNvPr>
          <p:cNvSpPr>
            <a:spLocks xmlns:a="http://schemas.openxmlformats.org/drawingml/2006/main" noGrp="1"/>
          </p:cNvSpPr>
          <p:nvPr/>
        </p:nvSpPr>
        <p:spPr>
          <a:xfrm xmlns:a="http://schemas.openxmlformats.org/drawingml/2006/main">
            <a:off x="6534150" y="2000250"/>
            <a:ext cx="2686050" cy="2219325"/>
          </a:xfrm>
          <a:prstGeom xmlns:a="http://schemas.openxmlformats.org/drawingml/2006/main" prst="roundRect">
            <a:avLst>
              <a:gd name="adj" fmla="val 4292"/>
            </a:avLst>
          </a:prstGeom>
          <a:solidFill xmlns:a="http://schemas.openxmlformats.org/drawingml/2006/main">
            <a:srgbClr val="101B2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8DEB977-D7CB-4F53-BFC0-5B89236571D9}"/>
              </a:ext>
            </a:extLst>
          </p:cNvPr>
          <p:cNvSpPr>
            <a:spLocks xmlns:a="http://schemas.openxmlformats.org/drawingml/2006/main" noGrp="1"/>
          </p:cNvSpPr>
          <p:nvPr/>
        </p:nvSpPr>
        <p:spPr>
          <a:xfrm xmlns:a="http://schemas.openxmlformats.org/drawingml/2006/main">
            <a:off x="6743700" y="2162175"/>
            <a:ext cx="2266950" cy="1895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F6F8FC"/>
                </a:solidFill>
                <a:latin typeface="Consolas"/>
                <a:ea typeface="Consolas"/>
                <a:cs typeface="Consolas"/>
              </a:defRPr>
            </a:defPPr>
          </a:lstStyle>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DECLARE x : INTEGER</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x = 5</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PRINT x</a:t>
            </a:r>
          </a:p>
        </p:txBody>
      </p:sp>
      <p:sp>
        <p:nvSpPr>
          <p:cNvPr id="21" name="">
            <a:extLst xmlns:a="http://schemas.openxmlformats.org/drawingml/2006/main">
              <a:ext uri="{FF2B5EF4-FFF2-40B4-BE49-F238E27FC236}">
                <a16:creationId xmlns:a16="http://schemas.microsoft.com/office/drawing/2014/main" id="{A9C7DE0F-D19F-45EC-9327-A920E46E0605}"/>
              </a:ext>
            </a:extLst>
          </p:cNvPr>
          <p:cNvSpPr>
            <a:spLocks xmlns:a="http://schemas.openxmlformats.org/drawingml/2006/main" noGrp="1"/>
          </p:cNvSpPr>
          <p:nvPr/>
        </p:nvSpPr>
        <p:spPr>
          <a:xfrm xmlns:a="http://schemas.openxmlformats.org/drawingml/2006/main">
            <a:off x="9410700" y="2000250"/>
            <a:ext cx="2152650" cy="2219325"/>
          </a:xfrm>
          <a:prstGeom xmlns:a="http://schemas.openxmlformats.org/drawingml/2006/main" prst="roundRect">
            <a:avLst>
              <a:gd name="adj" fmla="val 4425"/>
            </a:avLst>
          </a:prstGeom>
          <a:solidFill xmlns:a="http://schemas.openxmlformats.org/drawingml/2006/main">
            <a:srgbClr val="101B2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C34B049-E772-4093-A913-5EE43C58A1D2}"/>
              </a:ext>
            </a:extLst>
          </p:cNvPr>
          <p:cNvSpPr>
            <a:spLocks xmlns:a="http://schemas.openxmlformats.org/drawingml/2006/main" noGrp="1"/>
          </p:cNvSpPr>
          <p:nvPr/>
        </p:nvSpPr>
        <p:spPr>
          <a:xfrm xmlns:a="http://schemas.openxmlformats.org/drawingml/2006/main">
            <a:off x="9620250" y="2162175"/>
            <a:ext cx="1733550" cy="1895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F6F8FC"/>
                </a:solidFill>
                <a:latin typeface="Consolas"/>
                <a:ea typeface="Consolas"/>
                <a:cs typeface="Consolas"/>
              </a:defRPr>
            </a:defPPr>
          </a:lstStyle>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int x;</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x = 5;</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printf("%d\n", x);</a:t>
            </a:r>
          </a:p>
        </p:txBody>
      </p:sp>
      <p:sp>
        <p:nvSpPr>
          <p:cNvPr id="23" name="">
            <a:extLst xmlns:a="http://schemas.openxmlformats.org/drawingml/2006/main">
              <a:ext uri="{FF2B5EF4-FFF2-40B4-BE49-F238E27FC236}">
                <a16:creationId xmlns:a16="http://schemas.microsoft.com/office/drawing/2014/main" id="{2175AF78-D248-4FB8-8F67-CFCA9475D74D}"/>
              </a:ext>
            </a:extLst>
          </p:cNvPr>
          <p:cNvSpPr>
            <a:spLocks xmlns:a="http://schemas.openxmlformats.org/drawingml/2006/main" noGrp="1"/>
          </p:cNvSpPr>
          <p:nvPr/>
        </p:nvSpPr>
        <p:spPr>
          <a:xfrm xmlns:a="http://schemas.openxmlformats.org/drawingml/2006/main">
            <a:off x="628650" y="4619625"/>
            <a:ext cx="1091565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7644997-B9B9-4540-A5D9-94A4AABD8A6D}"/>
              </a:ext>
            </a:extLst>
          </p:cNvPr>
          <p:cNvSpPr>
            <a:spLocks xmlns:a="http://schemas.openxmlformats.org/drawingml/2006/main" noGrp="1"/>
          </p:cNvSpPr>
          <p:nvPr/>
        </p:nvSpPr>
        <p:spPr>
          <a:xfrm xmlns:a="http://schemas.openxmlformats.org/drawingml/2006/main">
            <a:off x="638175" y="477202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6F8FC"/>
                </a:solidFill>
                <a:latin typeface="Arial"/>
                <a:ea typeface="Arial"/>
                <a:cs typeface="Arial"/>
              </a:defRPr>
            </a:defPPr>
          </a:lstStyle>
          <a:p xmlns:a="http://schemas.openxmlformats.org/drawingml/2006/main">
            <a:pPr>
              <a:defRPr sz="1650" b="0">
                <a:solidFill>
                  <a:srgbClr val="F6F8FC"/>
                </a:solidFill>
                <a:latin typeface="Arial"/>
                <a:ea typeface="Arial"/>
                <a:cs typeface="Arial"/>
              </a:defRPr>
            </a:pPr>
            <a:r>
              <a:rPr sz="1650" b="0">
                <a:solidFill>
                  <a:srgbClr val="F6F8FC"/>
                </a:solidFill>
                <a:latin typeface="Arial"/>
                <a:ea typeface="Arial"/>
                <a:cs typeface="Arial"/>
              </a:rPr>
              <a:t>Tokens identify DECLARE, SET, literals and operators. The AST records expression structure.</a:t>
            </a:r>
          </a:p>
        </p:txBody>
      </p:sp>
      <p:sp>
        <p:nvSpPr>
          <p:cNvPr id="25" name="">
            <a:extLst xmlns:a="http://schemas.openxmlformats.org/drawingml/2006/main">
              <a:ext uri="{FF2B5EF4-FFF2-40B4-BE49-F238E27FC236}">
                <a16:creationId xmlns:a16="http://schemas.microsoft.com/office/drawing/2014/main" id="{44D37A97-8A22-477E-9F75-76A52A37C560}"/>
              </a:ext>
            </a:extLst>
          </p:cNvPr>
          <p:cNvSpPr>
            <a:spLocks xmlns:a="http://schemas.openxmlformats.org/drawingml/2006/main" noGrp="1"/>
          </p:cNvSpPr>
          <p:nvPr/>
        </p:nvSpPr>
        <p:spPr>
          <a:xfrm xmlns:a="http://schemas.openxmlformats.org/drawingml/2006/main">
            <a:off x="638175" y="530542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20D5EA"/>
                </a:solidFill>
                <a:latin typeface="Arial"/>
                <a:ea typeface="Arial"/>
                <a:cs typeface="Arial"/>
              </a:defRPr>
            </a:defPPr>
          </a:lstStyle>
          <a:p xmlns:a="http://schemas.openxmlformats.org/drawingml/2006/main">
            <a:pPr>
              <a:defRPr sz="1650" b="1">
                <a:solidFill>
                  <a:srgbClr val="20D5EA"/>
                </a:solidFill>
                <a:latin typeface="Arial"/>
                <a:ea typeface="Arial"/>
                <a:cs typeface="Arial"/>
              </a:defRPr>
            </a:pPr>
            <a:r>
              <a:rPr sz="1650" b="1">
                <a:solidFill>
                  <a:srgbClr val="20D5EA"/>
                </a:solidFill>
                <a:latin typeface="Arial"/>
                <a:ea typeface="Arial"/>
                <a:cs typeface="Arial"/>
              </a:rPr>
              <a:t>The symbol table records x as INTEGER. Compiled C prints 5.</a:t>
            </a:r>
          </a:p>
        </p:txBody>
      </p:sp>
    </p:spTree>
    <p:extLst>
      <p:ext uri="{BB962C8B-B14F-4D97-AF65-F5344CB8AC3E}">
        <p14:creationId xmlns:p14="http://schemas.microsoft.com/office/powerpoint/2010/main" val="460939212"/>
      </p:ext>
    </p:extLst>
  </p:cSld>
</p:sld>
</file>

<file path=ppt/slides/slide7.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DB39F09-2217-40C5-965F-7CD3B0C9A3C7}"/>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8A220D6-4678-4F28-B256-745130B20F93}"/>
              </a:ext>
            </a:extLst>
          </p:cNvPr>
          <p:cNvSpPr>
            <a:spLocks xmlns:a="http://schemas.openxmlformats.org/drawingml/2006/main" noGrp="1"/>
          </p:cNvSpPr>
          <p:nvPr/>
        </p:nvSpPr>
        <p:spPr>
          <a:xfrm xmlns:a="http://schemas.openxmlformats.org/drawingml/2006/main">
            <a:off x="571500" y="4095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F6F8FC"/>
                </a:solidFill>
                <a:latin typeface="Arial"/>
                <a:ea typeface="Arial"/>
                <a:cs typeface="Arial"/>
              </a:defRPr>
            </a:defPPr>
          </a:lstStyle>
          <a:p xmlns:a="http://schemas.openxmlformats.org/drawingml/2006/main">
            <a:pPr>
              <a:defRPr sz="3000" b="1">
                <a:solidFill>
                  <a:srgbClr val="F6F8FC"/>
                </a:solidFill>
                <a:latin typeface="Arial"/>
                <a:ea typeface="Arial"/>
                <a:cs typeface="Arial"/>
              </a:defRPr>
            </a:pPr>
            <a:r>
              <a:rPr sz="3000" b="1">
                <a:solidFill>
                  <a:srgbClr val="F6F8FC"/>
                </a:solidFill>
                <a:latin typeface="Arial"/>
                <a:ea typeface="Arial"/>
                <a:cs typeface="Arial"/>
              </a:rPr>
              <a:t>Example 2: loop and branch</a:t>
            </a:r>
          </a:p>
        </p:txBody>
      </p:sp>
      <p:sp>
        <p:nvSpPr>
          <p:cNvPr id="3" name="">
            <a:extLst xmlns:a="http://schemas.openxmlformats.org/drawingml/2006/main">
              <a:ext uri="{FF2B5EF4-FFF2-40B4-BE49-F238E27FC236}">
                <a16:creationId xmlns:a16="http://schemas.microsoft.com/office/drawing/2014/main" id="{96A774B0-0476-4F4C-B666-E447245DC899}"/>
              </a:ext>
            </a:extLst>
          </p:cNvPr>
          <p:cNvSpPr>
            <a:spLocks xmlns:a="http://schemas.openxmlformats.org/drawingml/2006/main" noGrp="1"/>
          </p:cNvSpPr>
          <p:nvPr/>
        </p:nvSpPr>
        <p:spPr>
          <a:xfrm xmlns:a="http://schemas.openxmlformats.org/drawingml/2006/main">
            <a:off x="590550" y="9906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Complete pseudocode → loop IR → ordinary C for loop → observed result.</a:t>
            </a:r>
          </a:p>
        </p:txBody>
      </p:sp>
      <p:sp>
        <p:nvSpPr>
          <p:cNvPr id="4" name="">
            <a:extLst xmlns:a="http://schemas.openxmlformats.org/drawingml/2006/main">
              <a:ext uri="{FF2B5EF4-FFF2-40B4-BE49-F238E27FC236}">
                <a16:creationId xmlns:a16="http://schemas.microsoft.com/office/drawing/2014/main" id="{53BAD242-3F07-46F8-BC45-BBD2DAE09247}"/>
              </a:ext>
            </a:extLst>
          </p:cNvPr>
          <p:cNvSpPr>
            <a:spLocks xmlns:a="http://schemas.openxmlformats.org/drawingml/2006/main" noGrp="1"/>
          </p:cNvSpPr>
          <p:nvPr/>
        </p:nvSpPr>
        <p:spPr>
          <a:xfrm xmlns:a="http://schemas.openxmlformats.org/drawingml/2006/main">
            <a:off x="571500" y="6219825"/>
            <a:ext cx="110490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9DB4F29-4990-45E4-AE36-ADD2937FCF63}"/>
              </a:ext>
            </a:extLst>
          </p:cNvPr>
          <p:cNvSpPr>
            <a:spLocks xmlns:a="http://schemas.openxmlformats.org/drawingml/2006/main" noGrp="1"/>
          </p:cNvSpPr>
          <p:nvPr/>
        </p:nvSpPr>
        <p:spPr>
          <a:xfrm xmlns:a="http://schemas.openxmlformats.org/drawingml/2006/main">
            <a:off x="571500" y="63627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AEBBD0"/>
                </a:solidFill>
                <a:latin typeface="Arial"/>
                <a:ea typeface="Arial"/>
                <a:cs typeface="Arial"/>
              </a:defRPr>
            </a:defPPr>
          </a:lstStyle>
          <a:p xmlns:a="http://schemas.openxmlformats.org/drawingml/2006/main">
            <a:pPr>
              <a:defRPr sz="1050" b="1">
                <a:solidFill>
                  <a:srgbClr val="AEBBD0"/>
                </a:solidFill>
                <a:latin typeface="Arial"/>
                <a:ea typeface="Arial"/>
                <a:cs typeface="Arial"/>
              </a:defRPr>
            </a:pPr>
            <a:r>
              <a:rPr sz="1050" b="1">
                <a:solidFill>
                  <a:srgbClr val="AEBBD0"/>
                </a:solidFill>
                <a:latin typeface="Arial"/>
                <a:ea typeface="Arial"/>
                <a:cs typeface="Arial"/>
              </a:rPr>
              <a:t>REVIEW 2  /  PSEUDOCODE TO C</a:t>
            </a:r>
          </a:p>
        </p:txBody>
      </p:sp>
      <p:sp>
        <p:nvSpPr>
          <p:cNvPr id="6" name="">
            <a:extLst xmlns:a="http://schemas.openxmlformats.org/drawingml/2006/main">
              <a:ext uri="{FF2B5EF4-FFF2-40B4-BE49-F238E27FC236}">
                <a16:creationId xmlns:a16="http://schemas.microsoft.com/office/drawing/2014/main" id="{AEC292D5-64A8-4E0F-9AD8-B6077FACDE92}"/>
              </a:ext>
            </a:extLst>
          </p:cNvPr>
          <p:cNvSpPr>
            <a:spLocks xmlns:a="http://schemas.openxmlformats.org/drawingml/2006/main" noGrp="1"/>
          </p:cNvSpPr>
          <p:nvPr/>
        </p:nvSpPr>
        <p:spPr>
          <a:xfrm xmlns:a="http://schemas.openxmlformats.org/drawingml/2006/main">
            <a:off x="10953750" y="636270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0D5EA"/>
                </a:solidFill>
                <a:latin typeface="Arial"/>
                <a:ea typeface="Arial"/>
                <a:cs typeface="Arial"/>
              </a:defRPr>
            </a:defPPr>
          </a:lstStyle>
          <a:p xmlns:a="http://schemas.openxmlformats.org/drawingml/2006/main">
            <a:pPr>
              <a:defRPr sz="1050" b="1">
                <a:solidFill>
                  <a:srgbClr val="20D5EA"/>
                </a:solidFill>
                <a:latin typeface="Arial"/>
                <a:ea typeface="Arial"/>
                <a:cs typeface="Arial"/>
              </a:defRPr>
            </a:pPr>
            <a:r>
              <a:rPr sz="1050" b="1">
                <a:solidFill>
                  <a:srgbClr val="20D5EA"/>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D68C1072-0F52-4703-A888-3DBA4BBD4E65}"/>
              </a:ext>
            </a:extLst>
          </p:cNvPr>
          <p:cNvSpPr>
            <a:spLocks xmlns:a="http://schemas.openxmlformats.org/drawingml/2006/main" noGrp="1"/>
          </p:cNvSpPr>
          <p:nvPr/>
        </p:nvSpPr>
        <p:spPr>
          <a:xfrm xmlns:a="http://schemas.openxmlformats.org/drawingml/2006/main">
            <a:off x="628650" y="146685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20D5EA"/>
                </a:solidFill>
                <a:latin typeface="Arial"/>
                <a:ea typeface="Arial"/>
                <a:cs typeface="Arial"/>
              </a:defRPr>
            </a:defPPr>
          </a:lstStyle>
          <a:p xmlns:a="http://schemas.openxmlformats.org/drawingml/2006/main">
            <a:pPr>
              <a:defRPr sz="1350" b="1">
                <a:solidFill>
                  <a:srgbClr val="20D5EA"/>
                </a:solidFill>
                <a:latin typeface="Arial"/>
                <a:ea typeface="Arial"/>
                <a:cs typeface="Arial"/>
              </a:defRPr>
            </a:pPr>
            <a:r>
              <a:rPr sz="1350" b="1">
                <a:solidFill>
                  <a:srgbClr val="20D5EA"/>
                </a:solidFill>
                <a:latin typeface="Arial"/>
                <a:ea typeface="Arial"/>
                <a:cs typeface="Arial"/>
              </a:rPr>
              <a:t>PSEUDOCODE</a:t>
            </a:r>
          </a:p>
        </p:txBody>
      </p:sp>
      <p:sp>
        <p:nvSpPr>
          <p:cNvPr id="8" name="">
            <a:extLst xmlns:a="http://schemas.openxmlformats.org/drawingml/2006/main">
              <a:ext uri="{FF2B5EF4-FFF2-40B4-BE49-F238E27FC236}">
                <a16:creationId xmlns:a16="http://schemas.microsoft.com/office/drawing/2014/main" id="{3B47B4A5-0652-42DC-AA9D-9019F797FE73}"/>
              </a:ext>
            </a:extLst>
          </p:cNvPr>
          <p:cNvSpPr>
            <a:spLocks xmlns:a="http://schemas.openxmlformats.org/drawingml/2006/main" noGrp="1"/>
          </p:cNvSpPr>
          <p:nvPr/>
        </p:nvSpPr>
        <p:spPr>
          <a:xfrm xmlns:a="http://schemas.openxmlformats.org/drawingml/2006/main">
            <a:off x="628650" y="1809750"/>
            <a:ext cx="4905375" cy="19050"/>
          </a:xfrm>
          <a:prstGeom xmlns:a="http://schemas.openxmlformats.org/drawingml/2006/main" prst="rect">
            <a:avLst/>
          </a:prstGeom>
          <a:solidFill xmlns:a="http://schemas.openxmlformats.org/drawingml/2006/main">
            <a:srgbClr val="20D5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77D7189-7DD0-41A7-815B-F4A1B7B2A5EB}"/>
              </a:ext>
            </a:extLst>
          </p:cNvPr>
          <p:cNvSpPr>
            <a:spLocks xmlns:a="http://schemas.openxmlformats.org/drawingml/2006/main" noGrp="1"/>
          </p:cNvSpPr>
          <p:nvPr/>
        </p:nvSpPr>
        <p:spPr>
          <a:xfrm xmlns:a="http://schemas.openxmlformats.org/drawingml/2006/main">
            <a:off x="619125" y="1924050"/>
            <a:ext cx="4914900" cy="3419475"/>
          </a:xfrm>
          <a:prstGeom xmlns:a="http://schemas.openxmlformats.org/drawingml/2006/main" prst="roundRect">
            <a:avLst>
              <a:gd name="adj" fmla="val 2786"/>
            </a:avLst>
          </a:prstGeom>
          <a:solidFill xmlns:a="http://schemas.openxmlformats.org/drawingml/2006/main">
            <a:srgbClr val="101B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F84D2E4-39FD-45CB-B9D6-12BA124C1EAE}"/>
              </a:ext>
            </a:extLst>
          </p:cNvPr>
          <p:cNvSpPr>
            <a:spLocks xmlns:a="http://schemas.openxmlformats.org/drawingml/2006/main" noGrp="1"/>
          </p:cNvSpPr>
          <p:nvPr/>
        </p:nvSpPr>
        <p:spPr>
          <a:xfrm xmlns:a="http://schemas.openxmlformats.org/drawingml/2006/main">
            <a:off x="828675" y="2085975"/>
            <a:ext cx="4495800"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F6F8FC"/>
                </a:solidFill>
                <a:latin typeface="Consolas"/>
                <a:ea typeface="Consolas"/>
                <a:cs typeface="Consolas"/>
              </a:defRPr>
            </a:defPPr>
          </a:lstStyle>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BEGIN</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DECLARE total AS INTEGER</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DECLARE i AS INTEGER</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SET total = 0</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FOR i = 1 TO 4 DO</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  IF i == 2 THEN</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    CONTINUE</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  ENDIF</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  SET total = total + i</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ENDFOR</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PRINT total</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END</a:t>
            </a:r>
          </a:p>
        </p:txBody>
      </p:sp>
      <p:sp>
        <p:nvSpPr>
          <p:cNvPr id="11" name="">
            <a:extLst xmlns:a="http://schemas.openxmlformats.org/drawingml/2006/main">
              <a:ext uri="{FF2B5EF4-FFF2-40B4-BE49-F238E27FC236}">
                <a16:creationId xmlns:a16="http://schemas.microsoft.com/office/drawing/2014/main" id="{3E4B9AE2-2E5A-4F54-9333-45D9EA0D2A1A}"/>
              </a:ext>
            </a:extLst>
          </p:cNvPr>
          <p:cNvSpPr>
            <a:spLocks xmlns:a="http://schemas.openxmlformats.org/drawingml/2006/main" noGrp="1"/>
          </p:cNvSpPr>
          <p:nvPr/>
        </p:nvSpPr>
        <p:spPr>
          <a:xfrm xmlns:a="http://schemas.openxmlformats.org/drawingml/2006/main">
            <a:off x="5991225" y="1466850"/>
            <a:ext cx="548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4C82FF"/>
                </a:solidFill>
                <a:latin typeface="Arial"/>
                <a:ea typeface="Arial"/>
                <a:cs typeface="Arial"/>
              </a:defRPr>
            </a:defPPr>
          </a:lstStyle>
          <a:p xmlns:a="http://schemas.openxmlformats.org/drawingml/2006/main">
            <a:pPr>
              <a:defRPr sz="1350" b="1">
                <a:solidFill>
                  <a:srgbClr val="4C82FF"/>
                </a:solidFill>
                <a:latin typeface="Arial"/>
                <a:ea typeface="Arial"/>
                <a:cs typeface="Arial"/>
              </a:defRPr>
            </a:pPr>
            <a:r>
              <a:rPr sz="1350" b="1">
                <a:solidFill>
                  <a:srgbClr val="4C82FF"/>
                </a:solidFill>
                <a:latin typeface="Arial"/>
                <a:ea typeface="Arial"/>
                <a:cs typeface="Arial"/>
              </a:rPr>
              <a:t>KEY IR</a:t>
            </a:r>
          </a:p>
        </p:txBody>
      </p:sp>
      <p:sp>
        <p:nvSpPr>
          <p:cNvPr id="12" name="">
            <a:extLst xmlns:a="http://schemas.openxmlformats.org/drawingml/2006/main">
              <a:ext uri="{FF2B5EF4-FFF2-40B4-BE49-F238E27FC236}">
                <a16:creationId xmlns:a16="http://schemas.microsoft.com/office/drawing/2014/main" id="{2EE1347F-9951-4E85-99B0-1858628B9A7A}"/>
              </a:ext>
            </a:extLst>
          </p:cNvPr>
          <p:cNvSpPr>
            <a:spLocks xmlns:a="http://schemas.openxmlformats.org/drawingml/2006/main" noGrp="1"/>
          </p:cNvSpPr>
          <p:nvPr/>
        </p:nvSpPr>
        <p:spPr>
          <a:xfrm xmlns:a="http://schemas.openxmlformats.org/drawingml/2006/main">
            <a:off x="5991225" y="1809750"/>
            <a:ext cx="5486400" cy="19050"/>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9789841-D0EA-4972-8C5A-1372E20CF283}"/>
              </a:ext>
            </a:extLst>
          </p:cNvPr>
          <p:cNvSpPr>
            <a:spLocks xmlns:a="http://schemas.openxmlformats.org/drawingml/2006/main" noGrp="1"/>
          </p:cNvSpPr>
          <p:nvPr/>
        </p:nvSpPr>
        <p:spPr>
          <a:xfrm xmlns:a="http://schemas.openxmlformats.org/drawingml/2006/main">
            <a:off x="5981700" y="1924050"/>
            <a:ext cx="5495925" cy="1333500"/>
          </a:xfrm>
          <a:prstGeom xmlns:a="http://schemas.openxmlformats.org/drawingml/2006/main" prst="roundRect">
            <a:avLst>
              <a:gd name="adj" fmla="val 7143"/>
            </a:avLst>
          </a:prstGeom>
          <a:solidFill xmlns:a="http://schemas.openxmlformats.org/drawingml/2006/main">
            <a:srgbClr val="101B2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868D80-C73E-4A60-BA63-93800052DBEE}"/>
              </a:ext>
            </a:extLst>
          </p:cNvPr>
          <p:cNvSpPr>
            <a:spLocks xmlns:a="http://schemas.openxmlformats.org/drawingml/2006/main" noGrp="1"/>
          </p:cNvSpPr>
          <p:nvPr/>
        </p:nvSpPr>
        <p:spPr>
          <a:xfrm xmlns:a="http://schemas.openxmlformats.org/drawingml/2006/main">
            <a:off x="6191250" y="2085975"/>
            <a:ext cx="50768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0">
                <a:solidFill>
                  <a:srgbClr val="F6F8FC"/>
                </a:solidFill>
                <a:latin typeface="Consolas"/>
                <a:ea typeface="Consolas"/>
                <a:cs typeface="Consolas"/>
              </a:defRPr>
            </a:defPPr>
          </a:lstStyle>
          <a:p xmlns:a="http://schemas.openxmlformats.org/drawingml/2006/main">
            <a:pPr>
              <a:defRPr sz="1050" b="0">
                <a:solidFill>
                  <a:srgbClr val="F6F8FC"/>
                </a:solidFill>
                <a:latin typeface="Consolas"/>
                <a:ea typeface="Consolas"/>
                <a:cs typeface="Consolas"/>
              </a:defRPr>
            </a:pPr>
            <a:r>
              <a:rPr sz="1050" b="0">
                <a:solidFill>
                  <a:srgbClr val="F6F8FC"/>
                </a:solidFill>
                <a:latin typeface="Consolas"/>
                <a:ea typeface="Consolas"/>
                <a:cs typeface="Consolas"/>
              </a:rPr>
              <a:t>FOR i = 1 TO 4 STEP 1</a:t>
            </a:r>
          </a:p>
          <a:p xmlns:a="http://schemas.openxmlformats.org/drawingml/2006/main">
            <a:pPr>
              <a:defRPr sz="1050" b="0">
                <a:solidFill>
                  <a:srgbClr val="F6F8FC"/>
                </a:solidFill>
                <a:latin typeface="Consolas"/>
                <a:ea typeface="Consolas"/>
                <a:cs typeface="Consolas"/>
              </a:defRPr>
            </a:pPr>
            <a:r>
              <a:rPr sz="1050" b="0">
                <a:solidFill>
                  <a:srgbClr val="F6F8FC"/>
                </a:solidFill>
                <a:latin typeface="Consolas"/>
                <a:ea typeface="Consolas"/>
                <a:cs typeface="Consolas"/>
              </a:rPr>
              <a:t>  t1 = i == 2</a:t>
            </a:r>
          </a:p>
          <a:p xmlns:a="http://schemas.openxmlformats.org/drawingml/2006/main">
            <a:pPr>
              <a:defRPr sz="1050" b="0">
                <a:solidFill>
                  <a:srgbClr val="F6F8FC"/>
                </a:solidFill>
                <a:latin typeface="Consolas"/>
                <a:ea typeface="Consolas"/>
                <a:cs typeface="Consolas"/>
              </a:defRPr>
            </a:pPr>
            <a:r>
              <a:rPr sz="1050" b="0">
                <a:solidFill>
                  <a:srgbClr val="F6F8FC"/>
                </a:solidFill>
                <a:latin typeface="Consolas"/>
                <a:ea typeface="Consolas"/>
                <a:cs typeface="Consolas"/>
              </a:rPr>
              <a:t>  IF t1 THEN</a:t>
            </a:r>
          </a:p>
          <a:p xmlns:a="http://schemas.openxmlformats.org/drawingml/2006/main">
            <a:pPr>
              <a:defRPr sz="1050" b="0">
                <a:solidFill>
                  <a:srgbClr val="F6F8FC"/>
                </a:solidFill>
                <a:latin typeface="Consolas"/>
                <a:ea typeface="Consolas"/>
                <a:cs typeface="Consolas"/>
              </a:defRPr>
            </a:pPr>
            <a:r>
              <a:rPr sz="1050" b="0">
                <a:solidFill>
                  <a:srgbClr val="F6F8FC"/>
                </a:solidFill>
                <a:latin typeface="Consolas"/>
                <a:ea typeface="Consolas"/>
                <a:cs typeface="Consolas"/>
              </a:rPr>
              <a:t>    CONTINUE</a:t>
            </a:r>
          </a:p>
          <a:p xmlns:a="http://schemas.openxmlformats.org/drawingml/2006/main">
            <a:pPr>
              <a:defRPr sz="1050" b="0">
                <a:solidFill>
                  <a:srgbClr val="F6F8FC"/>
                </a:solidFill>
                <a:latin typeface="Consolas"/>
                <a:ea typeface="Consolas"/>
                <a:cs typeface="Consolas"/>
              </a:defRPr>
            </a:pPr>
            <a:r>
              <a:rPr sz="1050" b="0">
                <a:solidFill>
                  <a:srgbClr val="F6F8FC"/>
                </a:solidFill>
                <a:latin typeface="Consolas"/>
                <a:ea typeface="Consolas"/>
                <a:cs typeface="Consolas"/>
              </a:rPr>
              <a:t>  ENDIF</a:t>
            </a:r>
          </a:p>
          <a:p xmlns:a="http://schemas.openxmlformats.org/drawingml/2006/main">
            <a:pPr>
              <a:defRPr sz="1050" b="0">
                <a:solidFill>
                  <a:srgbClr val="F6F8FC"/>
                </a:solidFill>
                <a:latin typeface="Consolas"/>
                <a:ea typeface="Consolas"/>
                <a:cs typeface="Consolas"/>
              </a:defRPr>
            </a:pPr>
            <a:r>
              <a:rPr sz="1050" b="0">
                <a:solidFill>
                  <a:srgbClr val="F6F8FC"/>
                </a:solidFill>
                <a:latin typeface="Consolas"/>
                <a:ea typeface="Consolas"/>
                <a:cs typeface="Consolas"/>
              </a:rPr>
              <a:t>  ...</a:t>
            </a:r>
          </a:p>
          <a:p xmlns:a="http://schemas.openxmlformats.org/drawingml/2006/main">
            <a:pPr>
              <a:defRPr sz="1050" b="0">
                <a:solidFill>
                  <a:srgbClr val="F6F8FC"/>
                </a:solidFill>
                <a:latin typeface="Consolas"/>
                <a:ea typeface="Consolas"/>
                <a:cs typeface="Consolas"/>
              </a:defRPr>
            </a:pPr>
            <a:r>
              <a:rPr sz="1050" b="0">
                <a:solidFill>
                  <a:srgbClr val="F6F8FC"/>
                </a:solidFill>
                <a:latin typeface="Consolas"/>
                <a:ea typeface="Consolas"/>
                <a:cs typeface="Consolas"/>
              </a:rPr>
              <a:t>ENDFOR</a:t>
            </a:r>
          </a:p>
        </p:txBody>
      </p:sp>
      <p:sp>
        <p:nvSpPr>
          <p:cNvPr id="15" name="">
            <a:extLst xmlns:a="http://schemas.openxmlformats.org/drawingml/2006/main">
              <a:ext uri="{FF2B5EF4-FFF2-40B4-BE49-F238E27FC236}">
                <a16:creationId xmlns:a16="http://schemas.microsoft.com/office/drawing/2014/main" id="{B5DD0683-5CE1-44FA-8119-8BE9462E9BEA}"/>
              </a:ext>
            </a:extLst>
          </p:cNvPr>
          <p:cNvSpPr>
            <a:spLocks xmlns:a="http://schemas.openxmlformats.org/drawingml/2006/main" noGrp="1"/>
          </p:cNvSpPr>
          <p:nvPr/>
        </p:nvSpPr>
        <p:spPr>
          <a:xfrm xmlns:a="http://schemas.openxmlformats.org/drawingml/2006/main">
            <a:off x="5991225" y="3419475"/>
            <a:ext cx="548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33D69B"/>
                </a:solidFill>
                <a:latin typeface="Arial"/>
                <a:ea typeface="Arial"/>
                <a:cs typeface="Arial"/>
              </a:defRPr>
            </a:defPPr>
          </a:lstStyle>
          <a:p xmlns:a="http://schemas.openxmlformats.org/drawingml/2006/main">
            <a:pPr>
              <a:defRPr sz="1350" b="1">
                <a:solidFill>
                  <a:srgbClr val="33D69B"/>
                </a:solidFill>
                <a:latin typeface="Arial"/>
                <a:ea typeface="Arial"/>
                <a:cs typeface="Arial"/>
              </a:defRPr>
            </a:pPr>
            <a:r>
              <a:rPr sz="1350" b="1">
                <a:solidFill>
                  <a:srgbClr val="33D69B"/>
                </a:solidFill>
                <a:latin typeface="Arial"/>
                <a:ea typeface="Arial"/>
                <a:cs typeface="Arial"/>
              </a:rPr>
              <a:t>GENERATED C CORE</a:t>
            </a:r>
          </a:p>
        </p:txBody>
      </p:sp>
      <p:sp>
        <p:nvSpPr>
          <p:cNvPr id="16" name="">
            <a:extLst xmlns:a="http://schemas.openxmlformats.org/drawingml/2006/main">
              <a:ext uri="{FF2B5EF4-FFF2-40B4-BE49-F238E27FC236}">
                <a16:creationId xmlns:a16="http://schemas.microsoft.com/office/drawing/2014/main" id="{80CCF8B5-CB05-4CB0-AAB4-3B473368C40A}"/>
              </a:ext>
            </a:extLst>
          </p:cNvPr>
          <p:cNvSpPr>
            <a:spLocks xmlns:a="http://schemas.openxmlformats.org/drawingml/2006/main" noGrp="1"/>
          </p:cNvSpPr>
          <p:nvPr/>
        </p:nvSpPr>
        <p:spPr>
          <a:xfrm xmlns:a="http://schemas.openxmlformats.org/drawingml/2006/main">
            <a:off x="5991225" y="3762375"/>
            <a:ext cx="5486400" cy="19050"/>
          </a:xfrm>
          <a:prstGeom xmlns:a="http://schemas.openxmlformats.org/drawingml/2006/main" prst="rect">
            <a:avLst/>
          </a:prstGeom>
          <a:solidFill xmlns:a="http://schemas.openxmlformats.org/drawingml/2006/main">
            <a:srgbClr val="33D69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4FFB98A-6EFE-4195-8307-AFFB570608BB}"/>
              </a:ext>
            </a:extLst>
          </p:cNvPr>
          <p:cNvSpPr>
            <a:spLocks xmlns:a="http://schemas.openxmlformats.org/drawingml/2006/main" noGrp="1"/>
          </p:cNvSpPr>
          <p:nvPr/>
        </p:nvSpPr>
        <p:spPr>
          <a:xfrm xmlns:a="http://schemas.openxmlformats.org/drawingml/2006/main">
            <a:off x="5981700" y="3876675"/>
            <a:ext cx="5495925" cy="1466850"/>
          </a:xfrm>
          <a:prstGeom xmlns:a="http://schemas.openxmlformats.org/drawingml/2006/main" prst="roundRect">
            <a:avLst>
              <a:gd name="adj" fmla="val 6494"/>
            </a:avLst>
          </a:prstGeom>
          <a:solidFill xmlns:a="http://schemas.openxmlformats.org/drawingml/2006/main">
            <a:srgbClr val="101B2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B65E1FC-EF3A-4A68-97D1-932C0D79A21A}"/>
              </a:ext>
            </a:extLst>
          </p:cNvPr>
          <p:cNvSpPr>
            <a:spLocks xmlns:a="http://schemas.openxmlformats.org/drawingml/2006/main" noGrp="1"/>
          </p:cNvSpPr>
          <p:nvPr/>
        </p:nvSpPr>
        <p:spPr>
          <a:xfrm xmlns:a="http://schemas.openxmlformats.org/drawingml/2006/main">
            <a:off x="6191250" y="4038600"/>
            <a:ext cx="50768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F6F8FC"/>
                </a:solidFill>
                <a:latin typeface="Consolas"/>
                <a:ea typeface="Consolas"/>
                <a:cs typeface="Consolas"/>
              </a:defRPr>
            </a:defPPr>
          </a:lstStyle>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for (i = 1; i &lt;= 4; i++) {</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  if (i == 2) continue;</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  total = total + i;</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printf("%d\n", total);</a:t>
            </a:r>
          </a:p>
        </p:txBody>
      </p:sp>
      <p:sp>
        <p:nvSpPr>
          <p:cNvPr id="19" name="">
            <a:extLst xmlns:a="http://schemas.openxmlformats.org/drawingml/2006/main">
              <a:ext uri="{FF2B5EF4-FFF2-40B4-BE49-F238E27FC236}">
                <a16:creationId xmlns:a16="http://schemas.microsoft.com/office/drawing/2014/main" id="{145FB91C-0E9C-4D7C-8C85-90C4BA24FA97}"/>
              </a:ext>
            </a:extLst>
          </p:cNvPr>
          <p:cNvSpPr>
            <a:spLocks xmlns:a="http://schemas.openxmlformats.org/drawingml/2006/main" noGrp="1"/>
          </p:cNvSpPr>
          <p:nvPr/>
        </p:nvSpPr>
        <p:spPr>
          <a:xfrm xmlns:a="http://schemas.openxmlformats.org/drawingml/2006/main">
            <a:off x="638175" y="5514975"/>
            <a:ext cx="108394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33D69B"/>
                </a:solidFill>
                <a:latin typeface="Arial"/>
                <a:ea typeface="Arial"/>
                <a:cs typeface="Arial"/>
              </a:defRPr>
            </a:defPPr>
          </a:lstStyle>
          <a:p xmlns:a="http://schemas.openxmlformats.org/drawingml/2006/main">
            <a:pPr>
              <a:defRPr sz="1800" b="1">
                <a:solidFill>
                  <a:srgbClr val="33D69B"/>
                </a:solidFill>
                <a:latin typeface="Arial"/>
                <a:ea typeface="Arial"/>
                <a:cs typeface="Arial"/>
              </a:defRPr>
            </a:pPr>
            <a:r>
              <a:rPr sz="1800" b="1">
                <a:solidFill>
                  <a:srgbClr val="33D69B"/>
                </a:solidFill>
                <a:latin typeface="Arial"/>
                <a:ea typeface="Arial"/>
                <a:cs typeface="Arial"/>
              </a:rPr>
              <a:t>RESULT: 8   (1 + 3 + 4)</a:t>
            </a:r>
          </a:p>
        </p:txBody>
      </p:sp>
    </p:spTree>
    <p:extLst>
      <p:ext uri="{BB962C8B-B14F-4D97-AF65-F5344CB8AC3E}">
        <p14:creationId xmlns:p14="http://schemas.microsoft.com/office/powerpoint/2010/main" val="821633339"/>
      </p:ext>
    </p:extLst>
  </p:cSld>
</p:sld>
</file>

<file path=ppt/slides/slide8.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E25C9E6-3D40-47DF-AB80-C06744F5EFE2}"/>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8998E4-5AF3-4634-BEFE-2A20E4F07833}"/>
              </a:ext>
            </a:extLst>
          </p:cNvPr>
          <p:cNvSpPr>
            <a:spLocks xmlns:a="http://schemas.openxmlformats.org/drawingml/2006/main" noGrp="1"/>
          </p:cNvSpPr>
          <p:nvPr/>
        </p:nvSpPr>
        <p:spPr>
          <a:xfrm xmlns:a="http://schemas.openxmlformats.org/drawingml/2006/main">
            <a:off x="571500" y="4095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F6F8FC"/>
                </a:solidFill>
                <a:latin typeface="Arial"/>
                <a:ea typeface="Arial"/>
                <a:cs typeface="Arial"/>
              </a:defRPr>
            </a:defPPr>
          </a:lstStyle>
          <a:p xmlns:a="http://schemas.openxmlformats.org/drawingml/2006/main">
            <a:pPr>
              <a:defRPr sz="3000" b="1">
                <a:solidFill>
                  <a:srgbClr val="F6F8FC"/>
                </a:solidFill>
                <a:latin typeface="Arial"/>
                <a:ea typeface="Arial"/>
                <a:cs typeface="Arial"/>
              </a:defRPr>
            </a:pPr>
            <a:r>
              <a:rPr sz="3000" b="1">
                <a:solidFill>
                  <a:srgbClr val="F6F8FC"/>
                </a:solidFill>
                <a:latin typeface="Arial"/>
                <a:ea typeface="Arial"/>
                <a:cs typeface="Arial"/>
              </a:rPr>
              <a:t>Example 3: STRING and bitwise data</a:t>
            </a:r>
          </a:p>
        </p:txBody>
      </p:sp>
      <p:sp>
        <p:nvSpPr>
          <p:cNvPr id="3" name="">
            <a:extLst xmlns:a="http://schemas.openxmlformats.org/drawingml/2006/main">
              <a:ext uri="{FF2B5EF4-FFF2-40B4-BE49-F238E27FC236}">
                <a16:creationId xmlns:a16="http://schemas.microsoft.com/office/drawing/2014/main" id="{4D747DC2-A66D-4A4F-A850-D2A980552067}"/>
              </a:ext>
            </a:extLst>
          </p:cNvPr>
          <p:cNvSpPr>
            <a:spLocks xmlns:a="http://schemas.openxmlformats.org/drawingml/2006/main" noGrp="1"/>
          </p:cNvSpPr>
          <p:nvPr/>
        </p:nvSpPr>
        <p:spPr>
          <a:xfrm xmlns:a="http://schemas.openxmlformats.org/drawingml/2006/main">
            <a:off x="590550" y="9906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Complete pseudocode → typed IR → C statements → observed output.</a:t>
            </a:r>
          </a:p>
        </p:txBody>
      </p:sp>
      <p:sp>
        <p:nvSpPr>
          <p:cNvPr id="4" name="">
            <a:extLst xmlns:a="http://schemas.openxmlformats.org/drawingml/2006/main">
              <a:ext uri="{FF2B5EF4-FFF2-40B4-BE49-F238E27FC236}">
                <a16:creationId xmlns:a16="http://schemas.microsoft.com/office/drawing/2014/main" id="{DB544EC4-A289-4A25-B6BF-AFC812D5D2DA}"/>
              </a:ext>
            </a:extLst>
          </p:cNvPr>
          <p:cNvSpPr>
            <a:spLocks xmlns:a="http://schemas.openxmlformats.org/drawingml/2006/main" noGrp="1"/>
          </p:cNvSpPr>
          <p:nvPr/>
        </p:nvSpPr>
        <p:spPr>
          <a:xfrm xmlns:a="http://schemas.openxmlformats.org/drawingml/2006/main">
            <a:off x="571500" y="6219825"/>
            <a:ext cx="110490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1104E23-98F6-4EC4-A533-567167F4A221}"/>
              </a:ext>
            </a:extLst>
          </p:cNvPr>
          <p:cNvSpPr>
            <a:spLocks xmlns:a="http://schemas.openxmlformats.org/drawingml/2006/main" noGrp="1"/>
          </p:cNvSpPr>
          <p:nvPr/>
        </p:nvSpPr>
        <p:spPr>
          <a:xfrm xmlns:a="http://schemas.openxmlformats.org/drawingml/2006/main">
            <a:off x="571500" y="63627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AEBBD0"/>
                </a:solidFill>
                <a:latin typeface="Arial"/>
                <a:ea typeface="Arial"/>
                <a:cs typeface="Arial"/>
              </a:defRPr>
            </a:defPPr>
          </a:lstStyle>
          <a:p xmlns:a="http://schemas.openxmlformats.org/drawingml/2006/main">
            <a:pPr>
              <a:defRPr sz="1050" b="1">
                <a:solidFill>
                  <a:srgbClr val="AEBBD0"/>
                </a:solidFill>
                <a:latin typeface="Arial"/>
                <a:ea typeface="Arial"/>
                <a:cs typeface="Arial"/>
              </a:defRPr>
            </a:pPr>
            <a:r>
              <a:rPr sz="1050" b="1">
                <a:solidFill>
                  <a:srgbClr val="AEBBD0"/>
                </a:solidFill>
                <a:latin typeface="Arial"/>
                <a:ea typeface="Arial"/>
                <a:cs typeface="Arial"/>
              </a:rPr>
              <a:t>REVIEW 2  /  PSEUDOCODE TO C</a:t>
            </a:r>
          </a:p>
        </p:txBody>
      </p:sp>
      <p:sp>
        <p:nvSpPr>
          <p:cNvPr id="6" name="">
            <a:extLst xmlns:a="http://schemas.openxmlformats.org/drawingml/2006/main">
              <a:ext uri="{FF2B5EF4-FFF2-40B4-BE49-F238E27FC236}">
                <a16:creationId xmlns:a16="http://schemas.microsoft.com/office/drawing/2014/main" id="{3A304F9A-C43B-4F33-BDEA-9DF0029328A2}"/>
              </a:ext>
            </a:extLst>
          </p:cNvPr>
          <p:cNvSpPr>
            <a:spLocks xmlns:a="http://schemas.openxmlformats.org/drawingml/2006/main" noGrp="1"/>
          </p:cNvSpPr>
          <p:nvPr/>
        </p:nvSpPr>
        <p:spPr>
          <a:xfrm xmlns:a="http://schemas.openxmlformats.org/drawingml/2006/main">
            <a:off x="10953750" y="636270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0D5EA"/>
                </a:solidFill>
                <a:latin typeface="Arial"/>
                <a:ea typeface="Arial"/>
                <a:cs typeface="Arial"/>
              </a:defRPr>
            </a:defPPr>
          </a:lstStyle>
          <a:p xmlns:a="http://schemas.openxmlformats.org/drawingml/2006/main">
            <a:pPr>
              <a:defRPr sz="1050" b="1">
                <a:solidFill>
                  <a:srgbClr val="20D5EA"/>
                </a:solidFill>
                <a:latin typeface="Arial"/>
                <a:ea typeface="Arial"/>
                <a:cs typeface="Arial"/>
              </a:defRPr>
            </a:pPr>
            <a:r>
              <a:rPr sz="1050" b="1">
                <a:solidFill>
                  <a:srgbClr val="20D5EA"/>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896DBE6D-3504-4497-8540-47710B8F8DB2}"/>
              </a:ext>
            </a:extLst>
          </p:cNvPr>
          <p:cNvSpPr>
            <a:spLocks xmlns:a="http://schemas.openxmlformats.org/drawingml/2006/main" noGrp="1"/>
          </p:cNvSpPr>
          <p:nvPr/>
        </p:nvSpPr>
        <p:spPr>
          <a:xfrm xmlns:a="http://schemas.openxmlformats.org/drawingml/2006/main">
            <a:off x="628650" y="146685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20D5EA"/>
                </a:solidFill>
                <a:latin typeface="Arial"/>
                <a:ea typeface="Arial"/>
                <a:cs typeface="Arial"/>
              </a:defRPr>
            </a:defPPr>
          </a:lstStyle>
          <a:p xmlns:a="http://schemas.openxmlformats.org/drawingml/2006/main">
            <a:pPr>
              <a:defRPr sz="1350" b="1">
                <a:solidFill>
                  <a:srgbClr val="20D5EA"/>
                </a:solidFill>
                <a:latin typeface="Arial"/>
                <a:ea typeface="Arial"/>
                <a:cs typeface="Arial"/>
              </a:defRPr>
            </a:pPr>
            <a:r>
              <a:rPr sz="1350" b="1">
                <a:solidFill>
                  <a:srgbClr val="20D5EA"/>
                </a:solidFill>
                <a:latin typeface="Arial"/>
                <a:ea typeface="Arial"/>
                <a:cs typeface="Arial"/>
              </a:rPr>
              <a:t>PSEUDOCODE</a:t>
            </a:r>
          </a:p>
        </p:txBody>
      </p:sp>
      <p:sp>
        <p:nvSpPr>
          <p:cNvPr id="8" name="">
            <a:extLst xmlns:a="http://schemas.openxmlformats.org/drawingml/2006/main">
              <a:ext uri="{FF2B5EF4-FFF2-40B4-BE49-F238E27FC236}">
                <a16:creationId xmlns:a16="http://schemas.microsoft.com/office/drawing/2014/main" id="{47572EFA-BFAE-49AC-9047-FE8893834126}"/>
              </a:ext>
            </a:extLst>
          </p:cNvPr>
          <p:cNvSpPr>
            <a:spLocks xmlns:a="http://schemas.openxmlformats.org/drawingml/2006/main" noGrp="1"/>
          </p:cNvSpPr>
          <p:nvPr/>
        </p:nvSpPr>
        <p:spPr>
          <a:xfrm xmlns:a="http://schemas.openxmlformats.org/drawingml/2006/main">
            <a:off x="628650" y="1809750"/>
            <a:ext cx="4905375" cy="19050"/>
          </a:xfrm>
          <a:prstGeom xmlns:a="http://schemas.openxmlformats.org/drawingml/2006/main" prst="rect">
            <a:avLst/>
          </a:prstGeom>
          <a:solidFill xmlns:a="http://schemas.openxmlformats.org/drawingml/2006/main">
            <a:srgbClr val="20D5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E22E1DA-8752-461E-90DD-3E76433598F8}"/>
              </a:ext>
            </a:extLst>
          </p:cNvPr>
          <p:cNvSpPr>
            <a:spLocks xmlns:a="http://schemas.openxmlformats.org/drawingml/2006/main" noGrp="1"/>
          </p:cNvSpPr>
          <p:nvPr/>
        </p:nvSpPr>
        <p:spPr>
          <a:xfrm xmlns:a="http://schemas.openxmlformats.org/drawingml/2006/main">
            <a:off x="619125" y="1924050"/>
            <a:ext cx="4914900" cy="3219450"/>
          </a:xfrm>
          <a:prstGeom xmlns:a="http://schemas.openxmlformats.org/drawingml/2006/main" prst="roundRect">
            <a:avLst>
              <a:gd name="adj" fmla="val 2959"/>
            </a:avLst>
          </a:prstGeom>
          <a:solidFill xmlns:a="http://schemas.openxmlformats.org/drawingml/2006/main">
            <a:srgbClr val="101B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896CF15-F0EC-471B-9346-8146D18522A4}"/>
              </a:ext>
            </a:extLst>
          </p:cNvPr>
          <p:cNvSpPr>
            <a:spLocks xmlns:a="http://schemas.openxmlformats.org/drawingml/2006/main" noGrp="1"/>
          </p:cNvSpPr>
          <p:nvPr/>
        </p:nvSpPr>
        <p:spPr>
          <a:xfrm xmlns:a="http://schemas.openxmlformats.org/drawingml/2006/main">
            <a:off x="828675" y="2085975"/>
            <a:ext cx="4495800" cy="289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F6F8FC"/>
                </a:solidFill>
                <a:latin typeface="Consolas"/>
                <a:ea typeface="Consolas"/>
                <a:cs typeface="Consolas"/>
              </a:defRPr>
            </a:defPPr>
          </a:lstStyle>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BEGIN</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DECLARE name AS STRING</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DECLARE bits AS INTEGER</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SET name = "Mira"</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READ bits</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SET bits = bits &amp; 3</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PRINT name</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PRINT bits</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END</a:t>
            </a:r>
          </a:p>
        </p:txBody>
      </p:sp>
      <p:sp>
        <p:nvSpPr>
          <p:cNvPr id="11" name="">
            <a:extLst xmlns:a="http://schemas.openxmlformats.org/drawingml/2006/main">
              <a:ext uri="{FF2B5EF4-FFF2-40B4-BE49-F238E27FC236}">
                <a16:creationId xmlns:a16="http://schemas.microsoft.com/office/drawing/2014/main" id="{6505C33A-5BB4-4A3B-886E-CA1392618D6B}"/>
              </a:ext>
            </a:extLst>
          </p:cNvPr>
          <p:cNvSpPr>
            <a:spLocks xmlns:a="http://schemas.openxmlformats.org/drawingml/2006/main" noGrp="1"/>
          </p:cNvSpPr>
          <p:nvPr/>
        </p:nvSpPr>
        <p:spPr>
          <a:xfrm xmlns:a="http://schemas.openxmlformats.org/drawingml/2006/main">
            <a:off x="5991225" y="1466850"/>
            <a:ext cx="548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4C82FF"/>
                </a:solidFill>
                <a:latin typeface="Arial"/>
                <a:ea typeface="Arial"/>
                <a:cs typeface="Arial"/>
              </a:defRPr>
            </a:defPPr>
          </a:lstStyle>
          <a:p xmlns:a="http://schemas.openxmlformats.org/drawingml/2006/main">
            <a:pPr>
              <a:defRPr sz="1350" b="1">
                <a:solidFill>
                  <a:srgbClr val="4C82FF"/>
                </a:solidFill>
                <a:latin typeface="Arial"/>
                <a:ea typeface="Arial"/>
                <a:cs typeface="Arial"/>
              </a:defRPr>
            </a:pPr>
            <a:r>
              <a:rPr sz="1350" b="1">
                <a:solidFill>
                  <a:srgbClr val="4C82FF"/>
                </a:solidFill>
                <a:latin typeface="Arial"/>
                <a:ea typeface="Arial"/>
                <a:cs typeface="Arial"/>
              </a:rPr>
              <a:t>KEY IR</a:t>
            </a:r>
          </a:p>
        </p:txBody>
      </p:sp>
      <p:sp>
        <p:nvSpPr>
          <p:cNvPr id="12" name="">
            <a:extLst xmlns:a="http://schemas.openxmlformats.org/drawingml/2006/main">
              <a:ext uri="{FF2B5EF4-FFF2-40B4-BE49-F238E27FC236}">
                <a16:creationId xmlns:a16="http://schemas.microsoft.com/office/drawing/2014/main" id="{3F11E775-053C-431C-8433-F0D30B6F4A14}"/>
              </a:ext>
            </a:extLst>
          </p:cNvPr>
          <p:cNvSpPr>
            <a:spLocks xmlns:a="http://schemas.openxmlformats.org/drawingml/2006/main" noGrp="1"/>
          </p:cNvSpPr>
          <p:nvPr/>
        </p:nvSpPr>
        <p:spPr>
          <a:xfrm xmlns:a="http://schemas.openxmlformats.org/drawingml/2006/main">
            <a:off x="5991225" y="1809750"/>
            <a:ext cx="5486400" cy="19050"/>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48DA96D-3229-4570-A153-3F803AAE3F5C}"/>
              </a:ext>
            </a:extLst>
          </p:cNvPr>
          <p:cNvSpPr>
            <a:spLocks xmlns:a="http://schemas.openxmlformats.org/drawingml/2006/main" noGrp="1"/>
          </p:cNvSpPr>
          <p:nvPr/>
        </p:nvSpPr>
        <p:spPr>
          <a:xfrm xmlns:a="http://schemas.openxmlformats.org/drawingml/2006/main">
            <a:off x="5981700" y="1924050"/>
            <a:ext cx="5495925" cy="1333500"/>
          </a:xfrm>
          <a:prstGeom xmlns:a="http://schemas.openxmlformats.org/drawingml/2006/main" prst="roundRect">
            <a:avLst>
              <a:gd name="adj" fmla="val 7143"/>
            </a:avLst>
          </a:prstGeom>
          <a:solidFill xmlns:a="http://schemas.openxmlformats.org/drawingml/2006/main">
            <a:srgbClr val="101B2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8B43463-761A-4CE6-B1D2-2D3B93B056A6}"/>
              </a:ext>
            </a:extLst>
          </p:cNvPr>
          <p:cNvSpPr>
            <a:spLocks xmlns:a="http://schemas.openxmlformats.org/drawingml/2006/main" noGrp="1"/>
          </p:cNvSpPr>
          <p:nvPr/>
        </p:nvSpPr>
        <p:spPr>
          <a:xfrm xmlns:a="http://schemas.openxmlformats.org/drawingml/2006/main">
            <a:off x="6191250" y="2085975"/>
            <a:ext cx="50768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F6F8FC"/>
                </a:solidFill>
                <a:latin typeface="Consolas"/>
                <a:ea typeface="Consolas"/>
                <a:cs typeface="Consolas"/>
              </a:defRPr>
            </a:defPPr>
          </a:lstStyle>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name = "Mira"</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READ bits</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t1 = bits &amp; 3</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bits = t1</a:t>
            </a:r>
          </a:p>
        </p:txBody>
      </p:sp>
      <p:sp>
        <p:nvSpPr>
          <p:cNvPr id="15" name="">
            <a:extLst xmlns:a="http://schemas.openxmlformats.org/drawingml/2006/main">
              <a:ext uri="{FF2B5EF4-FFF2-40B4-BE49-F238E27FC236}">
                <a16:creationId xmlns:a16="http://schemas.microsoft.com/office/drawing/2014/main" id="{9E06E813-95E8-4FF6-B9C4-5EA0C8B93FAC}"/>
              </a:ext>
            </a:extLst>
          </p:cNvPr>
          <p:cNvSpPr>
            <a:spLocks xmlns:a="http://schemas.openxmlformats.org/drawingml/2006/main" noGrp="1"/>
          </p:cNvSpPr>
          <p:nvPr/>
        </p:nvSpPr>
        <p:spPr>
          <a:xfrm xmlns:a="http://schemas.openxmlformats.org/drawingml/2006/main">
            <a:off x="5991225" y="3419475"/>
            <a:ext cx="548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33D69B"/>
                </a:solidFill>
                <a:latin typeface="Arial"/>
                <a:ea typeface="Arial"/>
                <a:cs typeface="Arial"/>
              </a:defRPr>
            </a:defPPr>
          </a:lstStyle>
          <a:p xmlns:a="http://schemas.openxmlformats.org/drawingml/2006/main">
            <a:pPr>
              <a:defRPr sz="1350" b="1">
                <a:solidFill>
                  <a:srgbClr val="33D69B"/>
                </a:solidFill>
                <a:latin typeface="Arial"/>
                <a:ea typeface="Arial"/>
                <a:cs typeface="Arial"/>
              </a:defRPr>
            </a:pPr>
            <a:r>
              <a:rPr sz="1350" b="1">
                <a:solidFill>
                  <a:srgbClr val="33D69B"/>
                </a:solidFill>
                <a:latin typeface="Arial"/>
                <a:ea typeface="Arial"/>
                <a:cs typeface="Arial"/>
              </a:rPr>
              <a:t>GENERATED C CORE</a:t>
            </a:r>
          </a:p>
        </p:txBody>
      </p:sp>
      <p:sp>
        <p:nvSpPr>
          <p:cNvPr id="16" name="">
            <a:extLst xmlns:a="http://schemas.openxmlformats.org/drawingml/2006/main">
              <a:ext uri="{FF2B5EF4-FFF2-40B4-BE49-F238E27FC236}">
                <a16:creationId xmlns:a16="http://schemas.microsoft.com/office/drawing/2014/main" id="{B4866795-D8B9-486A-97BC-B2ECD11B358A}"/>
              </a:ext>
            </a:extLst>
          </p:cNvPr>
          <p:cNvSpPr>
            <a:spLocks xmlns:a="http://schemas.openxmlformats.org/drawingml/2006/main" noGrp="1"/>
          </p:cNvSpPr>
          <p:nvPr/>
        </p:nvSpPr>
        <p:spPr>
          <a:xfrm xmlns:a="http://schemas.openxmlformats.org/drawingml/2006/main">
            <a:off x="5991225" y="3762375"/>
            <a:ext cx="5486400" cy="19050"/>
          </a:xfrm>
          <a:prstGeom xmlns:a="http://schemas.openxmlformats.org/drawingml/2006/main" prst="rect">
            <a:avLst/>
          </a:prstGeom>
          <a:solidFill xmlns:a="http://schemas.openxmlformats.org/drawingml/2006/main">
            <a:srgbClr val="33D69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7A48C70-26F9-421C-8810-9FE2F872A47D}"/>
              </a:ext>
            </a:extLst>
          </p:cNvPr>
          <p:cNvSpPr>
            <a:spLocks xmlns:a="http://schemas.openxmlformats.org/drawingml/2006/main" noGrp="1"/>
          </p:cNvSpPr>
          <p:nvPr/>
        </p:nvSpPr>
        <p:spPr>
          <a:xfrm xmlns:a="http://schemas.openxmlformats.org/drawingml/2006/main">
            <a:off x="5981700" y="3876675"/>
            <a:ext cx="5495925" cy="1466850"/>
          </a:xfrm>
          <a:prstGeom xmlns:a="http://schemas.openxmlformats.org/drawingml/2006/main" prst="roundRect">
            <a:avLst>
              <a:gd name="adj" fmla="val 6494"/>
            </a:avLst>
          </a:prstGeom>
          <a:solidFill xmlns:a="http://schemas.openxmlformats.org/drawingml/2006/main">
            <a:srgbClr val="101B2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6BDFA38-A774-442C-950B-008A6D32D338}"/>
              </a:ext>
            </a:extLst>
          </p:cNvPr>
          <p:cNvSpPr>
            <a:spLocks xmlns:a="http://schemas.openxmlformats.org/drawingml/2006/main" noGrp="1"/>
          </p:cNvSpPr>
          <p:nvPr/>
        </p:nvSpPr>
        <p:spPr>
          <a:xfrm xmlns:a="http://schemas.openxmlformats.org/drawingml/2006/main">
            <a:off x="6191250" y="4038600"/>
            <a:ext cx="50768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F6F8FC"/>
                </a:solidFill>
                <a:latin typeface="Consolas"/>
                <a:ea typeface="Consolas"/>
                <a:cs typeface="Consolas"/>
              </a:defRPr>
            </a:defPPr>
          </a:lstStyle>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strcpy(name, "Mira");</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scanf("%d", &amp;bits);</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bits = (bits &amp; 3);</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printf("%s\n", name);</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printf("%d\n", bits);</a:t>
            </a:r>
          </a:p>
        </p:txBody>
      </p:sp>
      <p:sp>
        <p:nvSpPr>
          <p:cNvPr id="19" name="">
            <a:extLst xmlns:a="http://schemas.openxmlformats.org/drawingml/2006/main">
              <a:ext uri="{FF2B5EF4-FFF2-40B4-BE49-F238E27FC236}">
                <a16:creationId xmlns:a16="http://schemas.microsoft.com/office/drawing/2014/main" id="{7FD654EA-BE29-4024-9696-C4232FB1CC3B}"/>
              </a:ext>
            </a:extLst>
          </p:cNvPr>
          <p:cNvSpPr>
            <a:spLocks xmlns:a="http://schemas.openxmlformats.org/drawingml/2006/main" noGrp="1"/>
          </p:cNvSpPr>
          <p:nvPr/>
        </p:nvSpPr>
        <p:spPr>
          <a:xfrm xmlns:a="http://schemas.openxmlformats.org/drawingml/2006/main">
            <a:off x="638175" y="5514975"/>
            <a:ext cx="108394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33D69B"/>
                </a:solidFill>
                <a:latin typeface="Arial"/>
                <a:ea typeface="Arial"/>
                <a:cs typeface="Arial"/>
              </a:defRPr>
            </a:defPPr>
          </a:lstStyle>
          <a:p xmlns:a="http://schemas.openxmlformats.org/drawingml/2006/main">
            <a:pPr>
              <a:defRPr sz="1800" b="1">
                <a:solidFill>
                  <a:srgbClr val="33D69B"/>
                </a:solidFill>
                <a:latin typeface="Arial"/>
                <a:ea typeface="Arial"/>
                <a:cs typeface="Arial"/>
              </a:defRPr>
            </a:pPr>
            <a:r>
              <a:rPr sz="1800" b="1">
                <a:solidFill>
                  <a:srgbClr val="33D69B"/>
                </a:solidFill>
                <a:latin typeface="Arial"/>
                <a:ea typeface="Arial"/>
                <a:cs typeface="Arial"/>
              </a:rPr>
              <a:t>INPUT: 5     RESULT: Mira, then 1</a:t>
            </a:r>
          </a:p>
        </p:txBody>
      </p:sp>
    </p:spTree>
    <p:extLst>
      <p:ext uri="{BB962C8B-B14F-4D97-AF65-F5344CB8AC3E}">
        <p14:creationId xmlns:p14="http://schemas.microsoft.com/office/powerpoint/2010/main" val="737349888"/>
      </p:ext>
    </p:extLst>
  </p:cSld>
</p:sld>
</file>

<file path=ppt/slides/slide9.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FFD5688-DE2C-4EEF-A6E3-940F5BE78482}"/>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13E3F3-FC87-48F4-8C48-88FBE8C077C4}"/>
              </a:ext>
            </a:extLst>
          </p:cNvPr>
          <p:cNvSpPr>
            <a:spLocks xmlns:a="http://schemas.openxmlformats.org/drawingml/2006/main" noGrp="1"/>
          </p:cNvSpPr>
          <p:nvPr/>
        </p:nvSpPr>
        <p:spPr>
          <a:xfrm xmlns:a="http://schemas.openxmlformats.org/drawingml/2006/main">
            <a:off x="571500" y="4095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F6F8FC"/>
                </a:solidFill>
                <a:latin typeface="Arial"/>
                <a:ea typeface="Arial"/>
                <a:cs typeface="Arial"/>
              </a:defRPr>
            </a:defPPr>
          </a:lstStyle>
          <a:p xmlns:a="http://schemas.openxmlformats.org/drawingml/2006/main">
            <a:pPr>
              <a:defRPr sz="3000" b="1">
                <a:solidFill>
                  <a:srgbClr val="F6F8FC"/>
                </a:solidFill>
                <a:latin typeface="Arial"/>
                <a:ea typeface="Arial"/>
                <a:cs typeface="Arial"/>
              </a:defRPr>
            </a:pPr>
            <a:r>
              <a:rPr sz="3000" b="1">
                <a:solidFill>
                  <a:srgbClr val="F6F8FC"/>
                </a:solidFill>
                <a:latin typeface="Arial"/>
                <a:ea typeface="Arial"/>
                <a:cs typeface="Arial"/>
              </a:rPr>
              <a:t>How the compiler detects errors</a:t>
            </a:r>
          </a:p>
        </p:txBody>
      </p:sp>
      <p:sp>
        <p:nvSpPr>
          <p:cNvPr id="3" name="">
            <a:extLst xmlns:a="http://schemas.openxmlformats.org/drawingml/2006/main">
              <a:ext uri="{FF2B5EF4-FFF2-40B4-BE49-F238E27FC236}">
                <a16:creationId xmlns:a16="http://schemas.microsoft.com/office/drawing/2014/main" id="{2D67093D-F189-4C9D-B86C-C09AFC7686A4}"/>
              </a:ext>
            </a:extLst>
          </p:cNvPr>
          <p:cNvSpPr>
            <a:spLocks xmlns:a="http://schemas.openxmlformats.org/drawingml/2006/main" noGrp="1"/>
          </p:cNvSpPr>
          <p:nvPr/>
        </p:nvSpPr>
        <p:spPr>
          <a:xfrm xmlns:a="http://schemas.openxmlformats.org/drawingml/2006/main">
            <a:off x="590550" y="9906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Different stages handle source mistakes and input-dependent faults.</a:t>
            </a:r>
          </a:p>
        </p:txBody>
      </p:sp>
      <p:sp>
        <p:nvSpPr>
          <p:cNvPr id="4" name="">
            <a:extLst xmlns:a="http://schemas.openxmlformats.org/drawingml/2006/main">
              <a:ext uri="{FF2B5EF4-FFF2-40B4-BE49-F238E27FC236}">
                <a16:creationId xmlns:a16="http://schemas.microsoft.com/office/drawing/2014/main" id="{A917AF93-A70A-4944-889C-5FCC64CD8B00}"/>
              </a:ext>
            </a:extLst>
          </p:cNvPr>
          <p:cNvSpPr>
            <a:spLocks xmlns:a="http://schemas.openxmlformats.org/drawingml/2006/main" noGrp="1"/>
          </p:cNvSpPr>
          <p:nvPr/>
        </p:nvSpPr>
        <p:spPr>
          <a:xfrm xmlns:a="http://schemas.openxmlformats.org/drawingml/2006/main">
            <a:off x="571500" y="6219825"/>
            <a:ext cx="110490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1FD5E2-6370-4F75-ABB0-D3458A5BBB65}"/>
              </a:ext>
            </a:extLst>
          </p:cNvPr>
          <p:cNvSpPr>
            <a:spLocks xmlns:a="http://schemas.openxmlformats.org/drawingml/2006/main" noGrp="1"/>
          </p:cNvSpPr>
          <p:nvPr/>
        </p:nvSpPr>
        <p:spPr>
          <a:xfrm xmlns:a="http://schemas.openxmlformats.org/drawingml/2006/main">
            <a:off x="571500" y="63627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AEBBD0"/>
                </a:solidFill>
                <a:latin typeface="Arial"/>
                <a:ea typeface="Arial"/>
                <a:cs typeface="Arial"/>
              </a:defRPr>
            </a:defPPr>
          </a:lstStyle>
          <a:p xmlns:a="http://schemas.openxmlformats.org/drawingml/2006/main">
            <a:pPr>
              <a:defRPr sz="1050" b="1">
                <a:solidFill>
                  <a:srgbClr val="AEBBD0"/>
                </a:solidFill>
                <a:latin typeface="Arial"/>
                <a:ea typeface="Arial"/>
                <a:cs typeface="Arial"/>
              </a:defRPr>
            </a:pPr>
            <a:r>
              <a:rPr sz="1050" b="1">
                <a:solidFill>
                  <a:srgbClr val="AEBBD0"/>
                </a:solidFill>
                <a:latin typeface="Arial"/>
                <a:ea typeface="Arial"/>
                <a:cs typeface="Arial"/>
              </a:rPr>
              <a:t>REVIEW 2  /  PSEUDOCODE TO C</a:t>
            </a:r>
          </a:p>
        </p:txBody>
      </p:sp>
      <p:sp>
        <p:nvSpPr>
          <p:cNvPr id="6" name="">
            <a:extLst xmlns:a="http://schemas.openxmlformats.org/drawingml/2006/main">
              <a:ext uri="{FF2B5EF4-FFF2-40B4-BE49-F238E27FC236}">
                <a16:creationId xmlns:a16="http://schemas.microsoft.com/office/drawing/2014/main" id="{ABC6BA2E-7CBE-4F94-976E-99663D6C18DE}"/>
              </a:ext>
            </a:extLst>
          </p:cNvPr>
          <p:cNvSpPr>
            <a:spLocks xmlns:a="http://schemas.openxmlformats.org/drawingml/2006/main" noGrp="1"/>
          </p:cNvSpPr>
          <p:nvPr/>
        </p:nvSpPr>
        <p:spPr>
          <a:xfrm xmlns:a="http://schemas.openxmlformats.org/drawingml/2006/main">
            <a:off x="10953750" y="636270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0D5EA"/>
                </a:solidFill>
                <a:latin typeface="Arial"/>
                <a:ea typeface="Arial"/>
                <a:cs typeface="Arial"/>
              </a:defRPr>
            </a:defPPr>
          </a:lstStyle>
          <a:p xmlns:a="http://schemas.openxmlformats.org/drawingml/2006/main">
            <a:pPr>
              <a:defRPr sz="1050" b="1">
                <a:solidFill>
                  <a:srgbClr val="20D5EA"/>
                </a:solidFill>
                <a:latin typeface="Arial"/>
                <a:ea typeface="Arial"/>
                <a:cs typeface="Arial"/>
              </a:defRPr>
            </a:pPr>
            <a:r>
              <a:rPr sz="1050" b="1">
                <a:solidFill>
                  <a:srgbClr val="20D5EA"/>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AD2E7530-E61A-4141-B0E0-94EC72FCB829}"/>
              </a:ext>
            </a:extLst>
          </p:cNvPr>
          <p:cNvSpPr>
            <a:spLocks xmlns:a="http://schemas.openxmlformats.org/drawingml/2006/main" noGrp="1"/>
          </p:cNvSpPr>
          <p:nvPr/>
        </p:nvSpPr>
        <p:spPr>
          <a:xfrm xmlns:a="http://schemas.openxmlformats.org/drawingml/2006/main">
            <a:off x="628650" y="1552575"/>
            <a:ext cx="501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F6B94D"/>
                </a:solidFill>
                <a:latin typeface="Arial"/>
                <a:ea typeface="Arial"/>
                <a:cs typeface="Arial"/>
              </a:defRPr>
            </a:defPPr>
          </a:lstStyle>
          <a:p xmlns:a="http://schemas.openxmlformats.org/drawingml/2006/main">
            <a:pPr>
              <a:defRPr sz="1350" b="1">
                <a:solidFill>
                  <a:srgbClr val="F6B94D"/>
                </a:solidFill>
                <a:latin typeface="Arial"/>
                <a:ea typeface="Arial"/>
                <a:cs typeface="Arial"/>
              </a:defRPr>
            </a:pPr>
            <a:r>
              <a:rPr sz="1350" b="1">
                <a:solidFill>
                  <a:srgbClr val="F6B94D"/>
                </a:solidFill>
                <a:latin typeface="Arial"/>
                <a:ea typeface="Arial"/>
                <a:cs typeface="Arial"/>
              </a:rPr>
              <a:t>BEFORE C GENERATION</a:t>
            </a:r>
          </a:p>
        </p:txBody>
      </p:sp>
      <p:sp>
        <p:nvSpPr>
          <p:cNvPr id="8" name="">
            <a:extLst xmlns:a="http://schemas.openxmlformats.org/drawingml/2006/main">
              <a:ext uri="{FF2B5EF4-FFF2-40B4-BE49-F238E27FC236}">
                <a16:creationId xmlns:a16="http://schemas.microsoft.com/office/drawing/2014/main" id="{58E4B685-44B1-46E4-90DB-C5F36985593D}"/>
              </a:ext>
            </a:extLst>
          </p:cNvPr>
          <p:cNvSpPr>
            <a:spLocks xmlns:a="http://schemas.openxmlformats.org/drawingml/2006/main" noGrp="1"/>
          </p:cNvSpPr>
          <p:nvPr/>
        </p:nvSpPr>
        <p:spPr>
          <a:xfrm xmlns:a="http://schemas.openxmlformats.org/drawingml/2006/main">
            <a:off x="628650" y="1895475"/>
            <a:ext cx="5010150" cy="19050"/>
          </a:xfrm>
          <a:prstGeom xmlns:a="http://schemas.openxmlformats.org/drawingml/2006/main" prst="rect">
            <a:avLst/>
          </a:prstGeom>
          <a:solidFill xmlns:a="http://schemas.openxmlformats.org/drawingml/2006/main">
            <a:srgbClr val="F6B94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897C934-13D9-4957-A865-DE36D0373772}"/>
              </a:ext>
            </a:extLst>
          </p:cNvPr>
          <p:cNvSpPr>
            <a:spLocks xmlns:a="http://schemas.openxmlformats.org/drawingml/2006/main" noGrp="1"/>
          </p:cNvSpPr>
          <p:nvPr/>
        </p:nvSpPr>
        <p:spPr>
          <a:xfrm xmlns:a="http://schemas.openxmlformats.org/drawingml/2006/main">
            <a:off x="647700" y="2076450"/>
            <a:ext cx="4905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6F8FC"/>
                </a:solidFill>
                <a:latin typeface="Arial"/>
                <a:ea typeface="Arial"/>
                <a:cs typeface="Arial"/>
              </a:defRPr>
            </a:defPPr>
          </a:lstStyle>
          <a:p xmlns:a="http://schemas.openxmlformats.org/drawingml/2006/main">
            <a:pPr>
              <a:defRPr sz="1725" b="0">
                <a:solidFill>
                  <a:srgbClr val="F6F8FC"/>
                </a:solidFill>
                <a:latin typeface="Arial"/>
                <a:ea typeface="Arial"/>
                <a:cs typeface="Arial"/>
              </a:defRPr>
            </a:pPr>
            <a:r>
              <a:rPr sz="1725" b="0">
                <a:solidFill>
                  <a:srgbClr val="F6F8FC"/>
                </a:solidFill>
                <a:latin typeface="Arial"/>
                <a:ea typeface="Arial"/>
                <a:cs typeface="Arial"/>
              </a:rPr>
              <a:t>Lexer: invalid characters or literals</a:t>
            </a:r>
          </a:p>
          <a:p xmlns:a="http://schemas.openxmlformats.org/drawingml/2006/main">
            <a:pPr>
              <a:defRPr sz="1725" b="0">
                <a:solidFill>
                  <a:srgbClr val="F6F8FC"/>
                </a:solidFill>
                <a:latin typeface="Arial"/>
                <a:ea typeface="Arial"/>
                <a:cs typeface="Arial"/>
              </a:defRPr>
            </a:pPr>
            <a:r>
              <a:rPr sz="1725" b="0">
                <a:solidFill>
                  <a:srgbClr val="F6F8FC"/>
                </a:solidFill>
                <a:latin typeface="Arial"/>
                <a:ea typeface="Arial"/>
                <a:cs typeface="Arial"/>
              </a:rPr>
              <a:t>Parser: malformed statement or block</a:t>
            </a:r>
          </a:p>
          <a:p xmlns:a="http://schemas.openxmlformats.org/drawingml/2006/main">
            <a:pPr>
              <a:defRPr sz="1725" b="0">
                <a:solidFill>
                  <a:srgbClr val="F6F8FC"/>
                </a:solidFill>
                <a:latin typeface="Arial"/>
                <a:ea typeface="Arial"/>
                <a:cs typeface="Arial"/>
              </a:defRPr>
            </a:pPr>
            <a:r>
              <a:rPr sz="1725" b="0">
                <a:solidFill>
                  <a:srgbClr val="F6F8FC"/>
                </a:solidFill>
                <a:latin typeface="Arial"/>
                <a:ea typeface="Arial"/>
                <a:cs typeface="Arial"/>
              </a:rPr>
              <a:t>Semantic: undeclared name, wrong type, scope</a:t>
            </a:r>
          </a:p>
        </p:txBody>
      </p:sp>
      <p:sp>
        <p:nvSpPr>
          <p:cNvPr id="10" name="">
            <a:extLst xmlns:a="http://schemas.openxmlformats.org/drawingml/2006/main">
              <a:ext uri="{FF2B5EF4-FFF2-40B4-BE49-F238E27FC236}">
                <a16:creationId xmlns:a16="http://schemas.microsoft.com/office/drawing/2014/main" id="{DF2703D7-BCC6-43D8-B82D-C9AD80E22F59}"/>
              </a:ext>
            </a:extLst>
          </p:cNvPr>
          <p:cNvSpPr>
            <a:spLocks xmlns:a="http://schemas.openxmlformats.org/drawingml/2006/main" noGrp="1"/>
          </p:cNvSpPr>
          <p:nvPr/>
        </p:nvSpPr>
        <p:spPr>
          <a:xfrm xmlns:a="http://schemas.openxmlformats.org/drawingml/2006/main">
            <a:off x="647700" y="4029075"/>
            <a:ext cx="49053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F6B94D"/>
                </a:solidFill>
                <a:latin typeface="Arial"/>
                <a:ea typeface="Arial"/>
                <a:cs typeface="Arial"/>
              </a:defRPr>
            </a:defPPr>
          </a:lstStyle>
          <a:p xmlns:a="http://schemas.openxmlformats.org/drawingml/2006/main">
            <a:pPr>
              <a:defRPr sz="1650" b="1">
                <a:solidFill>
                  <a:srgbClr val="F6B94D"/>
                </a:solidFill>
                <a:latin typeface="Arial"/>
                <a:ea typeface="Arial"/>
                <a:cs typeface="Arial"/>
              </a:defRPr>
            </a:pPr>
            <a:r>
              <a:rPr sz="1650" b="1">
                <a:solidFill>
                  <a:srgbClr val="F6B94D"/>
                </a:solidFill>
                <a:latin typeface="Arial"/>
                <a:ea typeface="Arial"/>
                <a:cs typeface="Arial"/>
              </a:rPr>
              <a:t>Result: diagnostic; translation stops.</a:t>
            </a:r>
          </a:p>
        </p:txBody>
      </p:sp>
      <p:sp>
        <p:nvSpPr>
          <p:cNvPr id="11" name="">
            <a:extLst xmlns:a="http://schemas.openxmlformats.org/drawingml/2006/main">
              <a:ext uri="{FF2B5EF4-FFF2-40B4-BE49-F238E27FC236}">
                <a16:creationId xmlns:a16="http://schemas.microsoft.com/office/drawing/2014/main" id="{3110AA9A-DAE2-42FC-8B55-13B9F623E09B}"/>
              </a:ext>
            </a:extLst>
          </p:cNvPr>
          <p:cNvSpPr>
            <a:spLocks xmlns:a="http://schemas.openxmlformats.org/drawingml/2006/main" noGrp="1"/>
          </p:cNvSpPr>
          <p:nvPr/>
        </p:nvSpPr>
        <p:spPr>
          <a:xfrm xmlns:a="http://schemas.openxmlformats.org/drawingml/2006/main">
            <a:off x="6181725" y="1552575"/>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33D69B"/>
                </a:solidFill>
                <a:latin typeface="Arial"/>
                <a:ea typeface="Arial"/>
                <a:cs typeface="Arial"/>
              </a:defRPr>
            </a:defPPr>
          </a:lstStyle>
          <a:p xmlns:a="http://schemas.openxmlformats.org/drawingml/2006/main">
            <a:pPr>
              <a:defRPr sz="1350" b="1">
                <a:solidFill>
                  <a:srgbClr val="33D69B"/>
                </a:solidFill>
                <a:latin typeface="Arial"/>
                <a:ea typeface="Arial"/>
                <a:cs typeface="Arial"/>
              </a:defRPr>
            </a:pPr>
            <a:r>
              <a:rPr sz="1350" b="1">
                <a:solidFill>
                  <a:srgbClr val="33D69B"/>
                </a:solidFill>
                <a:latin typeface="Arial"/>
                <a:ea typeface="Arial"/>
                <a:cs typeface="Arial"/>
              </a:rPr>
              <a:t>IN GENERATED C</a:t>
            </a:r>
          </a:p>
        </p:txBody>
      </p:sp>
      <p:sp>
        <p:nvSpPr>
          <p:cNvPr id="12" name="">
            <a:extLst xmlns:a="http://schemas.openxmlformats.org/drawingml/2006/main">
              <a:ext uri="{FF2B5EF4-FFF2-40B4-BE49-F238E27FC236}">
                <a16:creationId xmlns:a16="http://schemas.microsoft.com/office/drawing/2014/main" id="{77B55AEC-E6E0-4BDE-9733-4D87AB9114FE}"/>
              </a:ext>
            </a:extLst>
          </p:cNvPr>
          <p:cNvSpPr>
            <a:spLocks xmlns:a="http://schemas.openxmlformats.org/drawingml/2006/main" noGrp="1"/>
          </p:cNvSpPr>
          <p:nvPr/>
        </p:nvSpPr>
        <p:spPr>
          <a:xfrm xmlns:a="http://schemas.openxmlformats.org/drawingml/2006/main">
            <a:off x="6181725" y="1895475"/>
            <a:ext cx="5286375" cy="19050"/>
          </a:xfrm>
          <a:prstGeom xmlns:a="http://schemas.openxmlformats.org/drawingml/2006/main" prst="rect">
            <a:avLst/>
          </a:prstGeom>
          <a:solidFill xmlns:a="http://schemas.openxmlformats.org/drawingml/2006/main">
            <a:srgbClr val="33D69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3FA0034-2595-41DE-BB34-4CCCDC89797A}"/>
              </a:ext>
            </a:extLst>
          </p:cNvPr>
          <p:cNvSpPr>
            <a:spLocks xmlns:a="http://schemas.openxmlformats.org/drawingml/2006/main" noGrp="1"/>
          </p:cNvSpPr>
          <p:nvPr/>
        </p:nvSpPr>
        <p:spPr>
          <a:xfrm xmlns:a="http://schemas.openxmlformats.org/drawingml/2006/main">
            <a:off x="6200775" y="2076450"/>
            <a:ext cx="51625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6F8FC"/>
                </a:solidFill>
                <a:latin typeface="Arial"/>
                <a:ea typeface="Arial"/>
                <a:cs typeface="Arial"/>
              </a:defRPr>
            </a:defPPr>
          </a:lstStyle>
          <a:p xmlns:a="http://schemas.openxmlformats.org/drawingml/2006/main">
            <a:pPr>
              <a:defRPr sz="1725" b="0">
                <a:solidFill>
                  <a:srgbClr val="F6F8FC"/>
                </a:solidFill>
                <a:latin typeface="Arial"/>
                <a:ea typeface="Arial"/>
                <a:cs typeface="Arial"/>
              </a:defRPr>
            </a:pPr>
            <a:r>
              <a:rPr sz="1725" b="0">
                <a:solidFill>
                  <a:srgbClr val="F6F8FC"/>
                </a:solidFill>
                <a:latin typeface="Arial"/>
                <a:ea typeface="Arial"/>
                <a:cs typeface="Arial"/>
              </a:rPr>
              <a:t>Divisor: reject zero</a:t>
            </a:r>
          </a:p>
          <a:p xmlns:a="http://schemas.openxmlformats.org/drawingml/2006/main">
            <a:pPr>
              <a:defRPr sz="1725" b="0">
                <a:solidFill>
                  <a:srgbClr val="F6F8FC"/>
                </a:solidFill>
                <a:latin typeface="Arial"/>
                <a:ea typeface="Arial"/>
                <a:cs typeface="Arial"/>
              </a:defRPr>
            </a:pPr>
            <a:r>
              <a:rPr sz="1725" b="0">
                <a:solidFill>
                  <a:srgbClr val="F6F8FC"/>
                </a:solidFill>
                <a:latin typeface="Arial"/>
                <a:ea typeface="Arial"/>
                <a:cs typeface="Arial"/>
              </a:rPr>
              <a:t>Dynamic array index: enforce bounds</a:t>
            </a:r>
          </a:p>
          <a:p xmlns:a="http://schemas.openxmlformats.org/drawingml/2006/main">
            <a:pPr>
              <a:defRPr sz="1725" b="0">
                <a:solidFill>
                  <a:srgbClr val="F6F8FC"/>
                </a:solidFill>
                <a:latin typeface="Arial"/>
                <a:ea typeface="Arial"/>
                <a:cs typeface="Arial"/>
              </a:defRPr>
            </a:pPr>
            <a:r>
              <a:rPr sz="1725" b="0">
                <a:solidFill>
                  <a:srgbClr val="F6F8FC"/>
                </a:solidFill>
                <a:latin typeface="Arial"/>
                <a:ea typeface="Arial"/>
                <a:cs typeface="Arial"/>
              </a:rPr>
              <a:t>Shift count: reject invalid count</a:t>
            </a:r>
          </a:p>
          <a:p xmlns:a="http://schemas.openxmlformats.org/drawingml/2006/main">
            <a:pPr>
              <a:defRPr sz="1725" b="0">
                <a:solidFill>
                  <a:srgbClr val="F6F8FC"/>
                </a:solidFill>
                <a:latin typeface="Arial"/>
                <a:ea typeface="Arial"/>
                <a:cs typeface="Arial"/>
              </a:defRPr>
            </a:pPr>
            <a:r>
              <a:rPr sz="1725" b="0">
                <a:solidFill>
                  <a:srgbClr val="F6F8FC"/>
                </a:solidFill>
                <a:latin typeface="Arial"/>
                <a:ea typeface="Arial"/>
                <a:cs typeface="Arial"/>
              </a:rPr>
              <a:t>Explicit REQUIRE / ENSURE: check condition</a:t>
            </a:r>
          </a:p>
        </p:txBody>
      </p:sp>
      <p:sp>
        <p:nvSpPr>
          <p:cNvPr id="14" name="">
            <a:extLst xmlns:a="http://schemas.openxmlformats.org/drawingml/2006/main">
              <a:ext uri="{FF2B5EF4-FFF2-40B4-BE49-F238E27FC236}">
                <a16:creationId xmlns:a16="http://schemas.microsoft.com/office/drawing/2014/main" id="{F4171EBD-BC14-4627-A757-BCCA93C632DC}"/>
              </a:ext>
            </a:extLst>
          </p:cNvPr>
          <p:cNvSpPr>
            <a:spLocks xmlns:a="http://schemas.openxmlformats.org/drawingml/2006/main" noGrp="1"/>
          </p:cNvSpPr>
          <p:nvPr/>
        </p:nvSpPr>
        <p:spPr>
          <a:xfrm xmlns:a="http://schemas.openxmlformats.org/drawingml/2006/main">
            <a:off x="6200775" y="4029075"/>
            <a:ext cx="5191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33D69B"/>
                </a:solidFill>
                <a:latin typeface="Arial"/>
                <a:ea typeface="Arial"/>
                <a:cs typeface="Arial"/>
              </a:defRPr>
            </a:defPPr>
          </a:lstStyle>
          <a:p xmlns:a="http://schemas.openxmlformats.org/drawingml/2006/main">
            <a:pPr>
              <a:defRPr sz="1650" b="1">
                <a:solidFill>
                  <a:srgbClr val="33D69B"/>
                </a:solidFill>
                <a:latin typeface="Arial"/>
                <a:ea typeface="Arial"/>
                <a:cs typeface="Arial"/>
              </a:defRPr>
            </a:pPr>
            <a:r>
              <a:rPr sz="1650" b="1">
                <a:solidFill>
                  <a:srgbClr val="33D69B"/>
                </a:solidFill>
                <a:latin typeface="Arial"/>
                <a:ea typeface="Arial"/>
                <a:cs typeface="Arial"/>
              </a:rPr>
              <a:t>Result: pseudocode-line error and nonzero exit.</a:t>
            </a:r>
          </a:p>
        </p:txBody>
      </p:sp>
      <p:sp>
        <p:nvSpPr>
          <p:cNvPr id="15" name="">
            <a:extLst xmlns:a="http://schemas.openxmlformats.org/drawingml/2006/main">
              <a:ext uri="{FF2B5EF4-FFF2-40B4-BE49-F238E27FC236}">
                <a16:creationId xmlns:a16="http://schemas.microsoft.com/office/drawing/2014/main" id="{830363BC-25BC-4E7A-9EFC-F05959EA0196}"/>
              </a:ext>
            </a:extLst>
          </p:cNvPr>
          <p:cNvSpPr>
            <a:spLocks xmlns:a="http://schemas.openxmlformats.org/drawingml/2006/main" noGrp="1"/>
          </p:cNvSpPr>
          <p:nvPr/>
        </p:nvSpPr>
        <p:spPr>
          <a:xfrm xmlns:a="http://schemas.openxmlformats.org/drawingml/2006/main">
            <a:off x="628650" y="5048250"/>
            <a:ext cx="1083945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E80374A-A816-4A7A-9683-8AEC2E41A1BA}"/>
              </a:ext>
            </a:extLst>
          </p:cNvPr>
          <p:cNvSpPr>
            <a:spLocks xmlns:a="http://schemas.openxmlformats.org/drawingml/2006/main" noGrp="1"/>
          </p:cNvSpPr>
          <p:nvPr/>
        </p:nvSpPr>
        <p:spPr>
          <a:xfrm xmlns:a="http://schemas.openxmlformats.org/drawingml/2006/main">
            <a:off x="647700" y="5248275"/>
            <a:ext cx="10839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20D5EA"/>
                </a:solidFill>
                <a:latin typeface="Arial"/>
                <a:ea typeface="Arial"/>
                <a:cs typeface="Arial"/>
              </a:defRPr>
            </a:defPPr>
          </a:lstStyle>
          <a:p xmlns:a="http://schemas.openxmlformats.org/drawingml/2006/main">
            <a:pPr>
              <a:defRPr sz="1650" b="1">
                <a:solidFill>
                  <a:srgbClr val="20D5EA"/>
                </a:solidFill>
                <a:latin typeface="Arial"/>
                <a:ea typeface="Arial"/>
                <a:cs typeface="Arial"/>
              </a:defRPr>
            </a:pPr>
            <a:r>
              <a:rPr sz="1650" b="1">
                <a:solidFill>
                  <a:srgbClr val="20D5EA"/>
                </a:solidFill>
                <a:latin typeface="Arial"/>
                <a:ea typeface="Arial"/>
                <a:cs typeface="Arial"/>
              </a:rPr>
              <a:t>Next: complete division and array examples show the inserted C checks and observed errors.</a:t>
            </a:r>
          </a:p>
        </p:txBody>
      </p:sp>
    </p:spTree>
    <p:extLst>
      <p:ext uri="{BB962C8B-B14F-4D97-AF65-F5344CB8AC3E}">
        <p14:creationId xmlns:p14="http://schemas.microsoft.com/office/powerpoint/2010/main" val="1370759828"/>
      </p:ext>
    </p:extLst>
  </p:cSld>
</p:sld>
</file>

<file path=ppt/slides/slide10.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161261C-9F73-490E-9985-C0357FC926F0}"/>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211244-CF1B-4F70-82BC-5D0D4811FAA3}"/>
              </a:ext>
            </a:extLst>
          </p:cNvPr>
          <p:cNvSpPr>
            <a:spLocks xmlns:a="http://schemas.openxmlformats.org/drawingml/2006/main" noGrp="1"/>
          </p:cNvSpPr>
          <p:nvPr/>
        </p:nvSpPr>
        <p:spPr>
          <a:xfrm xmlns:a="http://schemas.openxmlformats.org/drawingml/2006/main">
            <a:off x="571500" y="4095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F6F8FC"/>
                </a:solidFill>
                <a:latin typeface="Arial"/>
                <a:ea typeface="Arial"/>
                <a:cs typeface="Arial"/>
              </a:defRPr>
            </a:defPPr>
          </a:lstStyle>
          <a:p xmlns:a="http://schemas.openxmlformats.org/drawingml/2006/main">
            <a:pPr>
              <a:defRPr sz="3000" b="1">
                <a:solidFill>
                  <a:srgbClr val="F6F8FC"/>
                </a:solidFill>
                <a:latin typeface="Arial"/>
                <a:ea typeface="Arial"/>
                <a:cs typeface="Arial"/>
              </a:defRPr>
            </a:pPr>
            <a:r>
              <a:rPr sz="3000" b="1">
                <a:solidFill>
                  <a:srgbClr val="F6F8FC"/>
                </a:solidFill>
                <a:latin typeface="Arial"/>
                <a:ea typeface="Arial"/>
                <a:cs typeface="Arial"/>
              </a:rPr>
              <a:t>Example 4: automatic division check</a:t>
            </a:r>
          </a:p>
        </p:txBody>
      </p:sp>
      <p:sp>
        <p:nvSpPr>
          <p:cNvPr id="3" name="">
            <a:extLst xmlns:a="http://schemas.openxmlformats.org/drawingml/2006/main">
              <a:ext uri="{FF2B5EF4-FFF2-40B4-BE49-F238E27FC236}">
                <a16:creationId xmlns:a16="http://schemas.microsoft.com/office/drawing/2014/main" id="{149EB070-6C29-4203-B27B-E90A8E23A1BC}"/>
              </a:ext>
            </a:extLst>
          </p:cNvPr>
          <p:cNvSpPr>
            <a:spLocks xmlns:a="http://schemas.openxmlformats.org/drawingml/2006/main" noGrp="1"/>
          </p:cNvSpPr>
          <p:nvPr/>
        </p:nvSpPr>
        <p:spPr>
          <a:xfrm xmlns:a="http://schemas.openxmlformats.org/drawingml/2006/main">
            <a:off x="590550" y="9906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The source has no REQUIRE; the generated C guards the divisor.</a:t>
            </a:r>
          </a:p>
        </p:txBody>
      </p:sp>
      <p:sp>
        <p:nvSpPr>
          <p:cNvPr id="4" name="">
            <a:extLst xmlns:a="http://schemas.openxmlformats.org/drawingml/2006/main">
              <a:ext uri="{FF2B5EF4-FFF2-40B4-BE49-F238E27FC236}">
                <a16:creationId xmlns:a16="http://schemas.microsoft.com/office/drawing/2014/main" id="{05007687-5625-4E94-BA04-7B535F5F075A}"/>
              </a:ext>
            </a:extLst>
          </p:cNvPr>
          <p:cNvSpPr>
            <a:spLocks xmlns:a="http://schemas.openxmlformats.org/drawingml/2006/main" noGrp="1"/>
          </p:cNvSpPr>
          <p:nvPr/>
        </p:nvSpPr>
        <p:spPr>
          <a:xfrm xmlns:a="http://schemas.openxmlformats.org/drawingml/2006/main">
            <a:off x="571500" y="6219825"/>
            <a:ext cx="110490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80EE8DF-5E77-426E-BC5E-869C13DFF699}"/>
              </a:ext>
            </a:extLst>
          </p:cNvPr>
          <p:cNvSpPr>
            <a:spLocks xmlns:a="http://schemas.openxmlformats.org/drawingml/2006/main" noGrp="1"/>
          </p:cNvSpPr>
          <p:nvPr/>
        </p:nvSpPr>
        <p:spPr>
          <a:xfrm xmlns:a="http://schemas.openxmlformats.org/drawingml/2006/main">
            <a:off x="571500" y="63627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AEBBD0"/>
                </a:solidFill>
                <a:latin typeface="Arial"/>
                <a:ea typeface="Arial"/>
                <a:cs typeface="Arial"/>
              </a:defRPr>
            </a:defPPr>
          </a:lstStyle>
          <a:p xmlns:a="http://schemas.openxmlformats.org/drawingml/2006/main">
            <a:pPr>
              <a:defRPr sz="1050" b="1">
                <a:solidFill>
                  <a:srgbClr val="AEBBD0"/>
                </a:solidFill>
                <a:latin typeface="Arial"/>
                <a:ea typeface="Arial"/>
                <a:cs typeface="Arial"/>
              </a:defRPr>
            </a:pPr>
            <a:r>
              <a:rPr sz="1050" b="1">
                <a:solidFill>
                  <a:srgbClr val="AEBBD0"/>
                </a:solidFill>
                <a:latin typeface="Arial"/>
                <a:ea typeface="Arial"/>
                <a:cs typeface="Arial"/>
              </a:rPr>
              <a:t>REVIEW 2  /  PSEUDOCODE TO C</a:t>
            </a:r>
          </a:p>
        </p:txBody>
      </p:sp>
      <p:sp>
        <p:nvSpPr>
          <p:cNvPr id="6" name="">
            <a:extLst xmlns:a="http://schemas.openxmlformats.org/drawingml/2006/main">
              <a:ext uri="{FF2B5EF4-FFF2-40B4-BE49-F238E27FC236}">
                <a16:creationId xmlns:a16="http://schemas.microsoft.com/office/drawing/2014/main" id="{B7ACCC0D-7319-473F-9189-BE009C56B281}"/>
              </a:ext>
            </a:extLst>
          </p:cNvPr>
          <p:cNvSpPr>
            <a:spLocks xmlns:a="http://schemas.openxmlformats.org/drawingml/2006/main" noGrp="1"/>
          </p:cNvSpPr>
          <p:nvPr/>
        </p:nvSpPr>
        <p:spPr>
          <a:xfrm xmlns:a="http://schemas.openxmlformats.org/drawingml/2006/main">
            <a:off x="10953750" y="636270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0D5EA"/>
                </a:solidFill>
                <a:latin typeface="Arial"/>
                <a:ea typeface="Arial"/>
                <a:cs typeface="Arial"/>
              </a:defRPr>
            </a:defPPr>
          </a:lstStyle>
          <a:p xmlns:a="http://schemas.openxmlformats.org/drawingml/2006/main">
            <a:pPr>
              <a:defRPr sz="1050" b="1">
                <a:solidFill>
                  <a:srgbClr val="20D5EA"/>
                </a:solidFill>
                <a:latin typeface="Arial"/>
                <a:ea typeface="Arial"/>
                <a:cs typeface="Arial"/>
              </a:defRPr>
            </a:pPr>
            <a:r>
              <a:rPr sz="1050" b="1">
                <a:solidFill>
                  <a:srgbClr val="20D5EA"/>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B54B6CAA-309A-4089-BBA0-762D18060C4B}"/>
              </a:ext>
            </a:extLst>
          </p:cNvPr>
          <p:cNvSpPr>
            <a:spLocks xmlns:a="http://schemas.openxmlformats.org/drawingml/2006/main" noGrp="1"/>
          </p:cNvSpPr>
          <p:nvPr/>
        </p:nvSpPr>
        <p:spPr>
          <a:xfrm xmlns:a="http://schemas.openxmlformats.org/drawingml/2006/main">
            <a:off x="628650" y="146685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20D5EA"/>
                </a:solidFill>
                <a:latin typeface="Arial"/>
                <a:ea typeface="Arial"/>
                <a:cs typeface="Arial"/>
              </a:defRPr>
            </a:defPPr>
          </a:lstStyle>
          <a:p xmlns:a="http://schemas.openxmlformats.org/drawingml/2006/main">
            <a:pPr>
              <a:defRPr sz="1350" b="1">
                <a:solidFill>
                  <a:srgbClr val="20D5EA"/>
                </a:solidFill>
                <a:latin typeface="Arial"/>
                <a:ea typeface="Arial"/>
                <a:cs typeface="Arial"/>
              </a:defRPr>
            </a:pPr>
            <a:r>
              <a:rPr sz="1350" b="1">
                <a:solidFill>
                  <a:srgbClr val="20D5EA"/>
                </a:solidFill>
                <a:latin typeface="Arial"/>
                <a:ea typeface="Arial"/>
                <a:cs typeface="Arial"/>
              </a:rPr>
              <a:t>PSEUDOCODE</a:t>
            </a:r>
          </a:p>
        </p:txBody>
      </p:sp>
      <p:sp>
        <p:nvSpPr>
          <p:cNvPr id="8" name="">
            <a:extLst xmlns:a="http://schemas.openxmlformats.org/drawingml/2006/main">
              <a:ext uri="{FF2B5EF4-FFF2-40B4-BE49-F238E27FC236}">
                <a16:creationId xmlns:a16="http://schemas.microsoft.com/office/drawing/2014/main" id="{884440EF-D03E-430A-B358-DA796508F2C3}"/>
              </a:ext>
            </a:extLst>
          </p:cNvPr>
          <p:cNvSpPr>
            <a:spLocks xmlns:a="http://schemas.openxmlformats.org/drawingml/2006/main" noGrp="1"/>
          </p:cNvSpPr>
          <p:nvPr/>
        </p:nvSpPr>
        <p:spPr>
          <a:xfrm xmlns:a="http://schemas.openxmlformats.org/drawingml/2006/main">
            <a:off x="628650" y="1809750"/>
            <a:ext cx="4905375" cy="19050"/>
          </a:xfrm>
          <a:prstGeom xmlns:a="http://schemas.openxmlformats.org/drawingml/2006/main" prst="rect">
            <a:avLst/>
          </a:prstGeom>
          <a:solidFill xmlns:a="http://schemas.openxmlformats.org/drawingml/2006/main">
            <a:srgbClr val="20D5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62F550C-9FBE-4997-BC58-13B353ACA91F}"/>
              </a:ext>
            </a:extLst>
          </p:cNvPr>
          <p:cNvSpPr>
            <a:spLocks xmlns:a="http://schemas.openxmlformats.org/drawingml/2006/main" noGrp="1"/>
          </p:cNvSpPr>
          <p:nvPr/>
        </p:nvSpPr>
        <p:spPr>
          <a:xfrm xmlns:a="http://schemas.openxmlformats.org/drawingml/2006/main">
            <a:off x="619125" y="1924050"/>
            <a:ext cx="4914900" cy="3219450"/>
          </a:xfrm>
          <a:prstGeom xmlns:a="http://schemas.openxmlformats.org/drawingml/2006/main" prst="roundRect">
            <a:avLst>
              <a:gd name="adj" fmla="val 2959"/>
            </a:avLst>
          </a:prstGeom>
          <a:solidFill xmlns:a="http://schemas.openxmlformats.org/drawingml/2006/main">
            <a:srgbClr val="101B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A99D34F-EE44-46EF-BDAB-3AB678EA1E24}"/>
              </a:ext>
            </a:extLst>
          </p:cNvPr>
          <p:cNvSpPr>
            <a:spLocks xmlns:a="http://schemas.openxmlformats.org/drawingml/2006/main" noGrp="1"/>
          </p:cNvSpPr>
          <p:nvPr/>
        </p:nvSpPr>
        <p:spPr>
          <a:xfrm xmlns:a="http://schemas.openxmlformats.org/drawingml/2006/main">
            <a:off x="828675" y="2085975"/>
            <a:ext cx="4495800" cy="289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F6F8FC"/>
                </a:solidFill>
                <a:latin typeface="Consolas"/>
                <a:ea typeface="Consolas"/>
                <a:cs typeface="Consolas"/>
              </a:defRPr>
            </a:defPPr>
          </a:lstStyle>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BEGIN</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DECLARE dividend AS INTEGER</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DECLARE divisor AS INTEGER</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READ dividend</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READ divisor</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PRINT dividend / divisor</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END</a:t>
            </a:r>
          </a:p>
        </p:txBody>
      </p:sp>
      <p:sp>
        <p:nvSpPr>
          <p:cNvPr id="11" name="">
            <a:extLst xmlns:a="http://schemas.openxmlformats.org/drawingml/2006/main">
              <a:ext uri="{FF2B5EF4-FFF2-40B4-BE49-F238E27FC236}">
                <a16:creationId xmlns:a16="http://schemas.microsoft.com/office/drawing/2014/main" id="{F8EB68B0-88DF-48EC-978E-ED556BBD42A3}"/>
              </a:ext>
            </a:extLst>
          </p:cNvPr>
          <p:cNvSpPr>
            <a:spLocks xmlns:a="http://schemas.openxmlformats.org/drawingml/2006/main" noGrp="1"/>
          </p:cNvSpPr>
          <p:nvPr/>
        </p:nvSpPr>
        <p:spPr>
          <a:xfrm xmlns:a="http://schemas.openxmlformats.org/drawingml/2006/main">
            <a:off x="5991225" y="1466850"/>
            <a:ext cx="548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4C82FF"/>
                </a:solidFill>
                <a:latin typeface="Arial"/>
                <a:ea typeface="Arial"/>
                <a:cs typeface="Arial"/>
              </a:defRPr>
            </a:defPPr>
          </a:lstStyle>
          <a:p xmlns:a="http://schemas.openxmlformats.org/drawingml/2006/main">
            <a:pPr>
              <a:defRPr sz="1350" b="1">
                <a:solidFill>
                  <a:srgbClr val="4C82FF"/>
                </a:solidFill>
                <a:latin typeface="Arial"/>
                <a:ea typeface="Arial"/>
                <a:cs typeface="Arial"/>
              </a:defRPr>
            </a:pPr>
            <a:r>
              <a:rPr sz="1350" b="1">
                <a:solidFill>
                  <a:srgbClr val="4C82FF"/>
                </a:solidFill>
                <a:latin typeface="Arial"/>
                <a:ea typeface="Arial"/>
                <a:cs typeface="Arial"/>
              </a:rPr>
              <a:t>KEY IR</a:t>
            </a:r>
          </a:p>
        </p:txBody>
      </p:sp>
      <p:sp>
        <p:nvSpPr>
          <p:cNvPr id="12" name="">
            <a:extLst xmlns:a="http://schemas.openxmlformats.org/drawingml/2006/main">
              <a:ext uri="{FF2B5EF4-FFF2-40B4-BE49-F238E27FC236}">
                <a16:creationId xmlns:a16="http://schemas.microsoft.com/office/drawing/2014/main" id="{78BBB70C-E29D-43D9-80B9-CA8C4028271E}"/>
              </a:ext>
            </a:extLst>
          </p:cNvPr>
          <p:cNvSpPr>
            <a:spLocks xmlns:a="http://schemas.openxmlformats.org/drawingml/2006/main" noGrp="1"/>
          </p:cNvSpPr>
          <p:nvPr/>
        </p:nvSpPr>
        <p:spPr>
          <a:xfrm xmlns:a="http://schemas.openxmlformats.org/drawingml/2006/main">
            <a:off x="5991225" y="1809750"/>
            <a:ext cx="5486400" cy="19050"/>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8034A53-4122-4DD0-BE6B-347B4159656B}"/>
              </a:ext>
            </a:extLst>
          </p:cNvPr>
          <p:cNvSpPr>
            <a:spLocks xmlns:a="http://schemas.openxmlformats.org/drawingml/2006/main" noGrp="1"/>
          </p:cNvSpPr>
          <p:nvPr/>
        </p:nvSpPr>
        <p:spPr>
          <a:xfrm xmlns:a="http://schemas.openxmlformats.org/drawingml/2006/main">
            <a:off x="5981700" y="1924050"/>
            <a:ext cx="5495925" cy="1333500"/>
          </a:xfrm>
          <a:prstGeom xmlns:a="http://schemas.openxmlformats.org/drawingml/2006/main" prst="roundRect">
            <a:avLst>
              <a:gd name="adj" fmla="val 7143"/>
            </a:avLst>
          </a:prstGeom>
          <a:solidFill xmlns:a="http://schemas.openxmlformats.org/drawingml/2006/main">
            <a:srgbClr val="101B2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139DA9-BE1C-46DE-BFE7-A258A9941092}"/>
              </a:ext>
            </a:extLst>
          </p:cNvPr>
          <p:cNvSpPr>
            <a:spLocks xmlns:a="http://schemas.openxmlformats.org/drawingml/2006/main" noGrp="1"/>
          </p:cNvSpPr>
          <p:nvPr/>
        </p:nvSpPr>
        <p:spPr>
          <a:xfrm xmlns:a="http://schemas.openxmlformats.org/drawingml/2006/main">
            <a:off x="6191250" y="2085975"/>
            <a:ext cx="50768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F6F8FC"/>
                </a:solidFill>
                <a:latin typeface="Consolas"/>
                <a:ea typeface="Consolas"/>
                <a:cs typeface="Consolas"/>
              </a:defRPr>
            </a:defPPr>
          </a:lstStyle>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READ dividend</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READ divisor</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t1 = dividend / divisor</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PRINT t1</a:t>
            </a:r>
          </a:p>
        </p:txBody>
      </p:sp>
      <p:sp>
        <p:nvSpPr>
          <p:cNvPr id="15" name="">
            <a:extLst xmlns:a="http://schemas.openxmlformats.org/drawingml/2006/main">
              <a:ext uri="{FF2B5EF4-FFF2-40B4-BE49-F238E27FC236}">
                <a16:creationId xmlns:a16="http://schemas.microsoft.com/office/drawing/2014/main" id="{7F69B2AB-6EE9-41E5-BCB8-7CA5AEBE609C}"/>
              </a:ext>
            </a:extLst>
          </p:cNvPr>
          <p:cNvSpPr>
            <a:spLocks xmlns:a="http://schemas.openxmlformats.org/drawingml/2006/main" noGrp="1"/>
          </p:cNvSpPr>
          <p:nvPr/>
        </p:nvSpPr>
        <p:spPr>
          <a:xfrm xmlns:a="http://schemas.openxmlformats.org/drawingml/2006/main">
            <a:off x="5991225" y="3419475"/>
            <a:ext cx="548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33D69B"/>
                </a:solidFill>
                <a:latin typeface="Arial"/>
                <a:ea typeface="Arial"/>
                <a:cs typeface="Arial"/>
              </a:defRPr>
            </a:defPPr>
          </a:lstStyle>
          <a:p xmlns:a="http://schemas.openxmlformats.org/drawingml/2006/main">
            <a:pPr>
              <a:defRPr sz="1350" b="1">
                <a:solidFill>
                  <a:srgbClr val="33D69B"/>
                </a:solidFill>
                <a:latin typeface="Arial"/>
                <a:ea typeface="Arial"/>
                <a:cs typeface="Arial"/>
              </a:defRPr>
            </a:pPr>
            <a:r>
              <a:rPr sz="1350" b="1">
                <a:solidFill>
                  <a:srgbClr val="33D69B"/>
                </a:solidFill>
                <a:latin typeface="Arial"/>
                <a:ea typeface="Arial"/>
                <a:cs typeface="Arial"/>
              </a:rPr>
              <a:t>GENERATED C CHECK</a:t>
            </a:r>
          </a:p>
        </p:txBody>
      </p:sp>
      <p:sp>
        <p:nvSpPr>
          <p:cNvPr id="16" name="">
            <a:extLst xmlns:a="http://schemas.openxmlformats.org/drawingml/2006/main">
              <a:ext uri="{FF2B5EF4-FFF2-40B4-BE49-F238E27FC236}">
                <a16:creationId xmlns:a16="http://schemas.microsoft.com/office/drawing/2014/main" id="{E5677DB2-FF19-4EFE-8C2B-5C84A6E34F93}"/>
              </a:ext>
            </a:extLst>
          </p:cNvPr>
          <p:cNvSpPr>
            <a:spLocks xmlns:a="http://schemas.openxmlformats.org/drawingml/2006/main" noGrp="1"/>
          </p:cNvSpPr>
          <p:nvPr/>
        </p:nvSpPr>
        <p:spPr>
          <a:xfrm xmlns:a="http://schemas.openxmlformats.org/drawingml/2006/main">
            <a:off x="5991225" y="3762375"/>
            <a:ext cx="5486400" cy="19050"/>
          </a:xfrm>
          <a:prstGeom xmlns:a="http://schemas.openxmlformats.org/drawingml/2006/main" prst="rect">
            <a:avLst/>
          </a:prstGeom>
          <a:solidFill xmlns:a="http://schemas.openxmlformats.org/drawingml/2006/main">
            <a:srgbClr val="33D69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A396B46-DC52-4B48-91C8-1AAB6565C6E5}"/>
              </a:ext>
            </a:extLst>
          </p:cNvPr>
          <p:cNvSpPr>
            <a:spLocks xmlns:a="http://schemas.openxmlformats.org/drawingml/2006/main" noGrp="1"/>
          </p:cNvSpPr>
          <p:nvPr/>
        </p:nvSpPr>
        <p:spPr>
          <a:xfrm xmlns:a="http://schemas.openxmlformats.org/drawingml/2006/main">
            <a:off x="5981700" y="3876675"/>
            <a:ext cx="5495925" cy="1466850"/>
          </a:xfrm>
          <a:prstGeom xmlns:a="http://schemas.openxmlformats.org/drawingml/2006/main" prst="roundRect">
            <a:avLst>
              <a:gd name="adj" fmla="val 6494"/>
            </a:avLst>
          </a:prstGeom>
          <a:solidFill xmlns:a="http://schemas.openxmlformats.org/drawingml/2006/main">
            <a:srgbClr val="101B2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D99229D-AD1A-47AB-9A04-FA986B40DBB8}"/>
              </a:ext>
            </a:extLst>
          </p:cNvPr>
          <p:cNvSpPr>
            <a:spLocks xmlns:a="http://schemas.openxmlformats.org/drawingml/2006/main" noGrp="1"/>
          </p:cNvSpPr>
          <p:nvPr/>
        </p:nvSpPr>
        <p:spPr>
          <a:xfrm xmlns:a="http://schemas.openxmlformats.org/drawingml/2006/main">
            <a:off x="6191250" y="4038600"/>
            <a:ext cx="50768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F6F8FC"/>
                </a:solidFill>
                <a:latin typeface="Consolas"/>
                <a:ea typeface="Consolas"/>
                <a:cs typeface="Consolas"/>
              </a:defRPr>
            </a:defPPr>
          </a:lstStyle>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if (divisor == 0) {</a:t>
            </a:r>
          </a:p>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  fprintf(stderr, "Division or remainder by zero"</a:t>
            </a:r>
          </a:p>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          " at pseudocode line 6\n");</a:t>
            </a:r>
          </a:p>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  return 1;</a:t>
            </a:r>
          </a:p>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a:t>
            </a:r>
          </a:p>
        </p:txBody>
      </p:sp>
      <p:sp>
        <p:nvSpPr>
          <p:cNvPr id="19" name="">
            <a:extLst xmlns:a="http://schemas.openxmlformats.org/drawingml/2006/main">
              <a:ext uri="{FF2B5EF4-FFF2-40B4-BE49-F238E27FC236}">
                <a16:creationId xmlns:a16="http://schemas.microsoft.com/office/drawing/2014/main" id="{4640503A-27B9-4CD1-8E10-B879FE07B308}"/>
              </a:ext>
            </a:extLst>
          </p:cNvPr>
          <p:cNvSpPr>
            <a:spLocks xmlns:a="http://schemas.openxmlformats.org/drawingml/2006/main" noGrp="1"/>
          </p:cNvSpPr>
          <p:nvPr/>
        </p:nvSpPr>
        <p:spPr>
          <a:xfrm xmlns:a="http://schemas.openxmlformats.org/drawingml/2006/main">
            <a:off x="638175" y="5514975"/>
            <a:ext cx="108394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F6B94D"/>
                </a:solidFill>
                <a:latin typeface="Arial"/>
                <a:ea typeface="Arial"/>
                <a:cs typeface="Arial"/>
              </a:defRPr>
            </a:defPPr>
          </a:lstStyle>
          <a:p xmlns:a="http://schemas.openxmlformats.org/drawingml/2006/main">
            <a:pPr>
              <a:defRPr sz="1575" b="1">
                <a:solidFill>
                  <a:srgbClr val="F6B94D"/>
                </a:solidFill>
                <a:latin typeface="Arial"/>
                <a:ea typeface="Arial"/>
                <a:cs typeface="Arial"/>
              </a:defRPr>
            </a:pPr>
            <a:r>
              <a:rPr sz="1575" b="1">
                <a:solidFill>
                  <a:srgbClr val="F6B94D"/>
                </a:solidFill>
                <a:latin typeface="Arial"/>
                <a:ea typeface="Arial"/>
                <a:cs typeface="Arial"/>
              </a:rPr>
              <a:t>INPUT: 20 0     RESULT: source-line error, exit status 1</a:t>
            </a:r>
          </a:p>
        </p:txBody>
      </p:sp>
    </p:spTree>
    <p:extLst>
      <p:ext uri="{BB962C8B-B14F-4D97-AF65-F5344CB8AC3E}">
        <p14:creationId xmlns:p14="http://schemas.microsoft.com/office/powerpoint/2010/main" val="1091946358"/>
      </p:ext>
    </p:extLst>
  </p:cSld>
</p:sld>
</file>

<file path=ppt/slides/slide11.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6B78473-4D14-4B0D-B00A-1B55E38BEDD2}"/>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800A08B-0BA9-4B74-92B1-E6AEA3046072}"/>
              </a:ext>
            </a:extLst>
          </p:cNvPr>
          <p:cNvSpPr>
            <a:spLocks xmlns:a="http://schemas.openxmlformats.org/drawingml/2006/main" noGrp="1"/>
          </p:cNvSpPr>
          <p:nvPr/>
        </p:nvSpPr>
        <p:spPr>
          <a:xfrm xmlns:a="http://schemas.openxmlformats.org/drawingml/2006/main">
            <a:off x="571500" y="4095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F6F8FC"/>
                </a:solidFill>
                <a:latin typeface="Arial"/>
                <a:ea typeface="Arial"/>
                <a:cs typeface="Arial"/>
              </a:defRPr>
            </a:defPPr>
          </a:lstStyle>
          <a:p xmlns:a="http://schemas.openxmlformats.org/drawingml/2006/main">
            <a:pPr>
              <a:defRPr sz="3000" b="1">
                <a:solidFill>
                  <a:srgbClr val="F6F8FC"/>
                </a:solidFill>
                <a:latin typeface="Arial"/>
                <a:ea typeface="Arial"/>
                <a:cs typeface="Arial"/>
              </a:defRPr>
            </a:pPr>
            <a:r>
              <a:rPr sz="3000" b="1">
                <a:solidFill>
                  <a:srgbClr val="F6F8FC"/>
                </a:solidFill>
                <a:latin typeface="Arial"/>
                <a:ea typeface="Arial"/>
                <a:cs typeface="Arial"/>
              </a:rPr>
              <a:t>Example 5: automatic array bounds</a:t>
            </a:r>
          </a:p>
        </p:txBody>
      </p:sp>
      <p:sp>
        <p:nvSpPr>
          <p:cNvPr id="3" name="">
            <a:extLst xmlns:a="http://schemas.openxmlformats.org/drawingml/2006/main">
              <a:ext uri="{FF2B5EF4-FFF2-40B4-BE49-F238E27FC236}">
                <a16:creationId xmlns:a16="http://schemas.microsoft.com/office/drawing/2014/main" id="{5F19E408-D0DB-4F89-90AE-903F1204376C}"/>
              </a:ext>
            </a:extLst>
          </p:cNvPr>
          <p:cNvSpPr>
            <a:spLocks xmlns:a="http://schemas.openxmlformats.org/drawingml/2006/main" noGrp="1"/>
          </p:cNvSpPr>
          <p:nvPr/>
        </p:nvSpPr>
        <p:spPr>
          <a:xfrm xmlns:a="http://schemas.openxmlformats.org/drawingml/2006/main">
            <a:off x="590550" y="9906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A dynamic array index is checked before reading or writing C memory.</a:t>
            </a:r>
          </a:p>
        </p:txBody>
      </p:sp>
      <p:sp>
        <p:nvSpPr>
          <p:cNvPr id="4" name="">
            <a:extLst xmlns:a="http://schemas.openxmlformats.org/drawingml/2006/main">
              <a:ext uri="{FF2B5EF4-FFF2-40B4-BE49-F238E27FC236}">
                <a16:creationId xmlns:a16="http://schemas.microsoft.com/office/drawing/2014/main" id="{DE589F26-FBC2-4AE6-95FC-0776C61C7F60}"/>
              </a:ext>
            </a:extLst>
          </p:cNvPr>
          <p:cNvSpPr>
            <a:spLocks xmlns:a="http://schemas.openxmlformats.org/drawingml/2006/main" noGrp="1"/>
          </p:cNvSpPr>
          <p:nvPr/>
        </p:nvSpPr>
        <p:spPr>
          <a:xfrm xmlns:a="http://schemas.openxmlformats.org/drawingml/2006/main">
            <a:off x="571500" y="6219825"/>
            <a:ext cx="110490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B69C1E5-8B69-4E9B-B2DE-919552DDB991}"/>
              </a:ext>
            </a:extLst>
          </p:cNvPr>
          <p:cNvSpPr>
            <a:spLocks xmlns:a="http://schemas.openxmlformats.org/drawingml/2006/main" noGrp="1"/>
          </p:cNvSpPr>
          <p:nvPr/>
        </p:nvSpPr>
        <p:spPr>
          <a:xfrm xmlns:a="http://schemas.openxmlformats.org/drawingml/2006/main">
            <a:off x="571500" y="63627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AEBBD0"/>
                </a:solidFill>
                <a:latin typeface="Arial"/>
                <a:ea typeface="Arial"/>
                <a:cs typeface="Arial"/>
              </a:defRPr>
            </a:defPPr>
          </a:lstStyle>
          <a:p xmlns:a="http://schemas.openxmlformats.org/drawingml/2006/main">
            <a:pPr>
              <a:defRPr sz="1050" b="1">
                <a:solidFill>
                  <a:srgbClr val="AEBBD0"/>
                </a:solidFill>
                <a:latin typeface="Arial"/>
                <a:ea typeface="Arial"/>
                <a:cs typeface="Arial"/>
              </a:defRPr>
            </a:pPr>
            <a:r>
              <a:rPr sz="1050" b="1">
                <a:solidFill>
                  <a:srgbClr val="AEBBD0"/>
                </a:solidFill>
                <a:latin typeface="Arial"/>
                <a:ea typeface="Arial"/>
                <a:cs typeface="Arial"/>
              </a:rPr>
              <a:t>REVIEW 2  /  PSEUDOCODE TO C</a:t>
            </a:r>
          </a:p>
        </p:txBody>
      </p:sp>
      <p:sp>
        <p:nvSpPr>
          <p:cNvPr id="6" name="">
            <a:extLst xmlns:a="http://schemas.openxmlformats.org/drawingml/2006/main">
              <a:ext uri="{FF2B5EF4-FFF2-40B4-BE49-F238E27FC236}">
                <a16:creationId xmlns:a16="http://schemas.microsoft.com/office/drawing/2014/main" id="{9473D674-D5A0-488D-B052-246A66CF897D}"/>
              </a:ext>
            </a:extLst>
          </p:cNvPr>
          <p:cNvSpPr>
            <a:spLocks xmlns:a="http://schemas.openxmlformats.org/drawingml/2006/main" noGrp="1"/>
          </p:cNvSpPr>
          <p:nvPr/>
        </p:nvSpPr>
        <p:spPr>
          <a:xfrm xmlns:a="http://schemas.openxmlformats.org/drawingml/2006/main">
            <a:off x="10953750" y="636270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0D5EA"/>
                </a:solidFill>
                <a:latin typeface="Arial"/>
                <a:ea typeface="Arial"/>
                <a:cs typeface="Arial"/>
              </a:defRPr>
            </a:defPPr>
          </a:lstStyle>
          <a:p xmlns:a="http://schemas.openxmlformats.org/drawingml/2006/main">
            <a:pPr>
              <a:defRPr sz="1050" b="1">
                <a:solidFill>
                  <a:srgbClr val="20D5EA"/>
                </a:solidFill>
                <a:latin typeface="Arial"/>
                <a:ea typeface="Arial"/>
                <a:cs typeface="Arial"/>
              </a:defRPr>
            </a:pPr>
            <a:r>
              <a:rPr sz="1050" b="1">
                <a:solidFill>
                  <a:srgbClr val="20D5EA"/>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054B995B-7313-4308-BC03-1C2E9460F0B3}"/>
              </a:ext>
            </a:extLst>
          </p:cNvPr>
          <p:cNvSpPr>
            <a:spLocks xmlns:a="http://schemas.openxmlformats.org/drawingml/2006/main" noGrp="1"/>
          </p:cNvSpPr>
          <p:nvPr/>
        </p:nvSpPr>
        <p:spPr>
          <a:xfrm xmlns:a="http://schemas.openxmlformats.org/drawingml/2006/main">
            <a:off x="628650" y="146685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20D5EA"/>
                </a:solidFill>
                <a:latin typeface="Arial"/>
                <a:ea typeface="Arial"/>
                <a:cs typeface="Arial"/>
              </a:defRPr>
            </a:defPPr>
          </a:lstStyle>
          <a:p xmlns:a="http://schemas.openxmlformats.org/drawingml/2006/main">
            <a:pPr>
              <a:defRPr sz="1350" b="1">
                <a:solidFill>
                  <a:srgbClr val="20D5EA"/>
                </a:solidFill>
                <a:latin typeface="Arial"/>
                <a:ea typeface="Arial"/>
                <a:cs typeface="Arial"/>
              </a:defRPr>
            </a:pPr>
            <a:r>
              <a:rPr sz="1350" b="1">
                <a:solidFill>
                  <a:srgbClr val="20D5EA"/>
                </a:solidFill>
                <a:latin typeface="Arial"/>
                <a:ea typeface="Arial"/>
                <a:cs typeface="Arial"/>
              </a:rPr>
              <a:t>PSEUDOCODE</a:t>
            </a:r>
          </a:p>
        </p:txBody>
      </p:sp>
      <p:sp>
        <p:nvSpPr>
          <p:cNvPr id="8" name="">
            <a:extLst xmlns:a="http://schemas.openxmlformats.org/drawingml/2006/main">
              <a:ext uri="{FF2B5EF4-FFF2-40B4-BE49-F238E27FC236}">
                <a16:creationId xmlns:a16="http://schemas.microsoft.com/office/drawing/2014/main" id="{B57359E8-C822-4140-AC5F-2BF8448DA3D4}"/>
              </a:ext>
            </a:extLst>
          </p:cNvPr>
          <p:cNvSpPr>
            <a:spLocks xmlns:a="http://schemas.openxmlformats.org/drawingml/2006/main" noGrp="1"/>
          </p:cNvSpPr>
          <p:nvPr/>
        </p:nvSpPr>
        <p:spPr>
          <a:xfrm xmlns:a="http://schemas.openxmlformats.org/drawingml/2006/main">
            <a:off x="628650" y="1809750"/>
            <a:ext cx="4905375" cy="19050"/>
          </a:xfrm>
          <a:prstGeom xmlns:a="http://schemas.openxmlformats.org/drawingml/2006/main" prst="rect">
            <a:avLst/>
          </a:prstGeom>
          <a:solidFill xmlns:a="http://schemas.openxmlformats.org/drawingml/2006/main">
            <a:srgbClr val="20D5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D5FC6CE-5317-42A8-8969-FF536C717D81}"/>
              </a:ext>
            </a:extLst>
          </p:cNvPr>
          <p:cNvSpPr>
            <a:spLocks xmlns:a="http://schemas.openxmlformats.org/drawingml/2006/main" noGrp="1"/>
          </p:cNvSpPr>
          <p:nvPr/>
        </p:nvSpPr>
        <p:spPr>
          <a:xfrm xmlns:a="http://schemas.openxmlformats.org/drawingml/2006/main">
            <a:off x="619125" y="1924050"/>
            <a:ext cx="4914900" cy="3219450"/>
          </a:xfrm>
          <a:prstGeom xmlns:a="http://schemas.openxmlformats.org/drawingml/2006/main" prst="roundRect">
            <a:avLst>
              <a:gd name="adj" fmla="val 2959"/>
            </a:avLst>
          </a:prstGeom>
          <a:solidFill xmlns:a="http://schemas.openxmlformats.org/drawingml/2006/main">
            <a:srgbClr val="101B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04E3878-65E1-4DDA-BB0B-637239229362}"/>
              </a:ext>
            </a:extLst>
          </p:cNvPr>
          <p:cNvSpPr>
            <a:spLocks xmlns:a="http://schemas.openxmlformats.org/drawingml/2006/main" noGrp="1"/>
          </p:cNvSpPr>
          <p:nvPr/>
        </p:nvSpPr>
        <p:spPr>
          <a:xfrm xmlns:a="http://schemas.openxmlformats.org/drawingml/2006/main">
            <a:off x="828675" y="2085975"/>
            <a:ext cx="4495800" cy="289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F6F8FC"/>
                </a:solidFill>
                <a:latin typeface="Consolas"/>
                <a:ea typeface="Consolas"/>
                <a:cs typeface="Consolas"/>
              </a:defRPr>
            </a:defPPr>
          </a:lstStyle>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BEGIN</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DECLARE values[3] AS INTEGER</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DECLARE index AS INTEGER</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DECLARE value AS INTEGER</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READ index</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READ value</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SET values[index] = value</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PRINT values[index]</a:t>
            </a:r>
          </a:p>
          <a:p xmlns:a="http://schemas.openxmlformats.org/drawingml/2006/main">
            <a:pPr>
              <a:defRPr sz="1275" b="0">
                <a:solidFill>
                  <a:srgbClr val="F6F8FC"/>
                </a:solidFill>
                <a:latin typeface="Consolas"/>
                <a:ea typeface="Consolas"/>
                <a:cs typeface="Consolas"/>
              </a:defRPr>
            </a:pPr>
            <a:r>
              <a:rPr sz="1275" b="0">
                <a:solidFill>
                  <a:srgbClr val="F6F8FC"/>
                </a:solidFill>
                <a:latin typeface="Consolas"/>
                <a:ea typeface="Consolas"/>
                <a:cs typeface="Consolas"/>
              </a:rPr>
              <a:t>END</a:t>
            </a:r>
          </a:p>
        </p:txBody>
      </p:sp>
      <p:sp>
        <p:nvSpPr>
          <p:cNvPr id="11" name="">
            <a:extLst xmlns:a="http://schemas.openxmlformats.org/drawingml/2006/main">
              <a:ext uri="{FF2B5EF4-FFF2-40B4-BE49-F238E27FC236}">
                <a16:creationId xmlns:a16="http://schemas.microsoft.com/office/drawing/2014/main" id="{F69BB397-D54C-46A2-BBFD-7C9C48B5034A}"/>
              </a:ext>
            </a:extLst>
          </p:cNvPr>
          <p:cNvSpPr>
            <a:spLocks xmlns:a="http://schemas.openxmlformats.org/drawingml/2006/main" noGrp="1"/>
          </p:cNvSpPr>
          <p:nvPr/>
        </p:nvSpPr>
        <p:spPr>
          <a:xfrm xmlns:a="http://schemas.openxmlformats.org/drawingml/2006/main">
            <a:off x="5991225" y="1466850"/>
            <a:ext cx="548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4C82FF"/>
                </a:solidFill>
                <a:latin typeface="Arial"/>
                <a:ea typeface="Arial"/>
                <a:cs typeface="Arial"/>
              </a:defRPr>
            </a:defPPr>
          </a:lstStyle>
          <a:p xmlns:a="http://schemas.openxmlformats.org/drawingml/2006/main">
            <a:pPr>
              <a:defRPr sz="1350" b="1">
                <a:solidFill>
                  <a:srgbClr val="4C82FF"/>
                </a:solidFill>
                <a:latin typeface="Arial"/>
                <a:ea typeface="Arial"/>
                <a:cs typeface="Arial"/>
              </a:defRPr>
            </a:pPr>
            <a:r>
              <a:rPr sz="1350" b="1">
                <a:solidFill>
                  <a:srgbClr val="4C82FF"/>
                </a:solidFill>
                <a:latin typeface="Arial"/>
                <a:ea typeface="Arial"/>
                <a:cs typeface="Arial"/>
              </a:rPr>
              <a:t>KEY IR</a:t>
            </a:r>
          </a:p>
        </p:txBody>
      </p:sp>
      <p:sp>
        <p:nvSpPr>
          <p:cNvPr id="12" name="">
            <a:extLst xmlns:a="http://schemas.openxmlformats.org/drawingml/2006/main">
              <a:ext uri="{FF2B5EF4-FFF2-40B4-BE49-F238E27FC236}">
                <a16:creationId xmlns:a16="http://schemas.microsoft.com/office/drawing/2014/main" id="{78270866-3141-487D-BCD6-C11A91911143}"/>
              </a:ext>
            </a:extLst>
          </p:cNvPr>
          <p:cNvSpPr>
            <a:spLocks xmlns:a="http://schemas.openxmlformats.org/drawingml/2006/main" noGrp="1"/>
          </p:cNvSpPr>
          <p:nvPr/>
        </p:nvSpPr>
        <p:spPr>
          <a:xfrm xmlns:a="http://schemas.openxmlformats.org/drawingml/2006/main">
            <a:off x="5991225" y="1809750"/>
            <a:ext cx="5486400" cy="19050"/>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78BEB8B-D3AC-4722-836D-4F0F28FD68E3}"/>
              </a:ext>
            </a:extLst>
          </p:cNvPr>
          <p:cNvSpPr>
            <a:spLocks xmlns:a="http://schemas.openxmlformats.org/drawingml/2006/main" noGrp="1"/>
          </p:cNvSpPr>
          <p:nvPr/>
        </p:nvSpPr>
        <p:spPr>
          <a:xfrm xmlns:a="http://schemas.openxmlformats.org/drawingml/2006/main">
            <a:off x="5981700" y="1924050"/>
            <a:ext cx="5495925" cy="1333500"/>
          </a:xfrm>
          <a:prstGeom xmlns:a="http://schemas.openxmlformats.org/drawingml/2006/main" prst="roundRect">
            <a:avLst>
              <a:gd name="adj" fmla="val 7143"/>
            </a:avLst>
          </a:prstGeom>
          <a:solidFill xmlns:a="http://schemas.openxmlformats.org/drawingml/2006/main">
            <a:srgbClr val="101B2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5D1451-DC58-4E19-BB95-D3790387B08B}"/>
              </a:ext>
            </a:extLst>
          </p:cNvPr>
          <p:cNvSpPr>
            <a:spLocks xmlns:a="http://schemas.openxmlformats.org/drawingml/2006/main" noGrp="1"/>
          </p:cNvSpPr>
          <p:nvPr/>
        </p:nvSpPr>
        <p:spPr>
          <a:xfrm xmlns:a="http://schemas.openxmlformats.org/drawingml/2006/main">
            <a:off x="6191250" y="2085975"/>
            <a:ext cx="50768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F6F8FC"/>
                </a:solidFill>
                <a:latin typeface="Consolas"/>
                <a:ea typeface="Consolas"/>
                <a:cs typeface="Consolas"/>
              </a:defRPr>
            </a:defPPr>
          </a:lstStyle>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BOUNDS_CHECK values[index] IN 0..2</a:t>
            </a:r>
          </a:p>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values[index] = value</a:t>
            </a:r>
          </a:p>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BOUNDS_CHECK values[index] IN 0..2</a:t>
            </a:r>
          </a:p>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t1 = values[index]</a:t>
            </a:r>
          </a:p>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PRINT t1</a:t>
            </a:r>
          </a:p>
        </p:txBody>
      </p:sp>
      <p:sp>
        <p:nvSpPr>
          <p:cNvPr id="15" name="">
            <a:extLst xmlns:a="http://schemas.openxmlformats.org/drawingml/2006/main">
              <a:ext uri="{FF2B5EF4-FFF2-40B4-BE49-F238E27FC236}">
                <a16:creationId xmlns:a16="http://schemas.microsoft.com/office/drawing/2014/main" id="{C65D3436-DB2E-4C81-A0A9-74E19A7366BE}"/>
              </a:ext>
            </a:extLst>
          </p:cNvPr>
          <p:cNvSpPr>
            <a:spLocks xmlns:a="http://schemas.openxmlformats.org/drawingml/2006/main" noGrp="1"/>
          </p:cNvSpPr>
          <p:nvPr/>
        </p:nvSpPr>
        <p:spPr>
          <a:xfrm xmlns:a="http://schemas.openxmlformats.org/drawingml/2006/main">
            <a:off x="5991225" y="3419475"/>
            <a:ext cx="548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33D69B"/>
                </a:solidFill>
                <a:latin typeface="Arial"/>
                <a:ea typeface="Arial"/>
                <a:cs typeface="Arial"/>
              </a:defRPr>
            </a:defPPr>
          </a:lstStyle>
          <a:p xmlns:a="http://schemas.openxmlformats.org/drawingml/2006/main">
            <a:pPr>
              <a:defRPr sz="1350" b="1">
                <a:solidFill>
                  <a:srgbClr val="33D69B"/>
                </a:solidFill>
                <a:latin typeface="Arial"/>
                <a:ea typeface="Arial"/>
                <a:cs typeface="Arial"/>
              </a:defRPr>
            </a:pPr>
            <a:r>
              <a:rPr sz="1350" b="1">
                <a:solidFill>
                  <a:srgbClr val="33D69B"/>
                </a:solidFill>
                <a:latin typeface="Arial"/>
                <a:ea typeface="Arial"/>
                <a:cs typeface="Arial"/>
              </a:rPr>
              <a:t>GENERATED C CHECK</a:t>
            </a:r>
          </a:p>
        </p:txBody>
      </p:sp>
      <p:sp>
        <p:nvSpPr>
          <p:cNvPr id="16" name="">
            <a:extLst xmlns:a="http://schemas.openxmlformats.org/drawingml/2006/main">
              <a:ext uri="{FF2B5EF4-FFF2-40B4-BE49-F238E27FC236}">
                <a16:creationId xmlns:a16="http://schemas.microsoft.com/office/drawing/2014/main" id="{C9698EFE-4123-401F-83E1-1A7FC024ACA8}"/>
              </a:ext>
            </a:extLst>
          </p:cNvPr>
          <p:cNvSpPr>
            <a:spLocks xmlns:a="http://schemas.openxmlformats.org/drawingml/2006/main" noGrp="1"/>
          </p:cNvSpPr>
          <p:nvPr/>
        </p:nvSpPr>
        <p:spPr>
          <a:xfrm xmlns:a="http://schemas.openxmlformats.org/drawingml/2006/main">
            <a:off x="5991225" y="3762375"/>
            <a:ext cx="5486400" cy="19050"/>
          </a:xfrm>
          <a:prstGeom xmlns:a="http://schemas.openxmlformats.org/drawingml/2006/main" prst="rect">
            <a:avLst/>
          </a:prstGeom>
          <a:solidFill xmlns:a="http://schemas.openxmlformats.org/drawingml/2006/main">
            <a:srgbClr val="33D69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51A516D-0FE0-4227-BB9C-C19FE3F63CD8}"/>
              </a:ext>
            </a:extLst>
          </p:cNvPr>
          <p:cNvSpPr>
            <a:spLocks xmlns:a="http://schemas.openxmlformats.org/drawingml/2006/main" noGrp="1"/>
          </p:cNvSpPr>
          <p:nvPr/>
        </p:nvSpPr>
        <p:spPr>
          <a:xfrm xmlns:a="http://schemas.openxmlformats.org/drawingml/2006/main">
            <a:off x="5981700" y="3876675"/>
            <a:ext cx="5495925" cy="1466850"/>
          </a:xfrm>
          <a:prstGeom xmlns:a="http://schemas.openxmlformats.org/drawingml/2006/main" prst="roundRect">
            <a:avLst>
              <a:gd name="adj" fmla="val 6494"/>
            </a:avLst>
          </a:prstGeom>
          <a:solidFill xmlns:a="http://schemas.openxmlformats.org/drawingml/2006/main">
            <a:srgbClr val="101B2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F7B9711-471C-46C3-8072-23FC614D8A13}"/>
              </a:ext>
            </a:extLst>
          </p:cNvPr>
          <p:cNvSpPr>
            <a:spLocks xmlns:a="http://schemas.openxmlformats.org/drawingml/2006/main" noGrp="1"/>
          </p:cNvSpPr>
          <p:nvPr/>
        </p:nvSpPr>
        <p:spPr>
          <a:xfrm xmlns:a="http://schemas.openxmlformats.org/drawingml/2006/main">
            <a:off x="6191250" y="4038600"/>
            <a:ext cx="50768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F6F8FC"/>
                </a:solidFill>
                <a:latin typeface="Consolas"/>
                <a:ea typeface="Consolas"/>
                <a:cs typeface="Consolas"/>
              </a:defRPr>
            </a:defPPr>
          </a:lstStyle>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if (index &lt; 0 || index &gt;= 3) {</a:t>
            </a:r>
          </a:p>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  fprintf(stderr, "Array index out of bounds"</a:t>
            </a:r>
          </a:p>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          " at pseudocode line 7\n");</a:t>
            </a:r>
          </a:p>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  return 1;</a:t>
            </a:r>
          </a:p>
          <a:p xmlns:a="http://schemas.openxmlformats.org/drawingml/2006/main">
            <a:pPr>
              <a:defRPr sz="1125" b="0">
                <a:solidFill>
                  <a:srgbClr val="F6F8FC"/>
                </a:solidFill>
                <a:latin typeface="Consolas"/>
                <a:ea typeface="Consolas"/>
                <a:cs typeface="Consolas"/>
              </a:defRPr>
            </a:pPr>
            <a:r>
              <a:rPr sz="1125" b="0">
                <a:solidFill>
                  <a:srgbClr val="F6F8FC"/>
                </a:solidFill>
                <a:latin typeface="Consolas"/>
                <a:ea typeface="Consolas"/>
                <a:cs typeface="Consolas"/>
              </a:rPr>
              <a:t>}</a:t>
            </a:r>
          </a:p>
        </p:txBody>
      </p:sp>
      <p:sp>
        <p:nvSpPr>
          <p:cNvPr id="19" name="">
            <a:extLst xmlns:a="http://schemas.openxmlformats.org/drawingml/2006/main">
              <a:ext uri="{FF2B5EF4-FFF2-40B4-BE49-F238E27FC236}">
                <a16:creationId xmlns:a16="http://schemas.microsoft.com/office/drawing/2014/main" id="{1F0E4EF0-702F-4A88-8B9F-D0B8F8C20EF4}"/>
              </a:ext>
            </a:extLst>
          </p:cNvPr>
          <p:cNvSpPr>
            <a:spLocks xmlns:a="http://schemas.openxmlformats.org/drawingml/2006/main" noGrp="1"/>
          </p:cNvSpPr>
          <p:nvPr/>
        </p:nvSpPr>
        <p:spPr>
          <a:xfrm xmlns:a="http://schemas.openxmlformats.org/drawingml/2006/main">
            <a:off x="638175" y="5514975"/>
            <a:ext cx="108394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1">
                <a:solidFill>
                  <a:srgbClr val="F6B94D"/>
                </a:solidFill>
                <a:latin typeface="Arial"/>
                <a:ea typeface="Arial"/>
                <a:cs typeface="Arial"/>
              </a:defRPr>
            </a:defPPr>
          </a:lstStyle>
          <a:p xmlns:a="http://schemas.openxmlformats.org/drawingml/2006/main">
            <a:pPr>
              <a:defRPr sz="1575" b="1">
                <a:solidFill>
                  <a:srgbClr val="F6B94D"/>
                </a:solidFill>
                <a:latin typeface="Arial"/>
                <a:ea typeface="Arial"/>
                <a:cs typeface="Arial"/>
              </a:defRPr>
            </a:pPr>
            <a:r>
              <a:rPr sz="1575" b="1">
                <a:solidFill>
                  <a:srgbClr val="F6B94D"/>
                </a:solidFill>
                <a:latin typeface="Arial"/>
                <a:ea typeface="Arial"/>
                <a:cs typeface="Arial"/>
              </a:rPr>
              <a:t>INPUT: 3 42     RESULT: bounds error at line 7, exit status 1</a:t>
            </a:r>
          </a:p>
        </p:txBody>
      </p:sp>
    </p:spTree>
    <p:extLst>
      <p:ext uri="{BB962C8B-B14F-4D97-AF65-F5344CB8AC3E}">
        <p14:creationId xmlns:p14="http://schemas.microsoft.com/office/powerpoint/2010/main" val="574729061"/>
      </p:ext>
    </p:extLst>
  </p:cSld>
</p:sld>
</file>

<file path=ppt/slides/slide12.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72274D2-F3DF-42DF-BAF6-AEA6EE5E65AE}"/>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561928-1EA4-4BE4-AC16-FD7C70BD4A04}"/>
              </a:ext>
            </a:extLst>
          </p:cNvPr>
          <p:cNvSpPr>
            <a:spLocks xmlns:a="http://schemas.openxmlformats.org/drawingml/2006/main" noGrp="1"/>
          </p:cNvSpPr>
          <p:nvPr/>
        </p:nvSpPr>
        <p:spPr>
          <a:xfrm xmlns:a="http://schemas.openxmlformats.org/drawingml/2006/main">
            <a:off x="571500" y="4095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F6F8FC"/>
                </a:solidFill>
                <a:latin typeface="Arial"/>
                <a:ea typeface="Arial"/>
                <a:cs typeface="Arial"/>
              </a:defRPr>
            </a:defPPr>
          </a:lstStyle>
          <a:p xmlns:a="http://schemas.openxmlformats.org/drawingml/2006/main">
            <a:pPr>
              <a:defRPr sz="3000" b="1">
                <a:solidFill>
                  <a:srgbClr val="F6F8FC"/>
                </a:solidFill>
                <a:latin typeface="Arial"/>
                <a:ea typeface="Arial"/>
                <a:cs typeface="Arial"/>
              </a:defRPr>
            </a:pPr>
            <a:r>
              <a:rPr sz="3000" b="1">
                <a:solidFill>
                  <a:srgbClr val="F6F8FC"/>
                </a:solidFill>
                <a:latin typeface="Arial"/>
                <a:ea typeface="Arial"/>
                <a:cs typeface="Arial"/>
              </a:rPr>
              <a:t>What is the project improvement?</a:t>
            </a:r>
          </a:p>
        </p:txBody>
      </p:sp>
      <p:sp>
        <p:nvSpPr>
          <p:cNvPr id="3" name="">
            <a:extLst xmlns:a="http://schemas.openxmlformats.org/drawingml/2006/main">
              <a:ext uri="{FF2B5EF4-FFF2-40B4-BE49-F238E27FC236}">
                <a16:creationId xmlns:a16="http://schemas.microsoft.com/office/drawing/2014/main" id="{39D078D9-0BB3-4535-AADE-36279C3F2277}"/>
              </a:ext>
            </a:extLst>
          </p:cNvPr>
          <p:cNvSpPr>
            <a:spLocks xmlns:a="http://schemas.openxmlformats.org/drawingml/2006/main" noGrp="1"/>
          </p:cNvSpPr>
          <p:nvPr/>
        </p:nvSpPr>
        <p:spPr>
          <a:xfrm xmlns:a="http://schemas.openxmlformats.org/drawingml/2006/main">
            <a:off x="590550" y="9906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The translator chooses targeted checks from the operations in the program.</a:t>
            </a:r>
          </a:p>
        </p:txBody>
      </p:sp>
      <p:sp>
        <p:nvSpPr>
          <p:cNvPr id="4" name="">
            <a:extLst xmlns:a="http://schemas.openxmlformats.org/drawingml/2006/main">
              <a:ext uri="{FF2B5EF4-FFF2-40B4-BE49-F238E27FC236}">
                <a16:creationId xmlns:a16="http://schemas.microsoft.com/office/drawing/2014/main" id="{BA2D7497-BDA8-4CFE-86FC-201638E1B864}"/>
              </a:ext>
            </a:extLst>
          </p:cNvPr>
          <p:cNvSpPr>
            <a:spLocks xmlns:a="http://schemas.openxmlformats.org/drawingml/2006/main" noGrp="1"/>
          </p:cNvSpPr>
          <p:nvPr/>
        </p:nvSpPr>
        <p:spPr>
          <a:xfrm xmlns:a="http://schemas.openxmlformats.org/drawingml/2006/main">
            <a:off x="571500" y="6219825"/>
            <a:ext cx="110490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64C3FBE-E66B-443B-BD90-EDE5C8639A35}"/>
              </a:ext>
            </a:extLst>
          </p:cNvPr>
          <p:cNvSpPr>
            <a:spLocks xmlns:a="http://schemas.openxmlformats.org/drawingml/2006/main" noGrp="1"/>
          </p:cNvSpPr>
          <p:nvPr/>
        </p:nvSpPr>
        <p:spPr>
          <a:xfrm xmlns:a="http://schemas.openxmlformats.org/drawingml/2006/main">
            <a:off x="571500" y="63627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AEBBD0"/>
                </a:solidFill>
                <a:latin typeface="Arial"/>
                <a:ea typeface="Arial"/>
                <a:cs typeface="Arial"/>
              </a:defRPr>
            </a:defPPr>
          </a:lstStyle>
          <a:p xmlns:a="http://schemas.openxmlformats.org/drawingml/2006/main">
            <a:pPr>
              <a:defRPr sz="1050" b="1">
                <a:solidFill>
                  <a:srgbClr val="AEBBD0"/>
                </a:solidFill>
                <a:latin typeface="Arial"/>
                <a:ea typeface="Arial"/>
                <a:cs typeface="Arial"/>
              </a:defRPr>
            </a:pPr>
            <a:r>
              <a:rPr sz="1050" b="1">
                <a:solidFill>
                  <a:srgbClr val="AEBBD0"/>
                </a:solidFill>
                <a:latin typeface="Arial"/>
                <a:ea typeface="Arial"/>
                <a:cs typeface="Arial"/>
              </a:rPr>
              <a:t>REVIEW 2  /  PSEUDOCODE TO C</a:t>
            </a:r>
          </a:p>
        </p:txBody>
      </p:sp>
      <p:sp>
        <p:nvSpPr>
          <p:cNvPr id="6" name="">
            <a:extLst xmlns:a="http://schemas.openxmlformats.org/drawingml/2006/main">
              <a:ext uri="{FF2B5EF4-FFF2-40B4-BE49-F238E27FC236}">
                <a16:creationId xmlns:a16="http://schemas.microsoft.com/office/drawing/2014/main" id="{DDB02CC5-D4BB-4257-9747-37DC887144CB}"/>
              </a:ext>
            </a:extLst>
          </p:cNvPr>
          <p:cNvSpPr>
            <a:spLocks xmlns:a="http://schemas.openxmlformats.org/drawingml/2006/main" noGrp="1"/>
          </p:cNvSpPr>
          <p:nvPr/>
        </p:nvSpPr>
        <p:spPr>
          <a:xfrm xmlns:a="http://schemas.openxmlformats.org/drawingml/2006/main">
            <a:off x="10953750" y="636270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0D5EA"/>
                </a:solidFill>
                <a:latin typeface="Arial"/>
                <a:ea typeface="Arial"/>
                <a:cs typeface="Arial"/>
              </a:defRPr>
            </a:defPPr>
          </a:lstStyle>
          <a:p xmlns:a="http://schemas.openxmlformats.org/drawingml/2006/main">
            <a:pPr>
              <a:defRPr sz="1050" b="1">
                <a:solidFill>
                  <a:srgbClr val="20D5EA"/>
                </a:solidFill>
                <a:latin typeface="Arial"/>
                <a:ea typeface="Arial"/>
                <a:cs typeface="Arial"/>
              </a:defRPr>
            </a:pPr>
            <a:r>
              <a:rPr sz="1050" b="1">
                <a:solidFill>
                  <a:srgbClr val="20D5EA"/>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6821B5C6-1159-46C3-AA3E-BE8C7A017018}"/>
              </a:ext>
            </a:extLst>
          </p:cNvPr>
          <p:cNvSpPr>
            <a:spLocks xmlns:a="http://schemas.openxmlformats.org/drawingml/2006/main" noGrp="1"/>
          </p:cNvSpPr>
          <p:nvPr/>
        </p:nvSpPr>
        <p:spPr>
          <a:xfrm xmlns:a="http://schemas.openxmlformats.org/drawingml/2006/main">
            <a:off x="628650" y="1543050"/>
            <a:ext cx="430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20D5EA"/>
                </a:solidFill>
                <a:latin typeface="Arial"/>
                <a:ea typeface="Arial"/>
                <a:cs typeface="Arial"/>
              </a:defRPr>
            </a:defPPr>
          </a:lstStyle>
          <a:p xmlns:a="http://schemas.openxmlformats.org/drawingml/2006/main">
            <a:pPr>
              <a:defRPr sz="1350" b="1">
                <a:solidFill>
                  <a:srgbClr val="20D5EA"/>
                </a:solidFill>
                <a:latin typeface="Arial"/>
                <a:ea typeface="Arial"/>
                <a:cs typeface="Arial"/>
              </a:defRPr>
            </a:pPr>
            <a:r>
              <a:rPr sz="1350" b="1">
                <a:solidFill>
                  <a:srgbClr val="20D5EA"/>
                </a:solidFill>
                <a:latin typeface="Arial"/>
                <a:ea typeface="Arial"/>
                <a:cs typeface="Arial"/>
              </a:rPr>
              <a:t>SOURCE OPERATION</a:t>
            </a:r>
          </a:p>
        </p:txBody>
      </p:sp>
      <p:sp>
        <p:nvSpPr>
          <p:cNvPr id="8" name="">
            <a:extLst xmlns:a="http://schemas.openxmlformats.org/drawingml/2006/main">
              <a:ext uri="{FF2B5EF4-FFF2-40B4-BE49-F238E27FC236}">
                <a16:creationId xmlns:a16="http://schemas.microsoft.com/office/drawing/2014/main" id="{AE0BFCE9-E358-49F9-976E-F45072E8E667}"/>
              </a:ext>
            </a:extLst>
          </p:cNvPr>
          <p:cNvSpPr>
            <a:spLocks xmlns:a="http://schemas.openxmlformats.org/drawingml/2006/main" noGrp="1"/>
          </p:cNvSpPr>
          <p:nvPr/>
        </p:nvSpPr>
        <p:spPr>
          <a:xfrm xmlns:a="http://schemas.openxmlformats.org/drawingml/2006/main">
            <a:off x="628650" y="1885950"/>
            <a:ext cx="4305300" cy="19050"/>
          </a:xfrm>
          <a:prstGeom xmlns:a="http://schemas.openxmlformats.org/drawingml/2006/main" prst="rect">
            <a:avLst/>
          </a:prstGeom>
          <a:solidFill xmlns:a="http://schemas.openxmlformats.org/drawingml/2006/main">
            <a:srgbClr val="20D5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8C3FB8D-3B27-4EC2-8F77-39F2009FD628}"/>
              </a:ext>
            </a:extLst>
          </p:cNvPr>
          <p:cNvSpPr>
            <a:spLocks xmlns:a="http://schemas.openxmlformats.org/drawingml/2006/main" noGrp="1"/>
          </p:cNvSpPr>
          <p:nvPr/>
        </p:nvSpPr>
        <p:spPr>
          <a:xfrm xmlns:a="http://schemas.openxmlformats.org/drawingml/2006/main">
            <a:off x="5553075" y="1543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33D69B"/>
                </a:solidFill>
                <a:latin typeface="Arial"/>
                <a:ea typeface="Arial"/>
                <a:cs typeface="Arial"/>
              </a:defRPr>
            </a:defPPr>
          </a:lstStyle>
          <a:p xmlns:a="http://schemas.openxmlformats.org/drawingml/2006/main">
            <a:pPr>
              <a:defRPr sz="1350" b="1">
                <a:solidFill>
                  <a:srgbClr val="33D69B"/>
                </a:solidFill>
                <a:latin typeface="Arial"/>
                <a:ea typeface="Arial"/>
                <a:cs typeface="Arial"/>
              </a:defRPr>
            </a:pPr>
            <a:r>
              <a:rPr sz="1350" b="1">
                <a:solidFill>
                  <a:srgbClr val="33D69B"/>
                </a:solidFill>
                <a:latin typeface="Arial"/>
                <a:ea typeface="Arial"/>
                <a:cs typeface="Arial"/>
              </a:rPr>
              <a:t>C CODE ADDED</a:t>
            </a:r>
          </a:p>
        </p:txBody>
      </p:sp>
      <p:sp>
        <p:nvSpPr>
          <p:cNvPr id="10" name="">
            <a:extLst xmlns:a="http://schemas.openxmlformats.org/drawingml/2006/main">
              <a:ext uri="{FF2B5EF4-FFF2-40B4-BE49-F238E27FC236}">
                <a16:creationId xmlns:a16="http://schemas.microsoft.com/office/drawing/2014/main" id="{2C6EC1DE-C643-4AE5-A342-05ADF02682E8}"/>
              </a:ext>
            </a:extLst>
          </p:cNvPr>
          <p:cNvSpPr>
            <a:spLocks xmlns:a="http://schemas.openxmlformats.org/drawingml/2006/main" noGrp="1"/>
          </p:cNvSpPr>
          <p:nvPr/>
        </p:nvSpPr>
        <p:spPr>
          <a:xfrm xmlns:a="http://schemas.openxmlformats.org/drawingml/2006/main">
            <a:off x="5553075" y="1885950"/>
            <a:ext cx="5905500" cy="19050"/>
          </a:xfrm>
          <a:prstGeom xmlns:a="http://schemas.openxmlformats.org/drawingml/2006/main" prst="rect">
            <a:avLst/>
          </a:prstGeom>
          <a:solidFill xmlns:a="http://schemas.openxmlformats.org/drawingml/2006/main">
            <a:srgbClr val="33D69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981A5A-EDC8-4B25-AA5D-A617B2D103CA}"/>
              </a:ext>
            </a:extLst>
          </p:cNvPr>
          <p:cNvSpPr>
            <a:spLocks xmlns:a="http://schemas.openxmlformats.org/drawingml/2006/main" noGrp="1"/>
          </p:cNvSpPr>
          <p:nvPr/>
        </p:nvSpPr>
        <p:spPr>
          <a:xfrm xmlns:a="http://schemas.openxmlformats.org/drawingml/2006/main">
            <a:off x="647700" y="2133600"/>
            <a:ext cx="4343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6F8FC"/>
                </a:solidFill>
                <a:latin typeface="Consolas"/>
                <a:ea typeface="Consolas"/>
                <a:cs typeface="Consolas"/>
              </a:defRPr>
            </a:defPPr>
          </a:lstStyle>
          <a:p xmlns:a="http://schemas.openxmlformats.org/drawingml/2006/main">
            <a:pPr>
              <a:defRPr sz="1725" b="0">
                <a:solidFill>
                  <a:srgbClr val="F6F8FC"/>
                </a:solidFill>
                <a:latin typeface="Consolas"/>
                <a:ea typeface="Consolas"/>
                <a:cs typeface="Consolas"/>
              </a:defRPr>
            </a:pPr>
            <a:r>
              <a:rPr sz="1725" b="0">
                <a:solidFill>
                  <a:srgbClr val="F6F8FC"/>
                </a:solidFill>
                <a:latin typeface="Consolas"/>
                <a:ea typeface="Consolas"/>
                <a:cs typeface="Consolas"/>
              </a:rPr>
              <a:t>a / b or a % b</a:t>
            </a:r>
          </a:p>
        </p:txBody>
      </p:sp>
      <p:sp>
        <p:nvSpPr>
          <p:cNvPr id="12" name="">
            <a:extLst xmlns:a="http://schemas.openxmlformats.org/drawingml/2006/main">
              <a:ext uri="{FF2B5EF4-FFF2-40B4-BE49-F238E27FC236}">
                <a16:creationId xmlns:a16="http://schemas.microsoft.com/office/drawing/2014/main" id="{772F77F0-EFF1-44D6-9E5E-8F26DBDFAF45}"/>
              </a:ext>
            </a:extLst>
          </p:cNvPr>
          <p:cNvSpPr>
            <a:spLocks xmlns:a="http://schemas.openxmlformats.org/drawingml/2006/main" noGrp="1"/>
          </p:cNvSpPr>
          <p:nvPr/>
        </p:nvSpPr>
        <p:spPr>
          <a:xfrm xmlns:a="http://schemas.openxmlformats.org/drawingml/2006/main">
            <a:off x="5562600" y="2133600"/>
            <a:ext cx="571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6F8FC"/>
                </a:solidFill>
                <a:latin typeface="Arial"/>
                <a:ea typeface="Arial"/>
                <a:cs typeface="Arial"/>
              </a:defRPr>
            </a:defPPr>
          </a:lstStyle>
          <a:p xmlns:a="http://schemas.openxmlformats.org/drawingml/2006/main">
            <a:pPr>
              <a:defRPr sz="1650" b="0">
                <a:solidFill>
                  <a:srgbClr val="F6F8FC"/>
                </a:solidFill>
                <a:latin typeface="Arial"/>
                <a:ea typeface="Arial"/>
                <a:cs typeface="Arial"/>
              </a:defRPr>
            </a:pPr>
            <a:r>
              <a:rPr sz="1650" b="0">
                <a:solidFill>
                  <a:srgbClr val="F6F8FC"/>
                </a:solidFill>
                <a:latin typeface="Arial"/>
                <a:ea typeface="Arial"/>
                <a:cs typeface="Arial"/>
              </a:rPr>
              <a:t>Check b != 0 before division</a:t>
            </a:r>
          </a:p>
        </p:txBody>
      </p:sp>
      <p:sp>
        <p:nvSpPr>
          <p:cNvPr id="13" name="">
            <a:extLst xmlns:a="http://schemas.openxmlformats.org/drawingml/2006/main">
              <a:ext uri="{FF2B5EF4-FFF2-40B4-BE49-F238E27FC236}">
                <a16:creationId xmlns:a16="http://schemas.microsoft.com/office/drawing/2014/main" id="{987A342D-23CD-48DC-979A-7ABCD717EC4F}"/>
              </a:ext>
            </a:extLst>
          </p:cNvPr>
          <p:cNvSpPr>
            <a:spLocks xmlns:a="http://schemas.openxmlformats.org/drawingml/2006/main" noGrp="1"/>
          </p:cNvSpPr>
          <p:nvPr/>
        </p:nvSpPr>
        <p:spPr>
          <a:xfrm xmlns:a="http://schemas.openxmlformats.org/drawingml/2006/main">
            <a:off x="628650" y="2686050"/>
            <a:ext cx="10839450" cy="9525"/>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5EE3CD-0094-4F97-BA4E-687CDD28CD09}"/>
              </a:ext>
            </a:extLst>
          </p:cNvPr>
          <p:cNvSpPr>
            <a:spLocks xmlns:a="http://schemas.openxmlformats.org/drawingml/2006/main" noGrp="1"/>
          </p:cNvSpPr>
          <p:nvPr/>
        </p:nvSpPr>
        <p:spPr>
          <a:xfrm xmlns:a="http://schemas.openxmlformats.org/drawingml/2006/main">
            <a:off x="647700" y="2914650"/>
            <a:ext cx="4343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6F8FC"/>
                </a:solidFill>
                <a:latin typeface="Consolas"/>
                <a:ea typeface="Consolas"/>
                <a:cs typeface="Consolas"/>
              </a:defRPr>
            </a:defPPr>
          </a:lstStyle>
          <a:p xmlns:a="http://schemas.openxmlformats.org/drawingml/2006/main">
            <a:pPr>
              <a:defRPr sz="1725" b="0">
                <a:solidFill>
                  <a:srgbClr val="F6F8FC"/>
                </a:solidFill>
                <a:latin typeface="Consolas"/>
                <a:ea typeface="Consolas"/>
                <a:cs typeface="Consolas"/>
              </a:defRPr>
            </a:pPr>
            <a:r>
              <a:rPr sz="1725" b="0">
                <a:solidFill>
                  <a:srgbClr val="F6F8FC"/>
                </a:solidFill>
                <a:latin typeface="Consolas"/>
                <a:ea typeface="Consolas"/>
                <a:cs typeface="Consolas"/>
              </a:rPr>
              <a:t>values[index]</a:t>
            </a:r>
          </a:p>
        </p:txBody>
      </p:sp>
      <p:sp>
        <p:nvSpPr>
          <p:cNvPr id="15" name="">
            <a:extLst xmlns:a="http://schemas.openxmlformats.org/drawingml/2006/main">
              <a:ext uri="{FF2B5EF4-FFF2-40B4-BE49-F238E27FC236}">
                <a16:creationId xmlns:a16="http://schemas.microsoft.com/office/drawing/2014/main" id="{94FA5485-1F05-47C7-BD0B-E6AE6642310F}"/>
              </a:ext>
            </a:extLst>
          </p:cNvPr>
          <p:cNvSpPr>
            <a:spLocks xmlns:a="http://schemas.openxmlformats.org/drawingml/2006/main" noGrp="1"/>
          </p:cNvSpPr>
          <p:nvPr/>
        </p:nvSpPr>
        <p:spPr>
          <a:xfrm xmlns:a="http://schemas.openxmlformats.org/drawingml/2006/main">
            <a:off x="5562600" y="2914650"/>
            <a:ext cx="571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6F8FC"/>
                </a:solidFill>
                <a:latin typeface="Arial"/>
                <a:ea typeface="Arial"/>
                <a:cs typeface="Arial"/>
              </a:defRPr>
            </a:defPPr>
          </a:lstStyle>
          <a:p xmlns:a="http://schemas.openxmlformats.org/drawingml/2006/main">
            <a:pPr>
              <a:defRPr sz="1650" b="0">
                <a:solidFill>
                  <a:srgbClr val="F6F8FC"/>
                </a:solidFill>
                <a:latin typeface="Arial"/>
                <a:ea typeface="Arial"/>
                <a:cs typeface="Arial"/>
              </a:defRPr>
            </a:pPr>
            <a:r>
              <a:rPr sz="1650" b="0">
                <a:solidFill>
                  <a:srgbClr val="F6F8FC"/>
                </a:solidFill>
                <a:latin typeface="Arial"/>
                <a:ea typeface="Arial"/>
                <a:cs typeface="Arial"/>
              </a:rPr>
              <a:t>Check 0 &lt;= index &lt; array size</a:t>
            </a:r>
          </a:p>
        </p:txBody>
      </p:sp>
      <p:sp>
        <p:nvSpPr>
          <p:cNvPr id="16" name="">
            <a:extLst xmlns:a="http://schemas.openxmlformats.org/drawingml/2006/main">
              <a:ext uri="{FF2B5EF4-FFF2-40B4-BE49-F238E27FC236}">
                <a16:creationId xmlns:a16="http://schemas.microsoft.com/office/drawing/2014/main" id="{CC689C08-A851-407E-BBBF-B4FA33A338D1}"/>
              </a:ext>
            </a:extLst>
          </p:cNvPr>
          <p:cNvSpPr>
            <a:spLocks xmlns:a="http://schemas.openxmlformats.org/drawingml/2006/main" noGrp="1"/>
          </p:cNvSpPr>
          <p:nvPr/>
        </p:nvSpPr>
        <p:spPr>
          <a:xfrm xmlns:a="http://schemas.openxmlformats.org/drawingml/2006/main">
            <a:off x="628650" y="3467100"/>
            <a:ext cx="10839450" cy="9525"/>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285A5A3-F132-4413-BF16-6227A80B227B}"/>
              </a:ext>
            </a:extLst>
          </p:cNvPr>
          <p:cNvSpPr>
            <a:spLocks xmlns:a="http://schemas.openxmlformats.org/drawingml/2006/main" noGrp="1"/>
          </p:cNvSpPr>
          <p:nvPr/>
        </p:nvSpPr>
        <p:spPr>
          <a:xfrm xmlns:a="http://schemas.openxmlformats.org/drawingml/2006/main">
            <a:off x="647700" y="3695700"/>
            <a:ext cx="4343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6F8FC"/>
                </a:solidFill>
                <a:latin typeface="Consolas"/>
                <a:ea typeface="Consolas"/>
                <a:cs typeface="Consolas"/>
              </a:defRPr>
            </a:defPPr>
          </a:lstStyle>
          <a:p xmlns:a="http://schemas.openxmlformats.org/drawingml/2006/main">
            <a:pPr>
              <a:defRPr sz="1725" b="0">
                <a:solidFill>
                  <a:srgbClr val="F6F8FC"/>
                </a:solidFill>
                <a:latin typeface="Consolas"/>
                <a:ea typeface="Consolas"/>
                <a:cs typeface="Consolas"/>
              </a:defRPr>
            </a:pPr>
            <a:r>
              <a:rPr sz="1725" b="0">
                <a:solidFill>
                  <a:srgbClr val="F6F8FC"/>
                </a:solidFill>
                <a:latin typeface="Consolas"/>
                <a:ea typeface="Consolas"/>
                <a:cs typeface="Consolas"/>
              </a:rPr>
              <a:t>value &lt;&lt; count</a:t>
            </a:r>
          </a:p>
        </p:txBody>
      </p:sp>
      <p:sp>
        <p:nvSpPr>
          <p:cNvPr id="18" name="">
            <a:extLst xmlns:a="http://schemas.openxmlformats.org/drawingml/2006/main">
              <a:ext uri="{FF2B5EF4-FFF2-40B4-BE49-F238E27FC236}">
                <a16:creationId xmlns:a16="http://schemas.microsoft.com/office/drawing/2014/main" id="{F647175C-712A-4E35-8E70-97C168755305}"/>
              </a:ext>
            </a:extLst>
          </p:cNvPr>
          <p:cNvSpPr>
            <a:spLocks xmlns:a="http://schemas.openxmlformats.org/drawingml/2006/main" noGrp="1"/>
          </p:cNvSpPr>
          <p:nvPr/>
        </p:nvSpPr>
        <p:spPr>
          <a:xfrm xmlns:a="http://schemas.openxmlformats.org/drawingml/2006/main">
            <a:off x="5562600" y="3695700"/>
            <a:ext cx="571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6F8FC"/>
                </a:solidFill>
                <a:latin typeface="Arial"/>
                <a:ea typeface="Arial"/>
                <a:cs typeface="Arial"/>
              </a:defRPr>
            </a:defPPr>
          </a:lstStyle>
          <a:p xmlns:a="http://schemas.openxmlformats.org/drawingml/2006/main">
            <a:pPr>
              <a:defRPr sz="1650" b="0">
                <a:solidFill>
                  <a:srgbClr val="F6F8FC"/>
                </a:solidFill>
                <a:latin typeface="Arial"/>
                <a:ea typeface="Arial"/>
                <a:cs typeface="Arial"/>
              </a:defRPr>
            </a:pPr>
            <a:r>
              <a:rPr sz="1650" b="0">
                <a:solidFill>
                  <a:srgbClr val="F6F8FC"/>
                </a:solidFill>
                <a:latin typeface="Arial"/>
                <a:ea typeface="Arial"/>
                <a:cs typeface="Arial"/>
              </a:rPr>
              <a:t>Check shift count is valid</a:t>
            </a:r>
          </a:p>
        </p:txBody>
      </p:sp>
      <p:sp>
        <p:nvSpPr>
          <p:cNvPr id="19" name="">
            <a:extLst xmlns:a="http://schemas.openxmlformats.org/drawingml/2006/main">
              <a:ext uri="{FF2B5EF4-FFF2-40B4-BE49-F238E27FC236}">
                <a16:creationId xmlns:a16="http://schemas.microsoft.com/office/drawing/2014/main" id="{934C4284-AB9E-4F1A-A843-F0852CFAB2EC}"/>
              </a:ext>
            </a:extLst>
          </p:cNvPr>
          <p:cNvSpPr>
            <a:spLocks xmlns:a="http://schemas.openxmlformats.org/drawingml/2006/main" noGrp="1"/>
          </p:cNvSpPr>
          <p:nvPr/>
        </p:nvSpPr>
        <p:spPr>
          <a:xfrm xmlns:a="http://schemas.openxmlformats.org/drawingml/2006/main">
            <a:off x="628650" y="4248150"/>
            <a:ext cx="10839450" cy="9525"/>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82BBF09-8981-4A4D-AA36-771460BAC5DE}"/>
              </a:ext>
            </a:extLst>
          </p:cNvPr>
          <p:cNvSpPr>
            <a:spLocks xmlns:a="http://schemas.openxmlformats.org/drawingml/2006/main" noGrp="1"/>
          </p:cNvSpPr>
          <p:nvPr/>
        </p:nvSpPr>
        <p:spPr>
          <a:xfrm xmlns:a="http://schemas.openxmlformats.org/drawingml/2006/main">
            <a:off x="628650" y="4791075"/>
            <a:ext cx="1083945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F1CDA43-2280-49D9-8C52-983F3C21CF2E}"/>
              </a:ext>
            </a:extLst>
          </p:cNvPr>
          <p:cNvSpPr>
            <a:spLocks xmlns:a="http://schemas.openxmlformats.org/drawingml/2006/main" noGrp="1"/>
          </p:cNvSpPr>
          <p:nvPr/>
        </p:nvSpPr>
        <p:spPr>
          <a:xfrm xmlns:a="http://schemas.openxmlformats.org/drawingml/2006/main">
            <a:off x="638175" y="4991100"/>
            <a:ext cx="10839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33D69B"/>
                </a:solidFill>
                <a:latin typeface="Arial"/>
                <a:ea typeface="Arial"/>
                <a:cs typeface="Arial"/>
              </a:defRPr>
            </a:defPPr>
          </a:lstStyle>
          <a:p xmlns:a="http://schemas.openxmlformats.org/drawingml/2006/main">
            <a:pPr>
              <a:defRPr sz="1650" b="1">
                <a:solidFill>
                  <a:srgbClr val="33D69B"/>
                </a:solidFill>
                <a:latin typeface="Arial"/>
                <a:ea typeface="Arial"/>
                <a:cs typeface="Arial"/>
              </a:defRPr>
            </a:pPr>
            <a:r>
              <a:rPr sz="1650" b="1">
                <a:solidFill>
                  <a:srgbClr val="33D69B"/>
                </a:solidFill>
                <a:latin typeface="Arial"/>
                <a:ea typeface="Arial"/>
                <a:cs typeface="Arial"/>
              </a:rPr>
              <a:t>These are implemented, rule-based guards. REQUIRE / ENSURE remain optional explicit conditions.</a:t>
            </a:r>
          </a:p>
        </p:txBody>
      </p:sp>
      <p:sp>
        <p:nvSpPr>
          <p:cNvPr id="22" name="">
            <a:extLst xmlns:a="http://schemas.openxmlformats.org/drawingml/2006/main">
              <a:ext uri="{FF2B5EF4-FFF2-40B4-BE49-F238E27FC236}">
                <a16:creationId xmlns:a16="http://schemas.microsoft.com/office/drawing/2014/main" id="{2D012F33-8F56-4F22-82FE-F9C735C33524}"/>
              </a:ext>
            </a:extLst>
          </p:cNvPr>
          <p:cNvSpPr>
            <a:spLocks xmlns:a="http://schemas.openxmlformats.org/drawingml/2006/main" noGrp="1"/>
          </p:cNvSpPr>
          <p:nvPr/>
        </p:nvSpPr>
        <p:spPr>
          <a:xfrm xmlns:a="http://schemas.openxmlformats.org/drawingml/2006/main">
            <a:off x="638175" y="5543550"/>
            <a:ext cx="10839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A seeded optimizer comparison also checks that selected optimizations preserve observed behavior.</a:t>
            </a:r>
          </a:p>
        </p:txBody>
      </p:sp>
    </p:spTree>
    <p:extLst>
      <p:ext uri="{BB962C8B-B14F-4D97-AF65-F5344CB8AC3E}">
        <p14:creationId xmlns:p14="http://schemas.microsoft.com/office/powerpoint/2010/main" val="1068485561"/>
      </p:ext>
    </p:extLst>
  </p:cSld>
</p:sld>
</file>

<file path=ppt/slides/slide13.xml><?xml version="1.0" encoding="utf-8"?>
<p:sld xmlns:p="http://schemas.openxmlformats.org/presentationml/2006/main">
  <p:cSld>
    <p:bg>
      <p:bgPr>
        <a:solidFill xmlns:a="http://schemas.openxmlformats.org/drawingml/2006/main">
          <a:srgbClr val="080E1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1F1EBF8-7E60-4D43-AB5A-01778CA6F056}"/>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4C8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4E03EE-B07F-4DA7-9EAC-D87F849C3E27}"/>
              </a:ext>
            </a:extLst>
          </p:cNvPr>
          <p:cNvSpPr>
            <a:spLocks xmlns:a="http://schemas.openxmlformats.org/drawingml/2006/main" noGrp="1"/>
          </p:cNvSpPr>
          <p:nvPr/>
        </p:nvSpPr>
        <p:spPr>
          <a:xfrm xmlns:a="http://schemas.openxmlformats.org/drawingml/2006/main">
            <a:off x="571500" y="4095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F6F8FC"/>
                </a:solidFill>
                <a:latin typeface="Arial"/>
                <a:ea typeface="Arial"/>
                <a:cs typeface="Arial"/>
              </a:defRPr>
            </a:defPPr>
          </a:lstStyle>
          <a:p xmlns:a="http://schemas.openxmlformats.org/drawingml/2006/main">
            <a:pPr>
              <a:defRPr sz="3000" b="1">
                <a:solidFill>
                  <a:srgbClr val="F6F8FC"/>
                </a:solidFill>
                <a:latin typeface="Arial"/>
                <a:ea typeface="Arial"/>
                <a:cs typeface="Arial"/>
              </a:defRPr>
            </a:pPr>
            <a:r>
              <a:rPr sz="3000" b="1">
                <a:solidFill>
                  <a:srgbClr val="F6F8FC"/>
                </a:solidFill>
                <a:latin typeface="Arial"/>
                <a:ea typeface="Arial"/>
                <a:cs typeface="Arial"/>
              </a:rPr>
              <a:t>Compile-time errors and current limits</a:t>
            </a:r>
          </a:p>
        </p:txBody>
      </p:sp>
      <p:sp>
        <p:nvSpPr>
          <p:cNvPr id="3" name="">
            <a:extLst xmlns:a="http://schemas.openxmlformats.org/drawingml/2006/main">
              <a:ext uri="{FF2B5EF4-FFF2-40B4-BE49-F238E27FC236}">
                <a16:creationId xmlns:a16="http://schemas.microsoft.com/office/drawing/2014/main" id="{D3F2C93E-1D95-424E-8A3D-17937900DB73}"/>
              </a:ext>
            </a:extLst>
          </p:cNvPr>
          <p:cNvSpPr>
            <a:spLocks xmlns:a="http://schemas.openxmlformats.org/drawingml/2006/main" noGrp="1"/>
          </p:cNvSpPr>
          <p:nvPr/>
        </p:nvSpPr>
        <p:spPr>
          <a:xfrm xmlns:a="http://schemas.openxmlformats.org/drawingml/2006/main">
            <a:off x="590550" y="9906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AEBBD0"/>
                </a:solidFill>
                <a:latin typeface="Arial"/>
                <a:ea typeface="Arial"/>
                <a:cs typeface="Arial"/>
              </a:defRPr>
            </a:defPPr>
          </a:lstStyle>
          <a:p xmlns:a="http://schemas.openxmlformats.org/drawingml/2006/main">
            <a:pPr>
              <a:defRPr sz="1425" b="0">
                <a:solidFill>
                  <a:srgbClr val="AEBBD0"/>
                </a:solidFill>
                <a:latin typeface="Arial"/>
                <a:ea typeface="Arial"/>
                <a:cs typeface="Arial"/>
              </a:defRPr>
            </a:pPr>
            <a:r>
              <a:rPr sz="1425" b="0">
                <a:solidFill>
                  <a:srgbClr val="AEBBD0"/>
                </a:solidFill>
                <a:latin typeface="Arial"/>
                <a:ea typeface="Arial"/>
                <a:cs typeface="Arial"/>
              </a:rPr>
              <a:t>Invalid source is rejected before C generation; the translator stays within a defined grammar.</a:t>
            </a:r>
          </a:p>
        </p:txBody>
      </p:sp>
      <p:sp>
        <p:nvSpPr>
          <p:cNvPr id="4" name="">
            <a:extLst xmlns:a="http://schemas.openxmlformats.org/drawingml/2006/main">
              <a:ext uri="{FF2B5EF4-FFF2-40B4-BE49-F238E27FC236}">
                <a16:creationId xmlns:a16="http://schemas.microsoft.com/office/drawing/2014/main" id="{06BBF58E-004D-45DD-A9F6-6D350C5F43CE}"/>
              </a:ext>
            </a:extLst>
          </p:cNvPr>
          <p:cNvSpPr>
            <a:spLocks xmlns:a="http://schemas.openxmlformats.org/drawingml/2006/main" noGrp="1"/>
          </p:cNvSpPr>
          <p:nvPr/>
        </p:nvSpPr>
        <p:spPr>
          <a:xfrm xmlns:a="http://schemas.openxmlformats.org/drawingml/2006/main">
            <a:off x="571500" y="6219825"/>
            <a:ext cx="11049000" cy="19050"/>
          </a:xfrm>
          <a:prstGeom xmlns:a="http://schemas.openxmlformats.org/drawingml/2006/main" prst="rect">
            <a:avLst/>
          </a:prstGeom>
          <a:solidFill xmlns:a="http://schemas.openxmlformats.org/drawingml/2006/main">
            <a:srgbClr val="29405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BC5867-69A9-4902-81B0-B735F5D9A2A5}"/>
              </a:ext>
            </a:extLst>
          </p:cNvPr>
          <p:cNvSpPr>
            <a:spLocks xmlns:a="http://schemas.openxmlformats.org/drawingml/2006/main" noGrp="1"/>
          </p:cNvSpPr>
          <p:nvPr/>
        </p:nvSpPr>
        <p:spPr>
          <a:xfrm xmlns:a="http://schemas.openxmlformats.org/drawingml/2006/main">
            <a:off x="571500" y="63627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AEBBD0"/>
                </a:solidFill>
                <a:latin typeface="Arial"/>
                <a:ea typeface="Arial"/>
                <a:cs typeface="Arial"/>
              </a:defRPr>
            </a:defPPr>
          </a:lstStyle>
          <a:p xmlns:a="http://schemas.openxmlformats.org/drawingml/2006/main">
            <a:pPr>
              <a:defRPr sz="1050" b="1">
                <a:solidFill>
                  <a:srgbClr val="AEBBD0"/>
                </a:solidFill>
                <a:latin typeface="Arial"/>
                <a:ea typeface="Arial"/>
                <a:cs typeface="Arial"/>
              </a:defRPr>
            </a:pPr>
            <a:r>
              <a:rPr sz="1050" b="1">
                <a:solidFill>
                  <a:srgbClr val="AEBBD0"/>
                </a:solidFill>
                <a:latin typeface="Arial"/>
                <a:ea typeface="Arial"/>
                <a:cs typeface="Arial"/>
              </a:rPr>
              <a:t>REVIEW 2  /  PSEUDOCODE TO C</a:t>
            </a:r>
          </a:p>
        </p:txBody>
      </p:sp>
      <p:sp>
        <p:nvSpPr>
          <p:cNvPr id="6" name="">
            <a:extLst xmlns:a="http://schemas.openxmlformats.org/drawingml/2006/main">
              <a:ext uri="{FF2B5EF4-FFF2-40B4-BE49-F238E27FC236}">
                <a16:creationId xmlns:a16="http://schemas.microsoft.com/office/drawing/2014/main" id="{D5A0A2F3-1787-40C2-9303-BBD6C6A5577F}"/>
              </a:ext>
            </a:extLst>
          </p:cNvPr>
          <p:cNvSpPr>
            <a:spLocks xmlns:a="http://schemas.openxmlformats.org/drawingml/2006/main" noGrp="1"/>
          </p:cNvSpPr>
          <p:nvPr/>
        </p:nvSpPr>
        <p:spPr>
          <a:xfrm xmlns:a="http://schemas.openxmlformats.org/drawingml/2006/main">
            <a:off x="10953750" y="636270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0D5EA"/>
                </a:solidFill>
                <a:latin typeface="Arial"/>
                <a:ea typeface="Arial"/>
                <a:cs typeface="Arial"/>
              </a:defRPr>
            </a:defPPr>
          </a:lstStyle>
          <a:p xmlns:a="http://schemas.openxmlformats.org/drawingml/2006/main">
            <a:pPr>
              <a:defRPr sz="1050" b="1">
                <a:solidFill>
                  <a:srgbClr val="20D5EA"/>
                </a:solidFill>
                <a:latin typeface="Arial"/>
                <a:ea typeface="Arial"/>
                <a:cs typeface="Arial"/>
              </a:defRPr>
            </a:pPr>
            <a:r>
              <a:rPr sz="1050" b="1">
                <a:solidFill>
                  <a:srgbClr val="20D5EA"/>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C7FD9260-2FA2-46CB-A2C7-34888678E5F3}"/>
              </a:ext>
            </a:extLst>
          </p:cNvPr>
          <p:cNvSpPr>
            <a:spLocks xmlns:a="http://schemas.openxmlformats.org/drawingml/2006/main" noGrp="1"/>
          </p:cNvSpPr>
          <p:nvPr/>
        </p:nvSpPr>
        <p:spPr>
          <a:xfrm xmlns:a="http://schemas.openxmlformats.org/drawingml/2006/main">
            <a:off x="628650" y="1476375"/>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F6B94D"/>
                </a:solidFill>
                <a:latin typeface="Arial"/>
                <a:ea typeface="Arial"/>
                <a:cs typeface="Arial"/>
              </a:defRPr>
            </a:defPPr>
          </a:lstStyle>
          <a:p xmlns:a="http://schemas.openxmlformats.org/drawingml/2006/main">
            <a:pPr>
              <a:defRPr sz="1350" b="1">
                <a:solidFill>
                  <a:srgbClr val="F6B94D"/>
                </a:solidFill>
                <a:latin typeface="Arial"/>
                <a:ea typeface="Arial"/>
                <a:cs typeface="Arial"/>
              </a:defRPr>
            </a:pPr>
            <a:r>
              <a:rPr sz="1350" b="1">
                <a:solidFill>
                  <a:srgbClr val="F6B94D"/>
                </a:solidFill>
                <a:latin typeface="Arial"/>
                <a:ea typeface="Arial"/>
                <a:cs typeface="Arial"/>
              </a:rPr>
              <a:t>INVALID PSEUDOCODE</a:t>
            </a:r>
          </a:p>
        </p:txBody>
      </p:sp>
      <p:sp>
        <p:nvSpPr>
          <p:cNvPr id="8" name="">
            <a:extLst xmlns:a="http://schemas.openxmlformats.org/drawingml/2006/main">
              <a:ext uri="{FF2B5EF4-FFF2-40B4-BE49-F238E27FC236}">
                <a16:creationId xmlns:a16="http://schemas.microsoft.com/office/drawing/2014/main" id="{915E1EBE-D743-40F9-9900-79DDA97EF233}"/>
              </a:ext>
            </a:extLst>
          </p:cNvPr>
          <p:cNvSpPr>
            <a:spLocks xmlns:a="http://schemas.openxmlformats.org/drawingml/2006/main" noGrp="1"/>
          </p:cNvSpPr>
          <p:nvPr/>
        </p:nvSpPr>
        <p:spPr>
          <a:xfrm xmlns:a="http://schemas.openxmlformats.org/drawingml/2006/main">
            <a:off x="628650" y="1819275"/>
            <a:ext cx="4895850" cy="19050"/>
          </a:xfrm>
          <a:prstGeom xmlns:a="http://schemas.openxmlformats.org/drawingml/2006/main" prst="rect">
            <a:avLst/>
          </a:prstGeom>
          <a:solidFill xmlns:a="http://schemas.openxmlformats.org/drawingml/2006/main">
            <a:srgbClr val="F6B94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60FD514-C2B9-4C96-A655-DB4ECAAA5773}"/>
              </a:ext>
            </a:extLst>
          </p:cNvPr>
          <p:cNvSpPr>
            <a:spLocks xmlns:a="http://schemas.openxmlformats.org/drawingml/2006/main" noGrp="1"/>
          </p:cNvSpPr>
          <p:nvPr/>
        </p:nvSpPr>
        <p:spPr>
          <a:xfrm xmlns:a="http://schemas.openxmlformats.org/drawingml/2006/main">
            <a:off x="619125" y="1943100"/>
            <a:ext cx="4905375" cy="1866900"/>
          </a:xfrm>
          <a:prstGeom xmlns:a="http://schemas.openxmlformats.org/drawingml/2006/main" prst="roundRect">
            <a:avLst>
              <a:gd name="adj" fmla="val 5102"/>
            </a:avLst>
          </a:prstGeom>
          <a:solidFill xmlns:a="http://schemas.openxmlformats.org/drawingml/2006/main">
            <a:srgbClr val="101B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C8ADBF-01C6-465C-AB93-E38AFB646231}"/>
              </a:ext>
            </a:extLst>
          </p:cNvPr>
          <p:cNvSpPr>
            <a:spLocks xmlns:a="http://schemas.openxmlformats.org/drawingml/2006/main" noGrp="1"/>
          </p:cNvSpPr>
          <p:nvPr/>
        </p:nvSpPr>
        <p:spPr>
          <a:xfrm xmlns:a="http://schemas.openxmlformats.org/drawingml/2006/main">
            <a:off x="828675" y="2105025"/>
            <a:ext cx="4486275"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F6F8FC"/>
                </a:solidFill>
                <a:latin typeface="Consolas"/>
                <a:ea typeface="Consolas"/>
                <a:cs typeface="Consolas"/>
              </a:defRPr>
            </a:defPPr>
          </a:lstStyle>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BEGIN</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DECLARE x AS INTEGER</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SET y = 3</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SET x = 2.5</a:t>
            </a:r>
          </a:p>
          <a:p xmlns:a="http://schemas.openxmlformats.org/drawingml/2006/main">
            <a:pPr>
              <a:defRPr sz="1500" b="0">
                <a:solidFill>
                  <a:srgbClr val="F6F8FC"/>
                </a:solidFill>
                <a:latin typeface="Consolas"/>
                <a:ea typeface="Consolas"/>
                <a:cs typeface="Consolas"/>
              </a:defRPr>
            </a:pPr>
            <a:r>
              <a:rPr sz="1500" b="0">
                <a:solidFill>
                  <a:srgbClr val="F6F8FC"/>
                </a:solidFill>
                <a:latin typeface="Consolas"/>
                <a:ea typeface="Consolas"/>
                <a:cs typeface="Consolas"/>
              </a:rPr>
              <a:t>END</a:t>
            </a:r>
          </a:p>
        </p:txBody>
      </p:sp>
      <p:sp>
        <p:nvSpPr>
          <p:cNvPr id="11" name="">
            <a:extLst xmlns:a="http://schemas.openxmlformats.org/drawingml/2006/main">
              <a:ext uri="{FF2B5EF4-FFF2-40B4-BE49-F238E27FC236}">
                <a16:creationId xmlns:a16="http://schemas.microsoft.com/office/drawing/2014/main" id="{66A1AC63-F74F-4B4C-8B1C-A619DF0ABEFC}"/>
              </a:ext>
            </a:extLst>
          </p:cNvPr>
          <p:cNvSpPr>
            <a:spLocks xmlns:a="http://schemas.openxmlformats.org/drawingml/2006/main" noGrp="1"/>
          </p:cNvSpPr>
          <p:nvPr/>
        </p:nvSpPr>
        <p:spPr>
          <a:xfrm xmlns:a="http://schemas.openxmlformats.org/drawingml/2006/main">
            <a:off x="6000750" y="1476375"/>
            <a:ext cx="546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20D5EA"/>
                </a:solidFill>
                <a:latin typeface="Arial"/>
                <a:ea typeface="Arial"/>
                <a:cs typeface="Arial"/>
              </a:defRPr>
            </a:defPPr>
          </a:lstStyle>
          <a:p xmlns:a="http://schemas.openxmlformats.org/drawingml/2006/main">
            <a:pPr>
              <a:defRPr sz="1350" b="1">
                <a:solidFill>
                  <a:srgbClr val="20D5EA"/>
                </a:solidFill>
                <a:latin typeface="Arial"/>
                <a:ea typeface="Arial"/>
                <a:cs typeface="Arial"/>
              </a:defRPr>
            </a:pPr>
            <a:r>
              <a:rPr sz="1350" b="1">
                <a:solidFill>
                  <a:srgbClr val="20D5EA"/>
                </a:solidFill>
                <a:latin typeface="Arial"/>
                <a:ea typeface="Arial"/>
                <a:cs typeface="Arial"/>
              </a:rPr>
              <a:t>COMPILER RESULT</a:t>
            </a:r>
          </a:p>
        </p:txBody>
      </p:sp>
      <p:sp>
        <p:nvSpPr>
          <p:cNvPr id="12" name="">
            <a:extLst xmlns:a="http://schemas.openxmlformats.org/drawingml/2006/main">
              <a:ext uri="{FF2B5EF4-FFF2-40B4-BE49-F238E27FC236}">
                <a16:creationId xmlns:a16="http://schemas.microsoft.com/office/drawing/2014/main" id="{1E59B972-046C-43C9-8BBC-F711306E7F52}"/>
              </a:ext>
            </a:extLst>
          </p:cNvPr>
          <p:cNvSpPr>
            <a:spLocks xmlns:a="http://schemas.openxmlformats.org/drawingml/2006/main" noGrp="1"/>
          </p:cNvSpPr>
          <p:nvPr/>
        </p:nvSpPr>
        <p:spPr>
          <a:xfrm xmlns:a="http://schemas.openxmlformats.org/drawingml/2006/main">
            <a:off x="6000750" y="1819275"/>
            <a:ext cx="5467350" cy="19050"/>
          </a:xfrm>
          <a:prstGeom xmlns:a="http://schemas.openxmlformats.org/drawingml/2006/main" prst="rect">
            <a:avLst/>
          </a:prstGeom>
          <a:solidFill xmlns:a="http://schemas.openxmlformats.org/drawingml/2006/main">
            <a:srgbClr val="20D5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51301B7-58DB-4406-BB85-13CC4D935E81}"/>
              </a:ext>
            </a:extLst>
          </p:cNvPr>
          <p:cNvSpPr>
            <a:spLocks xmlns:a="http://schemas.openxmlformats.org/drawingml/2006/main" noGrp="1"/>
          </p:cNvSpPr>
          <p:nvPr/>
        </p:nvSpPr>
        <p:spPr>
          <a:xfrm xmlns:a="http://schemas.openxmlformats.org/drawingml/2006/main">
            <a:off x="5991225" y="1943100"/>
            <a:ext cx="5476875" cy="1866900"/>
          </a:xfrm>
          <a:prstGeom xmlns:a="http://schemas.openxmlformats.org/drawingml/2006/main" prst="roundRect">
            <a:avLst>
              <a:gd name="adj" fmla="val 5102"/>
            </a:avLst>
          </a:prstGeom>
          <a:solidFill xmlns:a="http://schemas.openxmlformats.org/drawingml/2006/main">
            <a:srgbClr val="101B2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C4834D2-6284-4C89-8DD9-ED7089467EC3}"/>
              </a:ext>
            </a:extLst>
          </p:cNvPr>
          <p:cNvSpPr>
            <a:spLocks xmlns:a="http://schemas.openxmlformats.org/drawingml/2006/main" noGrp="1"/>
          </p:cNvSpPr>
          <p:nvPr/>
        </p:nvSpPr>
        <p:spPr>
          <a:xfrm xmlns:a="http://schemas.openxmlformats.org/drawingml/2006/main">
            <a:off x="6200775" y="2105025"/>
            <a:ext cx="5057775"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F6F8FC"/>
                </a:solidFill>
                <a:latin typeface="Consolas"/>
                <a:ea typeface="Consolas"/>
                <a:cs typeface="Consolas"/>
              </a:defRPr>
            </a:defPPr>
          </a:lstStyle>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Line 3: undeclared identifier y</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Line 4: cannot assign REAL to INTEGER</a:t>
            </a:r>
          </a:p>
          <a:p xmlns:a="http://schemas.openxmlformats.org/drawingml/2006/main">
            <a:r>
              <a:t/>
            </a:r>
          </a:p>
          <a:p xmlns:a="http://schemas.openxmlformats.org/drawingml/2006/main">
            <a:pPr>
              <a:defRPr sz="1350" b="0">
                <a:solidFill>
                  <a:srgbClr val="F6F8FC"/>
                </a:solidFill>
                <a:latin typeface="Consolas"/>
                <a:ea typeface="Consolas"/>
                <a:cs typeface="Consolas"/>
              </a:defRPr>
            </a:pPr>
            <a:r>
              <a:rPr sz="1350" b="0">
                <a:solidFill>
                  <a:srgbClr val="F6F8FC"/>
                </a:solidFill>
                <a:latin typeface="Consolas"/>
                <a:ea typeface="Consolas"/>
                <a:cs typeface="Consolas"/>
              </a:rPr>
              <a:t>No new C output is produced.</a:t>
            </a:r>
          </a:p>
        </p:txBody>
      </p:sp>
      <p:sp>
        <p:nvSpPr>
          <p:cNvPr id="15" name="">
            <a:extLst xmlns:a="http://schemas.openxmlformats.org/drawingml/2006/main">
              <a:ext uri="{FF2B5EF4-FFF2-40B4-BE49-F238E27FC236}">
                <a16:creationId xmlns:a16="http://schemas.microsoft.com/office/drawing/2014/main" id="{287B1C5F-D711-42EC-91BE-D0BE563A56A9}"/>
              </a:ext>
            </a:extLst>
          </p:cNvPr>
          <p:cNvSpPr>
            <a:spLocks xmlns:a="http://schemas.openxmlformats.org/drawingml/2006/main" noGrp="1"/>
          </p:cNvSpPr>
          <p:nvPr/>
        </p:nvSpPr>
        <p:spPr>
          <a:xfrm xmlns:a="http://schemas.openxmlformats.org/drawingml/2006/main">
            <a:off x="628650" y="4143375"/>
            <a:ext cx="1083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33D69B"/>
                </a:solidFill>
                <a:latin typeface="Arial"/>
                <a:ea typeface="Arial"/>
                <a:cs typeface="Arial"/>
              </a:defRPr>
            </a:defPPr>
          </a:lstStyle>
          <a:p xmlns:a="http://schemas.openxmlformats.org/drawingml/2006/main">
            <a:pPr>
              <a:defRPr sz="1350" b="1">
                <a:solidFill>
                  <a:srgbClr val="33D69B"/>
                </a:solidFill>
                <a:latin typeface="Arial"/>
                <a:ea typeface="Arial"/>
                <a:cs typeface="Arial"/>
              </a:defRPr>
            </a:pPr>
            <a:r>
              <a:rPr sz="1350" b="1">
                <a:solidFill>
                  <a:srgbClr val="33D69B"/>
                </a:solidFill>
                <a:latin typeface="Arial"/>
                <a:ea typeface="Arial"/>
                <a:cs typeface="Arial"/>
              </a:rPr>
              <a:t>BOUNDARIES OF THE CURRENT LANGUAGE</a:t>
            </a:r>
          </a:p>
        </p:txBody>
      </p:sp>
      <p:sp>
        <p:nvSpPr>
          <p:cNvPr id="16" name="">
            <a:extLst xmlns:a="http://schemas.openxmlformats.org/drawingml/2006/main">
              <a:ext uri="{FF2B5EF4-FFF2-40B4-BE49-F238E27FC236}">
                <a16:creationId xmlns:a16="http://schemas.microsoft.com/office/drawing/2014/main" id="{CC3548A1-C851-4F0D-8049-174A460A210D}"/>
              </a:ext>
            </a:extLst>
          </p:cNvPr>
          <p:cNvSpPr>
            <a:spLocks xmlns:a="http://schemas.openxmlformats.org/drawingml/2006/main" noGrp="1"/>
          </p:cNvSpPr>
          <p:nvPr/>
        </p:nvSpPr>
        <p:spPr>
          <a:xfrm xmlns:a="http://schemas.openxmlformats.org/drawingml/2006/main">
            <a:off x="628650" y="4486275"/>
            <a:ext cx="10839450" cy="19050"/>
          </a:xfrm>
          <a:prstGeom xmlns:a="http://schemas.openxmlformats.org/drawingml/2006/main" prst="rect">
            <a:avLst/>
          </a:prstGeom>
          <a:solidFill xmlns:a="http://schemas.openxmlformats.org/drawingml/2006/main">
            <a:srgbClr val="33D69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1A2A310-0484-4728-91F9-CEEA86A2DA89}"/>
              </a:ext>
            </a:extLst>
          </p:cNvPr>
          <p:cNvSpPr>
            <a:spLocks xmlns:a="http://schemas.openxmlformats.org/drawingml/2006/main" noGrp="1"/>
          </p:cNvSpPr>
          <p:nvPr/>
        </p:nvSpPr>
        <p:spPr>
          <a:xfrm xmlns:a="http://schemas.openxmlformats.org/drawingml/2006/main">
            <a:off x="638175" y="4695825"/>
            <a:ext cx="10839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6F8FC"/>
                </a:solidFill>
                <a:latin typeface="Arial"/>
                <a:ea typeface="Arial"/>
                <a:cs typeface="Arial"/>
              </a:defRPr>
            </a:defPPr>
          </a:lstStyle>
          <a:p xmlns:a="http://schemas.openxmlformats.org/drawingml/2006/main">
            <a:pPr>
              <a:defRPr sz="1650" b="0">
                <a:solidFill>
                  <a:srgbClr val="F6F8FC"/>
                </a:solidFill>
                <a:latin typeface="Arial"/>
                <a:ea typeface="Arial"/>
                <a:cs typeface="Arial"/>
              </a:defRPr>
            </a:pPr>
            <a:r>
              <a:rPr sz="1650" b="0">
                <a:solidFill>
                  <a:srgbClr val="F6F8FC"/>
                </a:solidFill>
                <a:latin typeface="Arial"/>
                <a:ea typeface="Arial"/>
                <a:cs typeface="Arial"/>
              </a:rPr>
              <a:t>No free-form English, functions, multidimensional arrays or logical AND / OR.</a:t>
            </a:r>
          </a:p>
        </p:txBody>
      </p:sp>
      <p:sp>
        <p:nvSpPr>
          <p:cNvPr id="18" name="">
            <a:extLst xmlns:a="http://schemas.openxmlformats.org/drawingml/2006/main">
              <a:ext uri="{FF2B5EF4-FFF2-40B4-BE49-F238E27FC236}">
                <a16:creationId xmlns:a16="http://schemas.microsoft.com/office/drawing/2014/main" id="{DD5C1499-D328-4293-8A41-6F5ADAB8EBB4}"/>
              </a:ext>
            </a:extLst>
          </p:cNvPr>
          <p:cNvSpPr>
            <a:spLocks xmlns:a="http://schemas.openxmlformats.org/drawingml/2006/main" noGrp="1"/>
          </p:cNvSpPr>
          <p:nvPr/>
        </p:nvSpPr>
        <p:spPr>
          <a:xfrm xmlns:a="http://schemas.openxmlformats.org/drawingml/2006/main">
            <a:off x="638175" y="5257800"/>
            <a:ext cx="10839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AEBBD0"/>
                </a:solidFill>
                <a:latin typeface="Arial"/>
                <a:ea typeface="Arial"/>
                <a:cs typeface="Arial"/>
              </a:defRPr>
            </a:defPPr>
          </a:lstStyle>
          <a:p xmlns:a="http://schemas.openxmlformats.org/drawingml/2006/main">
            <a:pPr>
              <a:defRPr sz="1575" b="0">
                <a:solidFill>
                  <a:srgbClr val="AEBBD0"/>
                </a:solidFill>
                <a:latin typeface="Arial"/>
                <a:ea typeface="Arial"/>
                <a:cs typeface="Arial"/>
              </a:defRPr>
            </a:pPr>
            <a:r>
              <a:rPr sz="1575" b="0">
                <a:solidFill>
                  <a:srgbClr val="AEBBD0"/>
                </a:solidFill>
                <a:latin typeface="Arial"/>
                <a:ea typeface="Arial"/>
                <a:cs typeface="Arial"/>
              </a:rPr>
              <a:t>STRING holds at most 255 ASCII characters. General overflow and uninitialized use are not checked.</a:t>
            </a:r>
          </a:p>
        </p:txBody>
      </p:sp>
    </p:spTree>
    <p:extLst>
      <p:ext uri="{BB962C8B-B14F-4D97-AF65-F5344CB8AC3E}">
        <p14:creationId xmlns:p14="http://schemas.microsoft.com/office/powerpoint/2010/main" val="13117395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2026-10-08T08:08:21.4050000Z</dcterms:created>
  <dcterms:modified xsi:type="dcterms:W3CDTF">2026-10-08T08:08:21.4050000Z</dcterms:modified>
</coreProperties>
</file>