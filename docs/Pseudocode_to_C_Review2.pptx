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477c2b6d6474fa6" /><Relationship Type="http://schemas.openxmlformats.org/officeDocument/2006/relationships/extended-properties" Target="/docProps/app.xml" Id="R0dc1a531be3a4366" /><Relationship Type="http://schemas.openxmlformats.org/officeDocument/2006/relationships/officeDocument" Target="/ppt/presentation.xml" Id="R78be26b3d5a64a6f" /></Relationships>
</file>

<file path=ppt/presentation.xml><?xml version="1.0" encoding="utf-8"?>
<p:presentation xmlns:p="http://schemas.openxmlformats.org/presentationml/2006/main">
  <p:sldMasterIdLst>
    <p:sldMasterId xmlns:r="http://schemas.openxmlformats.org/officeDocument/2006/relationships" id="2147483648" r:id="Rd69e5dcc6a994f66"/>
  </p:sldMasterIdLst>
  <p:notesMasterIdLst>
    <p:notesMasterId xmlns:r="http://schemas.openxmlformats.org/officeDocument/2006/relationships" r:id="R2162bdeab3f949b2"/>
  </p:notesMasterIdLst>
  <p:sldIdLst>
    <p:sldId xmlns:r="http://schemas.openxmlformats.org/officeDocument/2006/relationships" id="256" r:id="R1090a8dd9f1b49dc"/>
    <p:sldId xmlns:r="http://schemas.openxmlformats.org/officeDocument/2006/relationships" id="257" r:id="Rc607cb89f9dc405f"/>
    <p:sldId xmlns:r="http://schemas.openxmlformats.org/officeDocument/2006/relationships" id="258" r:id="R4556afe8455d4cd4"/>
    <p:sldId xmlns:r="http://schemas.openxmlformats.org/officeDocument/2006/relationships" id="259" r:id="R885520e9eb394d01"/>
    <p:sldId xmlns:r="http://schemas.openxmlformats.org/officeDocument/2006/relationships" id="260" r:id="R0a7e1b431a8848ef"/>
    <p:sldId xmlns:r="http://schemas.openxmlformats.org/officeDocument/2006/relationships" id="261" r:id="R038ac184944d4956"/>
    <p:sldId xmlns:r="http://schemas.openxmlformats.org/officeDocument/2006/relationships" id="262" r:id="R9d2451bcb5cd4351"/>
    <p:sldId xmlns:r="http://schemas.openxmlformats.org/officeDocument/2006/relationships" id="263" r:id="R5f8cb7d2d15449f2"/>
    <p:sldId xmlns:r="http://schemas.openxmlformats.org/officeDocument/2006/relationships" id="264" r:id="R785120f503904bf8"/>
    <p:sldId xmlns:r="http://schemas.openxmlformats.org/officeDocument/2006/relationships" id="265" r:id="Rfd4ba3391ca0437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cd1a81a51d498e" /><Relationship Type="http://schemas.openxmlformats.org/officeDocument/2006/relationships/slideMaster" Target="/ppt/slideMasters/slideMaster1.xml" Id="Rd69e5dcc6a994f66" /><Relationship Type="http://schemas.openxmlformats.org/officeDocument/2006/relationships/notesMaster" Target="/ppt/notesMasters/notesMaster1.xml" Id="R2162bdeab3f949b2" /><Relationship Type="http://schemas.openxmlformats.org/officeDocument/2006/relationships/presProps" Target="/ppt/presProps.xml" Id="R079a7d1b31e1414c" /><Relationship Type="http://schemas.openxmlformats.org/officeDocument/2006/relationships/tableStyles" Target="/ppt/tableStyles.xml" Id="Rc1a92109168f431c" /><Relationship Type="http://schemas.openxmlformats.org/officeDocument/2006/relationships/slide" Target="/ppt/slides/slide1.xml" Id="R1090a8dd9f1b49dc" /><Relationship Type="http://schemas.openxmlformats.org/officeDocument/2006/relationships/slide" Target="/ppt/slides/slide2.xml" Id="Rc607cb89f9dc405f" /><Relationship Type="http://schemas.openxmlformats.org/officeDocument/2006/relationships/slide" Target="/ppt/slides/slide3.xml" Id="R4556afe8455d4cd4" /><Relationship Type="http://schemas.openxmlformats.org/officeDocument/2006/relationships/slide" Target="/ppt/slides/slide4.xml" Id="R885520e9eb394d01" /><Relationship Type="http://schemas.openxmlformats.org/officeDocument/2006/relationships/slide" Target="/ppt/slides/slide5.xml" Id="R0a7e1b431a8848ef" /><Relationship Type="http://schemas.openxmlformats.org/officeDocument/2006/relationships/slide" Target="/ppt/slides/slide6.xml" Id="R038ac184944d4956" /><Relationship Type="http://schemas.openxmlformats.org/officeDocument/2006/relationships/slide" Target="/ppt/slides/slide7.xml" Id="R9d2451bcb5cd4351" /><Relationship Type="http://schemas.openxmlformats.org/officeDocument/2006/relationships/slide" Target="/ppt/slides/slide8.xml" Id="R5f8cb7d2d15449f2" /><Relationship Type="http://schemas.openxmlformats.org/officeDocument/2006/relationships/slide" Target="/ppt/slides/slide9.xml" Id="R785120f503904bf8" /><Relationship Type="http://schemas.openxmlformats.org/officeDocument/2006/relationships/slide" Target="/ppt/slides/slide10.xml" Id="Rfd4ba3391ca0437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1809808fed4f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943e158ef548e8" /><Relationship Type="http://schemas.openxmlformats.org/officeDocument/2006/relationships/notesMaster" Target="/ppt/notesMasters/notesMaster1.xml" Id="R8e92dac326214b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99e31f88694cab" /><Relationship Type="http://schemas.openxmlformats.org/officeDocument/2006/relationships/notesMaster" Target="/ppt/notesMasters/notesMaster1.xml" Id="Rc0cdbd88cb9443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d8955552b24f58" /><Relationship Type="http://schemas.openxmlformats.org/officeDocument/2006/relationships/notesMaster" Target="/ppt/notesMasters/notesMaster1.xml" Id="R5348a686ecbc4d2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a07b57d2d046af" /><Relationship Type="http://schemas.openxmlformats.org/officeDocument/2006/relationships/notesMaster" Target="/ppt/notesMasters/notesMaster1.xml" Id="R0e66776c7ddd4b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40bf92e29b4322" /><Relationship Type="http://schemas.openxmlformats.org/officeDocument/2006/relationships/notesMaster" Target="/ppt/notesMasters/notesMaster1.xml" Id="Rff5dbb08209048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ee7f9616684ed4" /><Relationship Type="http://schemas.openxmlformats.org/officeDocument/2006/relationships/notesMaster" Target="/ppt/notesMasters/notesMaster1.xml" Id="Rcac33dbea9cf4a8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758e96cbccd4e44" /><Relationship Type="http://schemas.openxmlformats.org/officeDocument/2006/relationships/notesMaster" Target="/ppt/notesMasters/notesMaster1.xml" Id="R0161427f052648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537970163241b9" /><Relationship Type="http://schemas.openxmlformats.org/officeDocument/2006/relationships/notesMaster" Target="/ppt/notesMasters/notesMaster1.xml" Id="R8ded12a2f16a42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6e86c9dc0044ed3" /><Relationship Type="http://schemas.openxmlformats.org/officeDocument/2006/relationships/notesMaster" Target="/ppt/notesMasters/notesMaster1.xml" Id="R4bfcabdd36ed4b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820a170ecf4d0d" /><Relationship Type="http://schemas.openxmlformats.org/officeDocument/2006/relationships/notesMaster" Target="/ppt/notesMasters/notesMaster1.xml" Id="Raa85ba0d385d4d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as a restricted pseudocode-to-C compiler. Review 2 is about implementation progress and a working demonstration. Say that the source can be entered through the clipboard command and that every compiler stage can be inspected.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manual lists six scored criteria totalling 25 marks. Its Review 2 instruction explicitly requires demonstrating working modules. Source code by itself is insufficient. Do not claim every Phase 2 possible component is mandatory; an interpreter is only listed as a possible component. Source: course project instruction PDF, pages 4 to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Phase 1 report described a basic translation path for declarations, assignments, arithmetic and PRINT. Since Review 1, the parser, semantic analysis, IR and C generator have been extended for branching, loops, arrays and the listed Phase 2 features. Avoid saying all features were in Phase 1. Source: Phase 1 final report, section 14, and current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lexer splits source into tokens. The parser builds an AST. Semantic analysis checks declarations, types and scopes while recording symbols. The IR builder lowers statements to a structured intermediate form. The optimizer applies bounded constant folding. The C generator consumes the IR. main.py is the command-line interface; it does not itself perform parsing.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end-to-end explanation. The lexer identifies keywords, x, literals and plus. The parser builds an assignment node with a binary addition. Semantic analysis finds x declared as INTEGER. The original IR uses a temporary t1. The optimizer safely folds 2 + 3 to 5. The generator emits x = 5 and printf. Running the generated C prints 5. The temporary appears in IR because IR exposes evaluation steps; it need not remain in final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live FOR example if asked about code generation. The current C generator emits an ordinary for loop for fixed bounds that are safe for the int iterator. It emits continue without goto. Dynamic or extreme bounds use a wider control value in a C for loop. WHILE source still generates C while.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this a project improvement, not a claim of a new research invention. The actual generated diagnostic says “Division or remainder by zero at pseudocode line 6” for the repository example. The slide shortens the message for readability; the exact line is visible during the live demo. The rule-based generator inserts checks without a written REQUIRE. Optional REQUIRE and ENSURE are explicit contracts and do not infer arbitrary preconditions or postconditions. Future context-aware suggestions are not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suite completed 111 tests with GCC available. These tests exercise translation, errors and selected generated-C executions. The table shows independently checked example outputs. Do not claim that all possible pseudocode programs have been tested. To demonstrate a rejection, run examples/invalid.pseudo; the compiler reports an undeclared identifier and a REAL-to-INTEGER type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limits plainly. This is a restricted grammar, not an NLP system. Function definitions, logical AND/OR and multidimensional arrays are absent. Strings use a fixed 256-byte C buffer and hold up to 255 ASCII characters. The compiler does not prove safety for all arithmetic or uninitialized values. Context-aware intelligent diagnosis remains a planned extension, so do not say it already works.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review, keep the project folder open in Command Prompt. Copy the short FOR or arithmetic example and run python main.py --clipboard --run. Point at the stages while speaking. If asked why the IR has t1, say it is a temporary that records expression evaluation; the optimizer or C generator can remove a temporary where safe. If asked novelty, describe operation-aware guards, and be clear that these are rule-based. If asked to modify a module, know that cgen.py owns C output, semantic.py owns type and declaration checks, and parser.py owns syntax.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29eca42e72496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8b49442ed7a41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bf5ddd11944413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47cb985c32d467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de889875e664cb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a944b0376b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AF264C-7848-4E4D-AD7C-76626B22595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0F0ECB4-CD82-4AF1-8677-401CEA326F9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63FB7BA-8F0A-4EB1-925D-E39AEA12994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ECE5A0-2F12-4E1F-AAFA-D4FBBBB228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0E9F93A-0F33-43FB-9AEA-C43300F9CC0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CDB906-2253-4331-BB00-93228C2A0F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A084C49-8D26-49D8-97D3-D116BB083C0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DE8E21-DD4C-4703-98E3-741B173A243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4F797A-A375-4506-9842-3A44F9AAC2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2C22E97-0B5B-4A63-A488-5B09BB9A3B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83304c1ead74c99" /><Relationship Type="http://schemas.openxmlformats.org/officeDocument/2006/relationships/slideLayout" Target="/ppt/slideLayouts/slideLayout1.xml" Id="R53b0068f3d5b4830" /><Relationship Type="http://schemas.openxmlformats.org/officeDocument/2006/relationships/slideLayout" Target="/ppt/slideLayouts/slideLayout2.xml" Id="R981990c7dfe14aa7" /><Relationship Type="http://schemas.openxmlformats.org/officeDocument/2006/relationships/slideLayout" Target="/ppt/slideLayouts/slideLayout3.xml" Id="R0d69cd5e92824c30" /><Relationship Type="http://schemas.openxmlformats.org/officeDocument/2006/relationships/slideLayout" Target="/ppt/slideLayouts/slideLayout4.xml" Id="R1cef07360d2c426c" /><Relationship Type="http://schemas.openxmlformats.org/officeDocument/2006/relationships/slideLayout" Target="/ppt/slideLayouts/slideLayout5.xml" Id="Raf45a3254a9c4888" /><Relationship Type="http://schemas.openxmlformats.org/officeDocument/2006/relationships/slideLayout" Target="/ppt/slideLayouts/slideLayout6.xml" Id="R9ec3d2288e5246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b0068f3d5b4830"/>
    <p:sldLayoutId xmlns:r="http://schemas.openxmlformats.org/officeDocument/2006/relationships" id="2147483650" r:id="R981990c7dfe14aa7"/>
    <p:sldLayoutId xmlns:r="http://schemas.openxmlformats.org/officeDocument/2006/relationships" id="2147483651" r:id="R0d69cd5e92824c30"/>
    <p:sldLayoutId xmlns:r="http://schemas.openxmlformats.org/officeDocument/2006/relationships" id="2147483652" r:id="R1cef07360d2c426c"/>
    <p:sldLayoutId xmlns:r="http://schemas.openxmlformats.org/officeDocument/2006/relationships" id="2147483653" r:id="Raf45a3254a9c4888"/>
    <p:sldLayoutId xmlns:r="http://schemas.openxmlformats.org/officeDocument/2006/relationships" id="2147483654" r:id="R9ec3d2288e5246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d546e4760c4c28" /><Relationship Type="http://schemas.openxmlformats.org/officeDocument/2006/relationships/notesSlide" Target="/ppt/notesSlides/notesSlide1.xml" Id="Rcfda72d7ebb64f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99f098783c747c9" /><Relationship Type="http://schemas.openxmlformats.org/officeDocument/2006/relationships/notesSlide" Target="/ppt/notesSlides/notesSlide2.xml" Id="Re2c6a34e74a540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21d8ce2d13448a9" /><Relationship Type="http://schemas.openxmlformats.org/officeDocument/2006/relationships/notesSlide" Target="/ppt/notesSlides/notesSlide3.xml" Id="Ra5a1944579264ba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fa8ed228c51406a" /><Relationship Type="http://schemas.openxmlformats.org/officeDocument/2006/relationships/notesSlide" Target="/ppt/notesSlides/notesSlide4.xml" Id="R7c1a14bcdbca4f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88149589d2b44fb" /><Relationship Type="http://schemas.openxmlformats.org/officeDocument/2006/relationships/notesSlide" Target="/ppt/notesSlides/notesSlide5.xml" Id="R04b3539454e94a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458be7e704418d" /><Relationship Type="http://schemas.openxmlformats.org/officeDocument/2006/relationships/notesSlide" Target="/ppt/notesSlides/notesSlide6.xml" Id="R08354cde61834e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4d9398d475841c8" /><Relationship Type="http://schemas.openxmlformats.org/officeDocument/2006/relationships/notesSlide" Target="/ppt/notesSlides/notesSlide7.xml" Id="R625ba45f354d446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8c35a175c88400f" /><Relationship Type="http://schemas.openxmlformats.org/officeDocument/2006/relationships/notesSlide" Target="/ppt/notesSlides/notesSlide8.xml" Id="R19ba45d5d45a49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9a35d8a1718418e" /><Relationship Type="http://schemas.openxmlformats.org/officeDocument/2006/relationships/notesSlide" Target="/ppt/notesSlides/notesSlide9.xml" Id="R5617dd52d66442c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894080b81794c00" /><Relationship Type="http://schemas.openxmlformats.org/officeDocument/2006/relationships/notesSlide" Target="/ppt/notesSlides/notesSlide10.xml" Id="Rf5d9f41e3dea4833" /></Relationships>
</file>

<file path=ppt/slides/slide1.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2BE0B6-E0E5-4C60-B16C-1AC9C7C5BCF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4AF5F2-BC04-40FC-BE8F-9C042E6BB7E7}"/>
              </a:ext>
            </a:extLst>
          </p:cNvPr>
          <p:cNvSpPr>
            <a:spLocks xmlns:a="http://schemas.openxmlformats.org/drawingml/2006/main" noGrp="1"/>
          </p:cNvSpPr>
          <p:nvPr/>
        </p:nvSpPr>
        <p:spPr>
          <a:xfrm xmlns:a="http://schemas.openxmlformats.org/drawingml/2006/main">
            <a:off x="619125" y="504825"/>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20D5EA"/>
                </a:solidFill>
                <a:latin typeface="Arial"/>
                <a:ea typeface="Arial"/>
                <a:cs typeface="Arial"/>
              </a:defRPr>
            </a:defPPr>
          </a:lstStyle>
          <a:p xmlns:a="http://schemas.openxmlformats.org/drawingml/2006/main">
            <a:pPr>
              <a:defRPr sz="1425" b="1">
                <a:solidFill>
                  <a:srgbClr val="20D5EA"/>
                </a:solidFill>
                <a:latin typeface="Arial"/>
                <a:ea typeface="Arial"/>
                <a:cs typeface="Arial"/>
              </a:defRPr>
            </a:pPr>
            <a:r>
              <a:rPr sz="1425" b="1">
                <a:solidFill>
                  <a:srgbClr val="20D5EA"/>
                </a:solidFill>
                <a:latin typeface="Arial"/>
                <a:ea typeface="Arial"/>
                <a:cs typeface="Arial"/>
              </a:rPr>
              <a:t>COMPILER DESIGN LABORATORY</a:t>
            </a:r>
          </a:p>
        </p:txBody>
      </p:sp>
      <p:sp>
        <p:nvSpPr>
          <p:cNvPr id="3" name="">
            <a:extLst xmlns:a="http://schemas.openxmlformats.org/drawingml/2006/main">
              <a:ext uri="{FF2B5EF4-FFF2-40B4-BE49-F238E27FC236}">
                <a16:creationId xmlns:a16="http://schemas.microsoft.com/office/drawing/2014/main" id="{EF5F15D3-09E9-4922-83C6-F38BFD236115}"/>
              </a:ext>
            </a:extLst>
          </p:cNvPr>
          <p:cNvSpPr>
            <a:spLocks xmlns:a="http://schemas.openxmlformats.org/drawingml/2006/main" noGrp="1"/>
          </p:cNvSpPr>
          <p:nvPr/>
        </p:nvSpPr>
        <p:spPr>
          <a:xfrm xmlns:a="http://schemas.openxmlformats.org/drawingml/2006/main">
            <a:off x="619125" y="1476375"/>
            <a:ext cx="10287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050" b="1">
                <a:solidFill>
                  <a:srgbClr val="F6F8FC"/>
                </a:solidFill>
                <a:latin typeface="Arial"/>
                <a:ea typeface="Arial"/>
                <a:cs typeface="Arial"/>
              </a:defRPr>
            </a:defPPr>
          </a:lstStyle>
          <a:p xmlns:a="http://schemas.openxmlformats.org/drawingml/2006/main">
            <a:pPr>
              <a:defRPr sz="4050" b="1">
                <a:solidFill>
                  <a:srgbClr val="F6F8FC"/>
                </a:solidFill>
                <a:latin typeface="Arial"/>
                <a:ea typeface="Arial"/>
                <a:cs typeface="Arial"/>
              </a:defRPr>
            </a:pPr>
            <a:r>
              <a:rPr sz="4050" b="1">
                <a:solidFill>
                  <a:srgbClr val="F6F8FC"/>
                </a:solidFill>
                <a:latin typeface="Arial"/>
                <a:ea typeface="Arial"/>
                <a:cs typeface="Arial"/>
              </a:rPr>
              <a:t>Pseudocode-to-C</a:t>
            </a:r>
          </a:p>
          <a:p xmlns:a="http://schemas.openxmlformats.org/drawingml/2006/main">
            <a:pPr>
              <a:defRPr sz="4050" b="1">
                <a:solidFill>
                  <a:srgbClr val="F6F8FC"/>
                </a:solidFill>
                <a:latin typeface="Arial"/>
                <a:ea typeface="Arial"/>
                <a:cs typeface="Arial"/>
              </a:defRPr>
            </a:pPr>
            <a:r>
              <a:rPr sz="4050" b="1">
                <a:solidFill>
                  <a:srgbClr val="F6F8FC"/>
                </a:solidFill>
                <a:latin typeface="Arial"/>
                <a:ea typeface="Arial"/>
                <a:cs typeface="Arial"/>
              </a:rPr>
              <a:t>Code Translator</a:t>
            </a:r>
          </a:p>
        </p:txBody>
      </p:sp>
      <p:sp>
        <p:nvSpPr>
          <p:cNvPr id="4" name="">
            <a:extLst xmlns:a="http://schemas.openxmlformats.org/drawingml/2006/main">
              <a:ext uri="{FF2B5EF4-FFF2-40B4-BE49-F238E27FC236}">
                <a16:creationId xmlns:a16="http://schemas.microsoft.com/office/drawing/2014/main" id="{54F773B5-6111-4117-BCC2-CC6F887321B1}"/>
              </a:ext>
            </a:extLst>
          </p:cNvPr>
          <p:cNvSpPr>
            <a:spLocks xmlns:a="http://schemas.openxmlformats.org/drawingml/2006/main" noGrp="1"/>
          </p:cNvSpPr>
          <p:nvPr/>
        </p:nvSpPr>
        <p:spPr>
          <a:xfrm xmlns:a="http://schemas.openxmlformats.org/drawingml/2006/main">
            <a:off x="619125" y="3114675"/>
            <a:ext cx="981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4C82FF"/>
                </a:solidFill>
                <a:latin typeface="Arial"/>
                <a:ea typeface="Arial"/>
                <a:cs typeface="Arial"/>
              </a:defRPr>
            </a:defPPr>
          </a:lstStyle>
          <a:p xmlns:a="http://schemas.openxmlformats.org/drawingml/2006/main">
            <a:pPr>
              <a:defRPr sz="2100" b="1">
                <a:solidFill>
                  <a:srgbClr val="4C82FF"/>
                </a:solidFill>
                <a:latin typeface="Arial"/>
                <a:ea typeface="Arial"/>
                <a:cs typeface="Arial"/>
              </a:defRPr>
            </a:pPr>
            <a:r>
              <a:rPr sz="2100" b="1">
                <a:solidFill>
                  <a:srgbClr val="4C82FF"/>
                </a:solidFill>
                <a:latin typeface="Arial"/>
                <a:ea typeface="Arial"/>
                <a:cs typeface="Arial"/>
              </a:rPr>
              <a:t>Review 2   Core implementation progress</a:t>
            </a:r>
          </a:p>
        </p:txBody>
      </p:sp>
      <p:sp>
        <p:nvSpPr>
          <p:cNvPr id="5" name="">
            <a:extLst xmlns:a="http://schemas.openxmlformats.org/drawingml/2006/main">
              <a:ext uri="{FF2B5EF4-FFF2-40B4-BE49-F238E27FC236}">
                <a16:creationId xmlns:a16="http://schemas.microsoft.com/office/drawing/2014/main" id="{39D1DBC8-CE15-4F0A-BDAC-8101452B43F4}"/>
              </a:ext>
            </a:extLst>
          </p:cNvPr>
          <p:cNvSpPr>
            <a:spLocks xmlns:a="http://schemas.openxmlformats.org/drawingml/2006/main" noGrp="1"/>
          </p:cNvSpPr>
          <p:nvPr/>
        </p:nvSpPr>
        <p:spPr>
          <a:xfrm xmlns:a="http://schemas.openxmlformats.org/drawingml/2006/main">
            <a:off x="619125" y="3905250"/>
            <a:ext cx="104775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5BEC88-4966-428E-96D2-92314C8BE35A}"/>
              </a:ext>
            </a:extLst>
          </p:cNvPr>
          <p:cNvSpPr>
            <a:spLocks xmlns:a="http://schemas.openxmlformats.org/drawingml/2006/main" noGrp="1"/>
          </p:cNvSpPr>
          <p:nvPr/>
        </p:nvSpPr>
        <p:spPr>
          <a:xfrm xmlns:a="http://schemas.openxmlformats.org/drawingml/2006/main">
            <a:off x="619125" y="4210050"/>
            <a:ext cx="752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F6F8FC"/>
                </a:solidFill>
                <a:latin typeface="Arial"/>
                <a:ea typeface="Arial"/>
                <a:cs typeface="Arial"/>
              </a:defRPr>
            </a:defPPr>
          </a:lstStyle>
          <a:p xmlns:a="http://schemas.openxmlformats.org/drawingml/2006/main">
            <a:pPr>
              <a:defRPr sz="2025" b="1">
                <a:solidFill>
                  <a:srgbClr val="F6F8FC"/>
                </a:solidFill>
                <a:latin typeface="Arial"/>
                <a:ea typeface="Arial"/>
                <a:cs typeface="Arial"/>
              </a:defRPr>
            </a:pPr>
            <a:r>
              <a:rPr sz="2025" b="1">
                <a:solidFill>
                  <a:srgbClr val="F6F8FC"/>
                </a:solidFill>
                <a:latin typeface="Arial"/>
                <a:ea typeface="Arial"/>
                <a:cs typeface="Arial"/>
              </a:rPr>
              <a:t>Sashwath J   |   24BAI0059</a:t>
            </a:r>
          </a:p>
        </p:txBody>
      </p:sp>
      <p:sp>
        <p:nvSpPr>
          <p:cNvPr id="7" name="">
            <a:extLst xmlns:a="http://schemas.openxmlformats.org/drawingml/2006/main">
              <a:ext uri="{FF2B5EF4-FFF2-40B4-BE49-F238E27FC236}">
                <a16:creationId xmlns:a16="http://schemas.microsoft.com/office/drawing/2014/main" id="{E309FD22-70C7-45C6-9541-A11C0EC26B1D}"/>
              </a:ext>
            </a:extLst>
          </p:cNvPr>
          <p:cNvSpPr>
            <a:spLocks xmlns:a="http://schemas.openxmlformats.org/drawingml/2006/main" noGrp="1"/>
          </p:cNvSpPr>
          <p:nvPr/>
        </p:nvSpPr>
        <p:spPr>
          <a:xfrm xmlns:a="http://schemas.openxmlformats.org/drawingml/2006/main">
            <a:off x="619125" y="46863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BCSE307P   Compiler Design Laboratory   |   2026–27</a:t>
            </a:r>
          </a:p>
        </p:txBody>
      </p:sp>
      <p:sp>
        <p:nvSpPr>
          <p:cNvPr id="8" name="">
            <a:extLst xmlns:a="http://schemas.openxmlformats.org/drawingml/2006/main">
              <a:ext uri="{FF2B5EF4-FFF2-40B4-BE49-F238E27FC236}">
                <a16:creationId xmlns:a16="http://schemas.microsoft.com/office/drawing/2014/main" id="{56423267-7586-466B-A481-9CCEF7288E5C}"/>
              </a:ext>
            </a:extLst>
          </p:cNvPr>
          <p:cNvSpPr>
            <a:spLocks xmlns:a="http://schemas.openxmlformats.org/drawingml/2006/main" noGrp="1"/>
          </p:cNvSpPr>
          <p:nvPr/>
        </p:nvSpPr>
        <p:spPr>
          <a:xfrm xmlns:a="http://schemas.openxmlformats.org/drawingml/2006/main">
            <a:off x="619125" y="58483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Working translator, compiler stages, test evidence and current limits</a:t>
            </a:r>
          </a:p>
        </p:txBody>
      </p:sp>
    </p:spTree>
    <p:extLst>
      <p:ext uri="{BB962C8B-B14F-4D97-AF65-F5344CB8AC3E}">
        <p14:creationId xmlns:p14="http://schemas.microsoft.com/office/powerpoint/2010/main" val="796873045"/>
      </p:ext>
    </p:extLst>
  </p:cSld>
</p:sld>
</file>

<file path=ppt/slides/slide2.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42E0149-A221-4818-9A13-9118BF40BE9D}"/>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C803AF0-3FC8-41B0-BEB6-EB138BCCAA75}"/>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What Review 2 evaluates</a:t>
            </a:r>
          </a:p>
        </p:txBody>
      </p:sp>
      <p:sp>
        <p:nvSpPr>
          <p:cNvPr id="3" name="">
            <a:extLst xmlns:a="http://schemas.openxmlformats.org/drawingml/2006/main">
              <a:ext uri="{FF2B5EF4-FFF2-40B4-BE49-F238E27FC236}">
                <a16:creationId xmlns:a16="http://schemas.microsoft.com/office/drawing/2014/main" id="{1ED2AEAA-2C99-4F3D-9F5A-507CCEA82798}"/>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Course rubric: 25 marks. The live demonstration is required.</a:t>
            </a:r>
          </a:p>
        </p:txBody>
      </p:sp>
      <p:sp>
        <p:nvSpPr>
          <p:cNvPr id="4" name="">
            <a:extLst xmlns:a="http://schemas.openxmlformats.org/drawingml/2006/main">
              <a:ext uri="{FF2B5EF4-FFF2-40B4-BE49-F238E27FC236}">
                <a16:creationId xmlns:a16="http://schemas.microsoft.com/office/drawing/2014/main" id="{45F6EA44-DE84-4A73-8E79-854AAD9583DF}"/>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8645CA6-B4C0-4D09-B2F3-84D8D7ED0762}"/>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E2852FA2-F154-4A5E-AFAA-C3FAE62AEFE6}"/>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0CC905BD-4DB0-4FAC-A0C8-12ECA3CA5878}"/>
              </a:ext>
            </a:extLst>
          </p:cNvPr>
          <p:cNvSpPr>
            <a:spLocks xmlns:a="http://schemas.openxmlformats.org/drawingml/2006/main" noGrp="1"/>
          </p:cNvSpPr>
          <p:nvPr/>
        </p:nvSpPr>
        <p:spPr>
          <a:xfrm xmlns:a="http://schemas.openxmlformats.org/drawingml/2006/main">
            <a:off x="638175" y="1562100"/>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CRITERION</a:t>
            </a:r>
          </a:p>
        </p:txBody>
      </p:sp>
      <p:sp>
        <p:nvSpPr>
          <p:cNvPr id="8" name="">
            <a:extLst xmlns:a="http://schemas.openxmlformats.org/drawingml/2006/main">
              <a:ext uri="{FF2B5EF4-FFF2-40B4-BE49-F238E27FC236}">
                <a16:creationId xmlns:a16="http://schemas.microsoft.com/office/drawing/2014/main" id="{411AC016-C8FF-4F60-8A6E-9D78326353ED}"/>
              </a:ext>
            </a:extLst>
          </p:cNvPr>
          <p:cNvSpPr>
            <a:spLocks xmlns:a="http://schemas.openxmlformats.org/drawingml/2006/main" noGrp="1"/>
          </p:cNvSpPr>
          <p:nvPr/>
        </p:nvSpPr>
        <p:spPr>
          <a:xfrm xmlns:a="http://schemas.openxmlformats.org/drawingml/2006/main">
            <a:off x="5553075" y="1562100"/>
            <a:ext cx="1238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MARKS</a:t>
            </a:r>
          </a:p>
        </p:txBody>
      </p:sp>
      <p:sp>
        <p:nvSpPr>
          <p:cNvPr id="9" name="">
            <a:extLst xmlns:a="http://schemas.openxmlformats.org/drawingml/2006/main">
              <a:ext uri="{FF2B5EF4-FFF2-40B4-BE49-F238E27FC236}">
                <a16:creationId xmlns:a16="http://schemas.microsoft.com/office/drawing/2014/main" id="{05B05156-2CA2-45B1-8896-477966CC3F97}"/>
              </a:ext>
            </a:extLst>
          </p:cNvPr>
          <p:cNvSpPr>
            <a:spLocks xmlns:a="http://schemas.openxmlformats.org/drawingml/2006/main" noGrp="1"/>
          </p:cNvSpPr>
          <p:nvPr/>
        </p:nvSpPr>
        <p:spPr>
          <a:xfrm xmlns:a="http://schemas.openxmlformats.org/drawingml/2006/main">
            <a:off x="6953250" y="15621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EVIDENCE IN THIS REVIEW</a:t>
            </a:r>
          </a:p>
        </p:txBody>
      </p:sp>
      <p:sp>
        <p:nvSpPr>
          <p:cNvPr id="10" name="">
            <a:extLst xmlns:a="http://schemas.openxmlformats.org/drawingml/2006/main">
              <a:ext uri="{FF2B5EF4-FFF2-40B4-BE49-F238E27FC236}">
                <a16:creationId xmlns:a16="http://schemas.microsoft.com/office/drawing/2014/main" id="{F0C0C3A2-FF00-4D00-90EB-24FE0D7FD9AB}"/>
              </a:ext>
            </a:extLst>
          </p:cNvPr>
          <p:cNvSpPr>
            <a:spLocks xmlns:a="http://schemas.openxmlformats.org/drawingml/2006/main" noGrp="1"/>
          </p:cNvSpPr>
          <p:nvPr/>
        </p:nvSpPr>
        <p:spPr>
          <a:xfrm xmlns:a="http://schemas.openxmlformats.org/drawingml/2006/main">
            <a:off x="609600" y="1905000"/>
            <a:ext cx="10953750"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FC9FEEF-8EAB-42C6-9D7B-CFE271ED60B1}"/>
              </a:ext>
            </a:extLst>
          </p:cNvPr>
          <p:cNvSpPr>
            <a:spLocks xmlns:a="http://schemas.openxmlformats.org/drawingml/2006/main" noGrp="1"/>
          </p:cNvSpPr>
          <p:nvPr/>
        </p:nvSpPr>
        <p:spPr>
          <a:xfrm xmlns:a="http://schemas.openxmlformats.org/drawingml/2006/main">
            <a:off x="638175" y="2076450"/>
            <a:ext cx="4619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6F8FC"/>
                </a:solidFill>
                <a:latin typeface="Arial"/>
                <a:ea typeface="Arial"/>
                <a:cs typeface="Arial"/>
              </a:defRPr>
            </a:defPPr>
          </a:lstStyle>
          <a:p xmlns:a="http://schemas.openxmlformats.org/drawingml/2006/main">
            <a:pPr>
              <a:defRPr sz="1650" b="1">
                <a:solidFill>
                  <a:srgbClr val="F6F8FC"/>
                </a:solidFill>
                <a:latin typeface="Arial"/>
                <a:ea typeface="Arial"/>
                <a:cs typeface="Arial"/>
              </a:defRPr>
            </a:pPr>
            <a:r>
              <a:rPr sz="1650" b="1">
                <a:solidFill>
                  <a:srgbClr val="F6F8FC"/>
                </a:solidFill>
                <a:latin typeface="Arial"/>
                <a:ea typeface="Arial"/>
                <a:cs typeface="Arial"/>
              </a:rPr>
              <a:t>Implementation progress</a:t>
            </a:r>
          </a:p>
        </p:txBody>
      </p:sp>
      <p:sp>
        <p:nvSpPr>
          <p:cNvPr id="12" name="">
            <a:extLst xmlns:a="http://schemas.openxmlformats.org/drawingml/2006/main">
              <a:ext uri="{FF2B5EF4-FFF2-40B4-BE49-F238E27FC236}">
                <a16:creationId xmlns:a16="http://schemas.microsoft.com/office/drawing/2014/main" id="{8D1A0C55-401A-49B6-A855-FD9DC5B13EAF}"/>
              </a:ext>
            </a:extLst>
          </p:cNvPr>
          <p:cNvSpPr>
            <a:spLocks xmlns:a="http://schemas.openxmlformats.org/drawingml/2006/main" noGrp="1"/>
          </p:cNvSpPr>
          <p:nvPr/>
        </p:nvSpPr>
        <p:spPr>
          <a:xfrm xmlns:a="http://schemas.openxmlformats.org/drawingml/2006/main">
            <a:off x="5600700" y="2076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B94D"/>
                </a:solidFill>
                <a:latin typeface="Arial"/>
                <a:ea typeface="Arial"/>
                <a:cs typeface="Arial"/>
              </a:defRPr>
            </a:defPPr>
          </a:lstStyle>
          <a:p xmlns:a="http://schemas.openxmlformats.org/drawingml/2006/main">
            <a:pPr>
              <a:defRPr sz="1725" b="1">
                <a:solidFill>
                  <a:srgbClr val="F6B94D"/>
                </a:solidFill>
                <a:latin typeface="Arial"/>
                <a:ea typeface="Arial"/>
                <a:cs typeface="Arial"/>
              </a:defRPr>
            </a:pPr>
            <a:r>
              <a:rPr sz="1725" b="1">
                <a:solidFill>
                  <a:srgbClr val="F6B94D"/>
                </a:solidFill>
                <a:latin typeface="Arial"/>
                <a:ea typeface="Arial"/>
                <a:cs typeface="Arial"/>
              </a:rPr>
              <a:t>7</a:t>
            </a:r>
          </a:p>
        </p:txBody>
      </p:sp>
      <p:sp>
        <p:nvSpPr>
          <p:cNvPr id="13" name="">
            <a:extLst xmlns:a="http://schemas.openxmlformats.org/drawingml/2006/main">
              <a:ext uri="{FF2B5EF4-FFF2-40B4-BE49-F238E27FC236}">
                <a16:creationId xmlns:a16="http://schemas.microsoft.com/office/drawing/2014/main" id="{E5D08C82-5623-4C48-B00C-88E9C6CDC47C}"/>
              </a:ext>
            </a:extLst>
          </p:cNvPr>
          <p:cNvSpPr>
            <a:spLocks xmlns:a="http://schemas.openxmlformats.org/drawingml/2006/main" noGrp="1"/>
          </p:cNvSpPr>
          <p:nvPr/>
        </p:nvSpPr>
        <p:spPr>
          <a:xfrm xmlns:a="http://schemas.openxmlformats.org/drawingml/2006/main">
            <a:off x="6953250" y="20764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AEBBD0"/>
                </a:solidFill>
                <a:latin typeface="Arial"/>
                <a:ea typeface="Arial"/>
                <a:cs typeface="Arial"/>
              </a:defRPr>
            </a:defPPr>
          </a:lstStyle>
          <a:p xmlns:a="http://schemas.openxmlformats.org/drawingml/2006/main">
            <a:pPr>
              <a:defRPr sz="1500" b="0">
                <a:solidFill>
                  <a:srgbClr val="AEBBD0"/>
                </a:solidFill>
                <a:latin typeface="Arial"/>
                <a:ea typeface="Arial"/>
                <a:cs typeface="Arial"/>
              </a:defRPr>
            </a:pPr>
            <a:r>
              <a:rPr sz="1500" b="0">
                <a:solidFill>
                  <a:srgbClr val="AEBBD0"/>
                </a:solidFill>
                <a:latin typeface="Arial"/>
                <a:ea typeface="Arial"/>
                <a:cs typeface="Arial"/>
              </a:rPr>
              <a:t>Modules and features now connected</a:t>
            </a:r>
          </a:p>
        </p:txBody>
      </p:sp>
      <p:sp>
        <p:nvSpPr>
          <p:cNvPr id="14" name="">
            <a:extLst xmlns:a="http://schemas.openxmlformats.org/drawingml/2006/main">
              <a:ext uri="{FF2B5EF4-FFF2-40B4-BE49-F238E27FC236}">
                <a16:creationId xmlns:a16="http://schemas.microsoft.com/office/drawing/2014/main" id="{44D3F463-3A5D-4AE7-8E42-DCE57DB82B8A}"/>
              </a:ext>
            </a:extLst>
          </p:cNvPr>
          <p:cNvSpPr>
            <a:spLocks xmlns:a="http://schemas.openxmlformats.org/drawingml/2006/main" noGrp="1"/>
          </p:cNvSpPr>
          <p:nvPr/>
        </p:nvSpPr>
        <p:spPr>
          <a:xfrm xmlns:a="http://schemas.openxmlformats.org/drawingml/2006/main">
            <a:off x="609600" y="2562225"/>
            <a:ext cx="109537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CED71EF-9A8D-4EBE-9B68-C834AF5CC265}"/>
              </a:ext>
            </a:extLst>
          </p:cNvPr>
          <p:cNvSpPr>
            <a:spLocks xmlns:a="http://schemas.openxmlformats.org/drawingml/2006/main" noGrp="1"/>
          </p:cNvSpPr>
          <p:nvPr/>
        </p:nvSpPr>
        <p:spPr>
          <a:xfrm xmlns:a="http://schemas.openxmlformats.org/drawingml/2006/main">
            <a:off x="638175" y="2686050"/>
            <a:ext cx="4619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Technical correctness</a:t>
            </a:r>
          </a:p>
        </p:txBody>
      </p:sp>
      <p:sp>
        <p:nvSpPr>
          <p:cNvPr id="16" name="">
            <a:extLst xmlns:a="http://schemas.openxmlformats.org/drawingml/2006/main">
              <a:ext uri="{FF2B5EF4-FFF2-40B4-BE49-F238E27FC236}">
                <a16:creationId xmlns:a16="http://schemas.microsoft.com/office/drawing/2014/main" id="{88DC4F77-8487-4754-AB82-72EA7CBB69C0}"/>
              </a:ext>
            </a:extLst>
          </p:cNvPr>
          <p:cNvSpPr>
            <a:spLocks xmlns:a="http://schemas.openxmlformats.org/drawingml/2006/main" noGrp="1"/>
          </p:cNvSpPr>
          <p:nvPr/>
        </p:nvSpPr>
        <p:spPr>
          <a:xfrm xmlns:a="http://schemas.openxmlformats.org/drawingml/2006/main">
            <a:off x="5600700" y="26860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B94D"/>
                </a:solidFill>
                <a:latin typeface="Arial"/>
                <a:ea typeface="Arial"/>
                <a:cs typeface="Arial"/>
              </a:defRPr>
            </a:defPPr>
          </a:lstStyle>
          <a:p xmlns:a="http://schemas.openxmlformats.org/drawingml/2006/main">
            <a:pPr>
              <a:defRPr sz="1725" b="1">
                <a:solidFill>
                  <a:srgbClr val="F6B94D"/>
                </a:solidFill>
                <a:latin typeface="Arial"/>
                <a:ea typeface="Arial"/>
                <a:cs typeface="Arial"/>
              </a:defRPr>
            </a:pPr>
            <a:r>
              <a:rPr sz="1725" b="1">
                <a:solidFill>
                  <a:srgbClr val="F6B94D"/>
                </a:solidFill>
                <a:latin typeface="Arial"/>
                <a:ea typeface="Arial"/>
                <a:cs typeface="Arial"/>
              </a:rPr>
              <a:t>5</a:t>
            </a:r>
          </a:p>
        </p:txBody>
      </p:sp>
      <p:sp>
        <p:nvSpPr>
          <p:cNvPr id="17" name="">
            <a:extLst xmlns:a="http://schemas.openxmlformats.org/drawingml/2006/main">
              <a:ext uri="{FF2B5EF4-FFF2-40B4-BE49-F238E27FC236}">
                <a16:creationId xmlns:a16="http://schemas.microsoft.com/office/drawing/2014/main" id="{EECAE6D3-1962-4F45-91B5-C2696D9E8D7E}"/>
              </a:ext>
            </a:extLst>
          </p:cNvPr>
          <p:cNvSpPr>
            <a:spLocks xmlns:a="http://schemas.openxmlformats.org/drawingml/2006/main" noGrp="1"/>
          </p:cNvSpPr>
          <p:nvPr/>
        </p:nvSpPr>
        <p:spPr>
          <a:xfrm xmlns:a="http://schemas.openxmlformats.org/drawingml/2006/main">
            <a:off x="6953250" y="26860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AEBBD0"/>
                </a:solidFill>
                <a:latin typeface="Arial"/>
                <a:ea typeface="Arial"/>
                <a:cs typeface="Arial"/>
              </a:defRPr>
            </a:defPPr>
          </a:lstStyle>
          <a:p xmlns:a="http://schemas.openxmlformats.org/drawingml/2006/main">
            <a:pPr>
              <a:defRPr sz="1500" b="0">
                <a:solidFill>
                  <a:srgbClr val="AEBBD0"/>
                </a:solidFill>
                <a:latin typeface="Arial"/>
                <a:ea typeface="Arial"/>
                <a:cs typeface="Arial"/>
              </a:defRPr>
            </a:pPr>
            <a:r>
              <a:rPr sz="1500" b="0">
                <a:solidFill>
                  <a:srgbClr val="AEBBD0"/>
                </a:solidFill>
                <a:latin typeface="Arial"/>
                <a:ea typeface="Arial"/>
                <a:cs typeface="Arial"/>
              </a:rPr>
              <a:t>Generated C runs for representative inputs</a:t>
            </a:r>
          </a:p>
        </p:txBody>
      </p:sp>
      <p:sp>
        <p:nvSpPr>
          <p:cNvPr id="18" name="">
            <a:extLst xmlns:a="http://schemas.openxmlformats.org/drawingml/2006/main">
              <a:ext uri="{FF2B5EF4-FFF2-40B4-BE49-F238E27FC236}">
                <a16:creationId xmlns:a16="http://schemas.microsoft.com/office/drawing/2014/main" id="{834D018F-2B5C-4654-9281-1303FF3EF39D}"/>
              </a:ext>
            </a:extLst>
          </p:cNvPr>
          <p:cNvSpPr>
            <a:spLocks xmlns:a="http://schemas.openxmlformats.org/drawingml/2006/main" noGrp="1"/>
          </p:cNvSpPr>
          <p:nvPr/>
        </p:nvSpPr>
        <p:spPr>
          <a:xfrm xmlns:a="http://schemas.openxmlformats.org/drawingml/2006/main">
            <a:off x="609600" y="3171825"/>
            <a:ext cx="109537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223D440-B6F2-4F63-852C-4B5934D80295}"/>
              </a:ext>
            </a:extLst>
          </p:cNvPr>
          <p:cNvSpPr>
            <a:spLocks xmlns:a="http://schemas.openxmlformats.org/drawingml/2006/main" noGrp="1"/>
          </p:cNvSpPr>
          <p:nvPr/>
        </p:nvSpPr>
        <p:spPr>
          <a:xfrm xmlns:a="http://schemas.openxmlformats.org/drawingml/2006/main">
            <a:off x="638175" y="3295650"/>
            <a:ext cx="4619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Compiler concepts</a:t>
            </a:r>
          </a:p>
        </p:txBody>
      </p:sp>
      <p:sp>
        <p:nvSpPr>
          <p:cNvPr id="20" name="">
            <a:extLst xmlns:a="http://schemas.openxmlformats.org/drawingml/2006/main">
              <a:ext uri="{FF2B5EF4-FFF2-40B4-BE49-F238E27FC236}">
                <a16:creationId xmlns:a16="http://schemas.microsoft.com/office/drawing/2014/main" id="{4ADC5A15-2CF0-4F26-9DE4-D4E6E2B3629E}"/>
              </a:ext>
            </a:extLst>
          </p:cNvPr>
          <p:cNvSpPr>
            <a:spLocks xmlns:a="http://schemas.openxmlformats.org/drawingml/2006/main" noGrp="1"/>
          </p:cNvSpPr>
          <p:nvPr/>
        </p:nvSpPr>
        <p:spPr>
          <a:xfrm xmlns:a="http://schemas.openxmlformats.org/drawingml/2006/main">
            <a:off x="5600700" y="32956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B94D"/>
                </a:solidFill>
                <a:latin typeface="Arial"/>
                <a:ea typeface="Arial"/>
                <a:cs typeface="Arial"/>
              </a:defRPr>
            </a:defPPr>
          </a:lstStyle>
          <a:p xmlns:a="http://schemas.openxmlformats.org/drawingml/2006/main">
            <a:pPr>
              <a:defRPr sz="1725" b="1">
                <a:solidFill>
                  <a:srgbClr val="F6B94D"/>
                </a:solidFill>
                <a:latin typeface="Arial"/>
                <a:ea typeface="Arial"/>
                <a:cs typeface="Arial"/>
              </a:defRPr>
            </a:pPr>
            <a:r>
              <a:rPr sz="1725" b="1">
                <a:solidFill>
                  <a:srgbClr val="F6B94D"/>
                </a:solidFill>
                <a:latin typeface="Arial"/>
                <a:ea typeface="Arial"/>
                <a:cs typeface="Arial"/>
              </a:rPr>
              <a:t>4</a:t>
            </a:r>
          </a:p>
        </p:txBody>
      </p:sp>
      <p:sp>
        <p:nvSpPr>
          <p:cNvPr id="21" name="">
            <a:extLst xmlns:a="http://schemas.openxmlformats.org/drawingml/2006/main">
              <a:ext uri="{FF2B5EF4-FFF2-40B4-BE49-F238E27FC236}">
                <a16:creationId xmlns:a16="http://schemas.microsoft.com/office/drawing/2014/main" id="{73D723B1-E493-40E3-B9F3-B80E6E645F82}"/>
              </a:ext>
            </a:extLst>
          </p:cNvPr>
          <p:cNvSpPr>
            <a:spLocks xmlns:a="http://schemas.openxmlformats.org/drawingml/2006/main" noGrp="1"/>
          </p:cNvSpPr>
          <p:nvPr/>
        </p:nvSpPr>
        <p:spPr>
          <a:xfrm xmlns:a="http://schemas.openxmlformats.org/drawingml/2006/main">
            <a:off x="6953250" y="32956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AEBBD0"/>
                </a:solidFill>
                <a:latin typeface="Arial"/>
                <a:ea typeface="Arial"/>
                <a:cs typeface="Arial"/>
              </a:defRPr>
            </a:defPPr>
          </a:lstStyle>
          <a:p xmlns:a="http://schemas.openxmlformats.org/drawingml/2006/main">
            <a:pPr>
              <a:defRPr sz="1500" b="0">
                <a:solidFill>
                  <a:srgbClr val="AEBBD0"/>
                </a:solidFill>
                <a:latin typeface="Arial"/>
                <a:ea typeface="Arial"/>
                <a:cs typeface="Arial"/>
              </a:defRPr>
            </a:pPr>
            <a:r>
              <a:rPr sz="1500" b="0">
                <a:solidFill>
                  <a:srgbClr val="AEBBD0"/>
                </a:solidFill>
                <a:latin typeface="Arial"/>
                <a:ea typeface="Arial"/>
                <a:cs typeface="Arial"/>
              </a:rPr>
              <a:t>Tokens, AST, symbols, IR and optimization</a:t>
            </a:r>
          </a:p>
        </p:txBody>
      </p:sp>
      <p:sp>
        <p:nvSpPr>
          <p:cNvPr id="22" name="">
            <a:extLst xmlns:a="http://schemas.openxmlformats.org/drawingml/2006/main">
              <a:ext uri="{FF2B5EF4-FFF2-40B4-BE49-F238E27FC236}">
                <a16:creationId xmlns:a16="http://schemas.microsoft.com/office/drawing/2014/main" id="{735790ED-2A24-4BB8-B5BB-D85F49E538F4}"/>
              </a:ext>
            </a:extLst>
          </p:cNvPr>
          <p:cNvSpPr>
            <a:spLocks xmlns:a="http://schemas.openxmlformats.org/drawingml/2006/main" noGrp="1"/>
          </p:cNvSpPr>
          <p:nvPr/>
        </p:nvSpPr>
        <p:spPr>
          <a:xfrm xmlns:a="http://schemas.openxmlformats.org/drawingml/2006/main">
            <a:off x="609600" y="3781425"/>
            <a:ext cx="109537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4F9EB54-CA80-457D-A6A3-6859CA294D84}"/>
              </a:ext>
            </a:extLst>
          </p:cNvPr>
          <p:cNvSpPr>
            <a:spLocks xmlns:a="http://schemas.openxmlformats.org/drawingml/2006/main" noGrp="1"/>
          </p:cNvSpPr>
          <p:nvPr/>
        </p:nvSpPr>
        <p:spPr>
          <a:xfrm xmlns:a="http://schemas.openxmlformats.org/drawingml/2006/main">
            <a:off x="638175" y="3905250"/>
            <a:ext cx="4619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Code quality</a:t>
            </a:r>
          </a:p>
        </p:txBody>
      </p:sp>
      <p:sp>
        <p:nvSpPr>
          <p:cNvPr id="24" name="">
            <a:extLst xmlns:a="http://schemas.openxmlformats.org/drawingml/2006/main">
              <a:ext uri="{FF2B5EF4-FFF2-40B4-BE49-F238E27FC236}">
                <a16:creationId xmlns:a16="http://schemas.microsoft.com/office/drawing/2014/main" id="{3F933C10-9F1E-40BA-8CA2-1DD24DB2A8EB}"/>
              </a:ext>
            </a:extLst>
          </p:cNvPr>
          <p:cNvSpPr>
            <a:spLocks xmlns:a="http://schemas.openxmlformats.org/drawingml/2006/main" noGrp="1"/>
          </p:cNvSpPr>
          <p:nvPr/>
        </p:nvSpPr>
        <p:spPr>
          <a:xfrm xmlns:a="http://schemas.openxmlformats.org/drawingml/2006/main">
            <a:off x="5600700" y="39052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B94D"/>
                </a:solidFill>
                <a:latin typeface="Arial"/>
                <a:ea typeface="Arial"/>
                <a:cs typeface="Arial"/>
              </a:defRPr>
            </a:defPPr>
          </a:lstStyle>
          <a:p xmlns:a="http://schemas.openxmlformats.org/drawingml/2006/main">
            <a:pPr>
              <a:defRPr sz="1725" b="1">
                <a:solidFill>
                  <a:srgbClr val="F6B94D"/>
                </a:solidFill>
                <a:latin typeface="Arial"/>
                <a:ea typeface="Arial"/>
                <a:cs typeface="Arial"/>
              </a:defRPr>
            </a:pPr>
            <a:r>
              <a:rPr sz="1725" b="1">
                <a:solidFill>
                  <a:srgbClr val="F6B94D"/>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73346867-BEBC-419E-B2B1-8C78142D5A4C}"/>
              </a:ext>
            </a:extLst>
          </p:cNvPr>
          <p:cNvSpPr>
            <a:spLocks xmlns:a="http://schemas.openxmlformats.org/drawingml/2006/main" noGrp="1"/>
          </p:cNvSpPr>
          <p:nvPr/>
        </p:nvSpPr>
        <p:spPr>
          <a:xfrm xmlns:a="http://schemas.openxmlformats.org/drawingml/2006/main">
            <a:off x="6953250" y="39052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AEBBD0"/>
                </a:solidFill>
                <a:latin typeface="Arial"/>
                <a:ea typeface="Arial"/>
                <a:cs typeface="Arial"/>
              </a:defRPr>
            </a:defPPr>
          </a:lstStyle>
          <a:p xmlns:a="http://schemas.openxmlformats.org/drawingml/2006/main">
            <a:pPr>
              <a:defRPr sz="1500" b="0">
                <a:solidFill>
                  <a:srgbClr val="AEBBD0"/>
                </a:solidFill>
                <a:latin typeface="Arial"/>
                <a:ea typeface="Arial"/>
                <a:cs typeface="Arial"/>
              </a:defRPr>
            </a:pPr>
            <a:r>
              <a:rPr sz="1500" b="0">
                <a:solidFill>
                  <a:srgbClr val="AEBBD0"/>
                </a:solidFill>
                <a:latin typeface="Arial"/>
                <a:ea typeface="Arial"/>
                <a:cs typeface="Arial"/>
              </a:rPr>
              <a:t>Separate modules and readable C output</a:t>
            </a:r>
          </a:p>
        </p:txBody>
      </p:sp>
      <p:sp>
        <p:nvSpPr>
          <p:cNvPr id="26" name="">
            <a:extLst xmlns:a="http://schemas.openxmlformats.org/drawingml/2006/main">
              <a:ext uri="{FF2B5EF4-FFF2-40B4-BE49-F238E27FC236}">
                <a16:creationId xmlns:a16="http://schemas.microsoft.com/office/drawing/2014/main" id="{C310ACF4-B42E-4C9B-A4FB-67A46E38320C}"/>
              </a:ext>
            </a:extLst>
          </p:cNvPr>
          <p:cNvSpPr>
            <a:spLocks xmlns:a="http://schemas.openxmlformats.org/drawingml/2006/main" noGrp="1"/>
          </p:cNvSpPr>
          <p:nvPr/>
        </p:nvSpPr>
        <p:spPr>
          <a:xfrm xmlns:a="http://schemas.openxmlformats.org/drawingml/2006/main">
            <a:off x="609600" y="4391025"/>
            <a:ext cx="109537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46AC91F-7FA5-4CBB-895D-FF698444B647}"/>
              </a:ext>
            </a:extLst>
          </p:cNvPr>
          <p:cNvSpPr>
            <a:spLocks xmlns:a="http://schemas.openxmlformats.org/drawingml/2006/main" noGrp="1"/>
          </p:cNvSpPr>
          <p:nvPr/>
        </p:nvSpPr>
        <p:spPr>
          <a:xfrm xmlns:a="http://schemas.openxmlformats.org/drawingml/2006/main">
            <a:off x="638175" y="4514850"/>
            <a:ext cx="4619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Testing</a:t>
            </a:r>
          </a:p>
        </p:txBody>
      </p:sp>
      <p:sp>
        <p:nvSpPr>
          <p:cNvPr id="28" name="">
            <a:extLst xmlns:a="http://schemas.openxmlformats.org/drawingml/2006/main">
              <a:ext uri="{FF2B5EF4-FFF2-40B4-BE49-F238E27FC236}">
                <a16:creationId xmlns:a16="http://schemas.microsoft.com/office/drawing/2014/main" id="{B1232227-602D-4DB4-B6AD-38CCAB86B0B8}"/>
              </a:ext>
            </a:extLst>
          </p:cNvPr>
          <p:cNvSpPr>
            <a:spLocks xmlns:a="http://schemas.openxmlformats.org/drawingml/2006/main" noGrp="1"/>
          </p:cNvSpPr>
          <p:nvPr/>
        </p:nvSpPr>
        <p:spPr>
          <a:xfrm xmlns:a="http://schemas.openxmlformats.org/drawingml/2006/main">
            <a:off x="5600700" y="45148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B94D"/>
                </a:solidFill>
                <a:latin typeface="Arial"/>
                <a:ea typeface="Arial"/>
                <a:cs typeface="Arial"/>
              </a:defRPr>
            </a:defPPr>
          </a:lstStyle>
          <a:p xmlns:a="http://schemas.openxmlformats.org/drawingml/2006/main">
            <a:pPr>
              <a:defRPr sz="1725" b="1">
                <a:solidFill>
                  <a:srgbClr val="F6B94D"/>
                </a:solidFill>
                <a:latin typeface="Arial"/>
                <a:ea typeface="Arial"/>
                <a:cs typeface="Arial"/>
              </a:defRPr>
            </a:pPr>
            <a:r>
              <a:rPr sz="1725" b="1">
                <a:solidFill>
                  <a:srgbClr val="F6B94D"/>
                </a:solidFill>
                <a:latin typeface="Arial"/>
                <a:ea typeface="Arial"/>
                <a:cs typeface="Arial"/>
              </a:rPr>
              <a:t>3</a:t>
            </a:r>
          </a:p>
        </p:txBody>
      </p:sp>
      <p:sp>
        <p:nvSpPr>
          <p:cNvPr id="29" name="">
            <a:extLst xmlns:a="http://schemas.openxmlformats.org/drawingml/2006/main">
              <a:ext uri="{FF2B5EF4-FFF2-40B4-BE49-F238E27FC236}">
                <a16:creationId xmlns:a16="http://schemas.microsoft.com/office/drawing/2014/main" id="{A2704156-D2F3-4167-850D-89A3E9B42B2D}"/>
              </a:ext>
            </a:extLst>
          </p:cNvPr>
          <p:cNvSpPr>
            <a:spLocks xmlns:a="http://schemas.openxmlformats.org/drawingml/2006/main" noGrp="1"/>
          </p:cNvSpPr>
          <p:nvPr/>
        </p:nvSpPr>
        <p:spPr>
          <a:xfrm xmlns:a="http://schemas.openxmlformats.org/drawingml/2006/main">
            <a:off x="6953250" y="45148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AEBBD0"/>
                </a:solidFill>
                <a:latin typeface="Arial"/>
                <a:ea typeface="Arial"/>
                <a:cs typeface="Arial"/>
              </a:defRPr>
            </a:defPPr>
          </a:lstStyle>
          <a:p xmlns:a="http://schemas.openxmlformats.org/drawingml/2006/main">
            <a:pPr>
              <a:defRPr sz="1500" b="0">
                <a:solidFill>
                  <a:srgbClr val="AEBBD0"/>
                </a:solidFill>
                <a:latin typeface="Arial"/>
                <a:ea typeface="Arial"/>
                <a:cs typeface="Arial"/>
              </a:defRPr>
            </a:pPr>
            <a:r>
              <a:rPr sz="1500" b="0">
                <a:solidFill>
                  <a:srgbClr val="AEBBD0"/>
                </a:solidFill>
                <a:latin typeface="Arial"/>
                <a:ea typeface="Arial"/>
                <a:cs typeface="Arial"/>
              </a:rPr>
              <a:t>Accepted, rejected and execution cases</a:t>
            </a:r>
          </a:p>
        </p:txBody>
      </p:sp>
      <p:sp>
        <p:nvSpPr>
          <p:cNvPr id="30" name="">
            <a:extLst xmlns:a="http://schemas.openxmlformats.org/drawingml/2006/main">
              <a:ext uri="{FF2B5EF4-FFF2-40B4-BE49-F238E27FC236}">
                <a16:creationId xmlns:a16="http://schemas.microsoft.com/office/drawing/2014/main" id="{7CCDDB08-CB0B-48C2-A56B-70F5DC1DF653}"/>
              </a:ext>
            </a:extLst>
          </p:cNvPr>
          <p:cNvSpPr>
            <a:spLocks xmlns:a="http://schemas.openxmlformats.org/drawingml/2006/main" noGrp="1"/>
          </p:cNvSpPr>
          <p:nvPr/>
        </p:nvSpPr>
        <p:spPr>
          <a:xfrm xmlns:a="http://schemas.openxmlformats.org/drawingml/2006/main">
            <a:off x="609600" y="5000625"/>
            <a:ext cx="109537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58C5D6C-EFD6-4162-B24C-1133742387ED}"/>
              </a:ext>
            </a:extLst>
          </p:cNvPr>
          <p:cNvSpPr>
            <a:spLocks xmlns:a="http://schemas.openxmlformats.org/drawingml/2006/main" noGrp="1"/>
          </p:cNvSpPr>
          <p:nvPr/>
        </p:nvSpPr>
        <p:spPr>
          <a:xfrm xmlns:a="http://schemas.openxmlformats.org/drawingml/2006/main">
            <a:off x="638175" y="5124450"/>
            <a:ext cx="4619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Individual understanding</a:t>
            </a:r>
          </a:p>
        </p:txBody>
      </p:sp>
      <p:sp>
        <p:nvSpPr>
          <p:cNvPr id="32" name="">
            <a:extLst xmlns:a="http://schemas.openxmlformats.org/drawingml/2006/main">
              <a:ext uri="{FF2B5EF4-FFF2-40B4-BE49-F238E27FC236}">
                <a16:creationId xmlns:a16="http://schemas.microsoft.com/office/drawing/2014/main" id="{7F5447C5-4411-46BF-B2C5-A362843A2F76}"/>
              </a:ext>
            </a:extLst>
          </p:cNvPr>
          <p:cNvSpPr>
            <a:spLocks xmlns:a="http://schemas.openxmlformats.org/drawingml/2006/main" noGrp="1"/>
          </p:cNvSpPr>
          <p:nvPr/>
        </p:nvSpPr>
        <p:spPr>
          <a:xfrm xmlns:a="http://schemas.openxmlformats.org/drawingml/2006/main">
            <a:off x="5600700" y="5124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B94D"/>
                </a:solidFill>
                <a:latin typeface="Arial"/>
                <a:ea typeface="Arial"/>
                <a:cs typeface="Arial"/>
              </a:defRPr>
            </a:defPPr>
          </a:lstStyle>
          <a:p xmlns:a="http://schemas.openxmlformats.org/drawingml/2006/main">
            <a:pPr>
              <a:defRPr sz="1725" b="1">
                <a:solidFill>
                  <a:srgbClr val="F6B94D"/>
                </a:solidFill>
                <a:latin typeface="Arial"/>
                <a:ea typeface="Arial"/>
                <a:cs typeface="Arial"/>
              </a:defRPr>
            </a:pPr>
            <a:r>
              <a:rPr sz="1725" b="1">
                <a:solidFill>
                  <a:srgbClr val="F6B94D"/>
                </a:solidFill>
                <a:latin typeface="Arial"/>
                <a:ea typeface="Arial"/>
                <a:cs typeface="Arial"/>
              </a:rPr>
              <a:t>3</a:t>
            </a:r>
          </a:p>
        </p:txBody>
      </p:sp>
      <p:sp>
        <p:nvSpPr>
          <p:cNvPr id="33" name="">
            <a:extLst xmlns:a="http://schemas.openxmlformats.org/drawingml/2006/main">
              <a:ext uri="{FF2B5EF4-FFF2-40B4-BE49-F238E27FC236}">
                <a16:creationId xmlns:a16="http://schemas.microsoft.com/office/drawing/2014/main" id="{18FE3426-6DDF-452C-9B3E-7630C9650464}"/>
              </a:ext>
            </a:extLst>
          </p:cNvPr>
          <p:cNvSpPr>
            <a:spLocks xmlns:a="http://schemas.openxmlformats.org/drawingml/2006/main" noGrp="1"/>
          </p:cNvSpPr>
          <p:nvPr/>
        </p:nvSpPr>
        <p:spPr>
          <a:xfrm xmlns:a="http://schemas.openxmlformats.org/drawingml/2006/main">
            <a:off x="6953250" y="51244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AEBBD0"/>
                </a:solidFill>
                <a:latin typeface="Arial"/>
                <a:ea typeface="Arial"/>
                <a:cs typeface="Arial"/>
              </a:defRPr>
            </a:defPPr>
          </a:lstStyle>
          <a:p xmlns:a="http://schemas.openxmlformats.org/drawingml/2006/main">
            <a:pPr>
              <a:defRPr sz="1500" b="0">
                <a:solidFill>
                  <a:srgbClr val="AEBBD0"/>
                </a:solidFill>
                <a:latin typeface="Arial"/>
                <a:ea typeface="Arial"/>
                <a:cs typeface="Arial"/>
              </a:defRPr>
            </a:pPr>
            <a:r>
              <a:rPr sz="1500" b="0">
                <a:solidFill>
                  <a:srgbClr val="AEBBD0"/>
                </a:solidFill>
                <a:latin typeface="Arial"/>
                <a:ea typeface="Arial"/>
                <a:cs typeface="Arial"/>
              </a:rPr>
              <a:t>Explain a stage, trace a case, answer questions</a:t>
            </a:r>
          </a:p>
        </p:txBody>
      </p:sp>
      <p:sp>
        <p:nvSpPr>
          <p:cNvPr id="34" name="">
            <a:extLst xmlns:a="http://schemas.openxmlformats.org/drawingml/2006/main">
              <a:ext uri="{FF2B5EF4-FFF2-40B4-BE49-F238E27FC236}">
                <a16:creationId xmlns:a16="http://schemas.microsoft.com/office/drawing/2014/main" id="{815E6E52-1286-47C0-98B4-3C6891D60878}"/>
              </a:ext>
            </a:extLst>
          </p:cNvPr>
          <p:cNvSpPr>
            <a:spLocks xmlns:a="http://schemas.openxmlformats.org/drawingml/2006/main" noGrp="1"/>
          </p:cNvSpPr>
          <p:nvPr/>
        </p:nvSpPr>
        <p:spPr>
          <a:xfrm xmlns:a="http://schemas.openxmlformats.org/drawingml/2006/main">
            <a:off x="609600" y="5610225"/>
            <a:ext cx="109537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Tree>
    <p:extLst>
      <p:ext uri="{BB962C8B-B14F-4D97-AF65-F5344CB8AC3E}">
        <p14:creationId xmlns:p14="http://schemas.microsoft.com/office/powerpoint/2010/main" val="830682529"/>
      </p:ext>
    </p:extLst>
  </p:cSld>
</p:sld>
</file>

<file path=ppt/slides/slide3.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D298F79-044B-4C34-BB7C-C6421D2933FF}"/>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A72B7D5-5024-4B3E-A67F-60955CD3D2A6}"/>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Progress since Review 1</a:t>
            </a:r>
          </a:p>
        </p:txBody>
      </p:sp>
      <p:sp>
        <p:nvSpPr>
          <p:cNvPr id="3" name="">
            <a:extLst xmlns:a="http://schemas.openxmlformats.org/drawingml/2006/main">
              <a:ext uri="{FF2B5EF4-FFF2-40B4-BE49-F238E27FC236}">
                <a16:creationId xmlns:a16="http://schemas.microsoft.com/office/drawing/2014/main" id="{0F25E94B-0C97-4F9E-97CD-B3E001E972FF}"/>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initial prototype translated simple statements. Review 2 connects the wider language.</a:t>
            </a:r>
          </a:p>
        </p:txBody>
      </p:sp>
      <p:sp>
        <p:nvSpPr>
          <p:cNvPr id="4" name="">
            <a:extLst xmlns:a="http://schemas.openxmlformats.org/drawingml/2006/main">
              <a:ext uri="{FF2B5EF4-FFF2-40B4-BE49-F238E27FC236}">
                <a16:creationId xmlns:a16="http://schemas.microsoft.com/office/drawing/2014/main" id="{F86E9FE1-9D8D-4690-94EF-1279B9AB2451}"/>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213EC9F-417F-43DA-9EB3-C7C9CBD17FBB}"/>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615C2D7D-A9C1-4BD0-A328-1C2997EB6904}"/>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082E423C-BF7C-4BCB-8D06-4F1DDA337F67}"/>
              </a:ext>
            </a:extLst>
          </p:cNvPr>
          <p:cNvSpPr>
            <a:spLocks xmlns:a="http://schemas.openxmlformats.org/drawingml/2006/main" noGrp="1"/>
          </p:cNvSpPr>
          <p:nvPr/>
        </p:nvSpPr>
        <p:spPr>
          <a:xfrm xmlns:a="http://schemas.openxmlformats.org/drawingml/2006/main">
            <a:off x="638175" y="158115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REVIEW 1 PROTOTYPE</a:t>
            </a:r>
          </a:p>
        </p:txBody>
      </p:sp>
      <p:sp>
        <p:nvSpPr>
          <p:cNvPr id="8" name="">
            <a:extLst xmlns:a="http://schemas.openxmlformats.org/drawingml/2006/main">
              <a:ext uri="{FF2B5EF4-FFF2-40B4-BE49-F238E27FC236}">
                <a16:creationId xmlns:a16="http://schemas.microsoft.com/office/drawing/2014/main" id="{9CF7AA77-96EB-4548-AA01-F9F7C4ECB763}"/>
              </a:ext>
            </a:extLst>
          </p:cNvPr>
          <p:cNvSpPr>
            <a:spLocks xmlns:a="http://schemas.openxmlformats.org/drawingml/2006/main" noGrp="1"/>
          </p:cNvSpPr>
          <p:nvPr/>
        </p:nvSpPr>
        <p:spPr>
          <a:xfrm xmlns:a="http://schemas.openxmlformats.org/drawingml/2006/main">
            <a:off x="638175" y="1924050"/>
            <a:ext cx="485775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BB889C3-5D34-4296-AFF0-6D0654DB0111}"/>
              </a:ext>
            </a:extLst>
          </p:cNvPr>
          <p:cNvSpPr>
            <a:spLocks xmlns:a="http://schemas.openxmlformats.org/drawingml/2006/main" noGrp="1"/>
          </p:cNvSpPr>
          <p:nvPr/>
        </p:nvSpPr>
        <p:spPr>
          <a:xfrm xmlns:a="http://schemas.openxmlformats.org/drawingml/2006/main">
            <a:off x="6334125" y="1581150"/>
            <a:ext cx="514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CURRENT IMPLEMENTATION</a:t>
            </a:r>
          </a:p>
        </p:txBody>
      </p:sp>
      <p:sp>
        <p:nvSpPr>
          <p:cNvPr id="10" name="">
            <a:extLst xmlns:a="http://schemas.openxmlformats.org/drawingml/2006/main">
              <a:ext uri="{FF2B5EF4-FFF2-40B4-BE49-F238E27FC236}">
                <a16:creationId xmlns:a16="http://schemas.microsoft.com/office/drawing/2014/main" id="{763F536E-7B23-4456-8A28-B630DD30846E}"/>
              </a:ext>
            </a:extLst>
          </p:cNvPr>
          <p:cNvSpPr>
            <a:spLocks xmlns:a="http://schemas.openxmlformats.org/drawingml/2006/main" noGrp="1"/>
          </p:cNvSpPr>
          <p:nvPr/>
        </p:nvSpPr>
        <p:spPr>
          <a:xfrm xmlns:a="http://schemas.openxmlformats.org/drawingml/2006/main">
            <a:off x="6334125" y="1924050"/>
            <a:ext cx="51435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D0A0838-151C-49CA-A7FE-AD0D12010BB7}"/>
              </a:ext>
            </a:extLst>
          </p:cNvPr>
          <p:cNvSpPr>
            <a:spLocks xmlns:a="http://schemas.openxmlformats.org/drawingml/2006/main" noGrp="1"/>
          </p:cNvSpPr>
          <p:nvPr/>
        </p:nvSpPr>
        <p:spPr>
          <a:xfrm xmlns:a="http://schemas.openxmlformats.org/drawingml/2006/main">
            <a:off x="647700" y="2143125"/>
            <a:ext cx="48577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F6F8FC"/>
                </a:solidFill>
                <a:latin typeface="Arial"/>
                <a:ea typeface="Arial"/>
                <a:cs typeface="Arial"/>
              </a:defRPr>
            </a:defPPr>
          </a:lstStyle>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Declarations and assignment</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Arithmetic expressions</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PRINT statements</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Basic tokens, AST, IR and constant folding</a:t>
            </a:r>
          </a:p>
        </p:txBody>
      </p:sp>
      <p:sp>
        <p:nvSpPr>
          <p:cNvPr id="12" name="">
            <a:extLst xmlns:a="http://schemas.openxmlformats.org/drawingml/2006/main">
              <a:ext uri="{FF2B5EF4-FFF2-40B4-BE49-F238E27FC236}">
                <a16:creationId xmlns:a16="http://schemas.microsoft.com/office/drawing/2014/main" id="{F0652930-DF9F-450E-952B-2844B35722F0}"/>
              </a:ext>
            </a:extLst>
          </p:cNvPr>
          <p:cNvSpPr>
            <a:spLocks xmlns:a="http://schemas.openxmlformats.org/drawingml/2006/main" noGrp="1"/>
          </p:cNvSpPr>
          <p:nvPr/>
        </p:nvSpPr>
        <p:spPr>
          <a:xfrm xmlns:a="http://schemas.openxmlformats.org/drawingml/2006/main">
            <a:off x="6343650" y="2143125"/>
            <a:ext cx="51435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IF/ELSE, WHILE and FOR</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One-dimensional arrays and scopes</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STRING, bitwise operators, BREAK/CONTINUE</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Contracts and selected automatic guards</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Stage-by-stage CLI output</a:t>
            </a:r>
          </a:p>
        </p:txBody>
      </p:sp>
      <p:sp>
        <p:nvSpPr>
          <p:cNvPr id="13" name="">
            <a:extLst xmlns:a="http://schemas.openxmlformats.org/drawingml/2006/main">
              <a:ext uri="{FF2B5EF4-FFF2-40B4-BE49-F238E27FC236}">
                <a16:creationId xmlns:a16="http://schemas.microsoft.com/office/drawing/2014/main" id="{DD3FF8F6-C35D-40BF-A873-F0A57CBC8AB1}"/>
              </a:ext>
            </a:extLst>
          </p:cNvPr>
          <p:cNvSpPr>
            <a:spLocks xmlns:a="http://schemas.openxmlformats.org/drawingml/2006/main" noGrp="1"/>
          </p:cNvSpPr>
          <p:nvPr/>
        </p:nvSpPr>
        <p:spPr>
          <a:xfrm xmlns:a="http://schemas.openxmlformats.org/drawingml/2006/main">
            <a:off x="590550" y="5238750"/>
            <a:ext cx="109537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90E6A4A-9D72-4DD2-BD39-AA2849AD52D3}"/>
              </a:ext>
            </a:extLst>
          </p:cNvPr>
          <p:cNvSpPr>
            <a:spLocks xmlns:a="http://schemas.openxmlformats.org/drawingml/2006/main" noGrp="1"/>
          </p:cNvSpPr>
          <p:nvPr/>
        </p:nvSpPr>
        <p:spPr>
          <a:xfrm xmlns:a="http://schemas.openxmlformats.org/drawingml/2006/main">
            <a:off x="647700" y="541020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0D5EA"/>
                </a:solidFill>
                <a:latin typeface="Arial"/>
                <a:ea typeface="Arial"/>
                <a:cs typeface="Arial"/>
              </a:defRPr>
            </a:defPPr>
          </a:lstStyle>
          <a:p xmlns:a="http://schemas.openxmlformats.org/drawingml/2006/main">
            <a:pPr>
              <a:defRPr sz="1800" b="1">
                <a:solidFill>
                  <a:srgbClr val="20D5EA"/>
                </a:solidFill>
                <a:latin typeface="Arial"/>
                <a:ea typeface="Arial"/>
                <a:cs typeface="Arial"/>
              </a:defRPr>
            </a:pPr>
            <a:r>
              <a:rPr sz="1800" b="1">
                <a:solidFill>
                  <a:srgbClr val="20D5EA"/>
                </a:solidFill>
                <a:latin typeface="Arial"/>
                <a:ea typeface="Arial"/>
                <a:cs typeface="Arial"/>
              </a:rPr>
              <a:t>Result: the compiler now translates and validates representative complete programs.</a:t>
            </a:r>
          </a:p>
        </p:txBody>
      </p:sp>
    </p:spTree>
    <p:extLst>
      <p:ext uri="{BB962C8B-B14F-4D97-AF65-F5344CB8AC3E}">
        <p14:creationId xmlns:p14="http://schemas.microsoft.com/office/powerpoint/2010/main" val="282394908"/>
      </p:ext>
    </p:extLst>
  </p:cSld>
</p:sld>
</file>

<file path=ppt/slides/slide4.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8EA38AEB-6B7F-4176-82E9-4CA9160C9AC9}"/>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30E408E-DF47-4F13-B980-FF83306222A6}"/>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Compiler modules and data flow</a:t>
            </a:r>
          </a:p>
        </p:txBody>
      </p:sp>
      <p:sp>
        <p:nvSpPr>
          <p:cNvPr id="3" name="">
            <a:extLst xmlns:a="http://schemas.openxmlformats.org/drawingml/2006/main">
              <a:ext uri="{FF2B5EF4-FFF2-40B4-BE49-F238E27FC236}">
                <a16:creationId xmlns:a16="http://schemas.microsoft.com/office/drawing/2014/main" id="{DF1C56D3-AF57-4262-BEF0-36B1538C2E0B}"/>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Each module transforms or checks a specific representation.</a:t>
            </a:r>
          </a:p>
        </p:txBody>
      </p:sp>
      <p:sp>
        <p:nvSpPr>
          <p:cNvPr id="4" name="">
            <a:extLst xmlns:a="http://schemas.openxmlformats.org/drawingml/2006/main">
              <a:ext uri="{FF2B5EF4-FFF2-40B4-BE49-F238E27FC236}">
                <a16:creationId xmlns:a16="http://schemas.microsoft.com/office/drawing/2014/main" id="{03F9FA9A-4432-49D4-94CC-EC0BED39A0CC}"/>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FE373AD-7EE7-455A-AEF0-3A7879510536}"/>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D368F3E6-C349-46A7-9F95-0332DA17081F}"/>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04</a:t>
            </a:r>
          </a:p>
        </p:txBody>
      </p:sp>
      <p:sp>
        <p:nvSpPr>
          <p:cNvPr id="7" name="">
            <a:extLst xmlns:a="http://schemas.openxmlformats.org/drawingml/2006/main">
              <a:ext uri="{FF2B5EF4-FFF2-40B4-BE49-F238E27FC236}">
                <a16:creationId xmlns:a16="http://schemas.microsoft.com/office/drawing/2014/main" id="{611A0B10-FA7C-4B12-ABE8-5417ADD0E127}"/>
              </a:ext>
            </a:extLst>
          </p:cNvPr>
          <p:cNvSpPr>
            <a:spLocks xmlns:a="http://schemas.openxmlformats.org/drawingml/2006/main" noGrp="1"/>
          </p:cNvSpPr>
          <p:nvPr/>
        </p:nvSpPr>
        <p:spPr>
          <a:xfrm xmlns:a="http://schemas.openxmlformats.org/drawingml/2006/main">
            <a:off x="628650" y="1876425"/>
            <a:ext cx="1619250" cy="990600"/>
          </a:xfrm>
          <a:prstGeom xmlns:a="http://schemas.openxmlformats.org/drawingml/2006/main" prst="roundRect">
            <a:avLst>
              <a:gd name="adj" fmla="val 7692"/>
            </a:avLst>
          </a:prstGeom>
          <a:solidFill xmlns:a="http://schemas.openxmlformats.org/drawingml/2006/main">
            <a:srgbClr val="101B2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3046820-4069-4A47-A83E-A7B96C7B90F6}"/>
              </a:ext>
            </a:extLst>
          </p:cNvPr>
          <p:cNvSpPr>
            <a:spLocks xmlns:a="http://schemas.openxmlformats.org/drawingml/2006/main" noGrp="1"/>
          </p:cNvSpPr>
          <p:nvPr/>
        </p:nvSpPr>
        <p:spPr>
          <a:xfrm xmlns:a="http://schemas.openxmlformats.org/drawingml/2006/main">
            <a:off x="762000" y="2009775"/>
            <a:ext cx="1352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SOURCE</a:t>
            </a:r>
          </a:p>
        </p:txBody>
      </p:sp>
      <p:sp>
        <p:nvSpPr>
          <p:cNvPr id="9" name="">
            <a:extLst xmlns:a="http://schemas.openxmlformats.org/drawingml/2006/main">
              <a:ext uri="{FF2B5EF4-FFF2-40B4-BE49-F238E27FC236}">
                <a16:creationId xmlns:a16="http://schemas.microsoft.com/office/drawing/2014/main" id="{D326B3CA-7A84-46CF-BFB9-7028BF72CDC9}"/>
              </a:ext>
            </a:extLst>
          </p:cNvPr>
          <p:cNvSpPr>
            <a:spLocks xmlns:a="http://schemas.openxmlformats.org/drawingml/2006/main" noGrp="1"/>
          </p:cNvSpPr>
          <p:nvPr/>
        </p:nvSpPr>
        <p:spPr>
          <a:xfrm xmlns:a="http://schemas.openxmlformats.org/drawingml/2006/main">
            <a:off x="762000" y="24479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AEBBD0"/>
                </a:solidFill>
                <a:latin typeface="Arial"/>
                <a:ea typeface="Arial"/>
                <a:cs typeface="Arial"/>
              </a:defRPr>
            </a:defPPr>
          </a:lstStyle>
          <a:p xmlns:a="http://schemas.openxmlformats.org/drawingml/2006/main">
            <a:pPr>
              <a:defRPr sz="1275" b="0">
                <a:solidFill>
                  <a:srgbClr val="AEBBD0"/>
                </a:solidFill>
                <a:latin typeface="Arial"/>
                <a:ea typeface="Arial"/>
                <a:cs typeface="Arial"/>
              </a:defRPr>
            </a:pPr>
            <a:r>
              <a:rPr sz="1275" b="0">
                <a:solidFill>
                  <a:srgbClr val="AEBBD0"/>
                </a:solidFill>
                <a:latin typeface="Arial"/>
                <a:ea typeface="Arial"/>
                <a:cs typeface="Arial"/>
              </a:rPr>
              <a:t>main.py</a:t>
            </a:r>
          </a:p>
        </p:txBody>
      </p:sp>
      <p:sp>
        <p:nvSpPr>
          <p:cNvPr id="10" name="">
            <a:extLst xmlns:a="http://schemas.openxmlformats.org/drawingml/2006/main">
              <a:ext uri="{FF2B5EF4-FFF2-40B4-BE49-F238E27FC236}">
                <a16:creationId xmlns:a16="http://schemas.microsoft.com/office/drawing/2014/main" id="{B36C08FA-BB7A-45BE-9DF4-CC0977B29B4A}"/>
              </a:ext>
            </a:extLst>
          </p:cNvPr>
          <p:cNvSpPr>
            <a:spLocks xmlns:a="http://schemas.openxmlformats.org/drawingml/2006/main" noGrp="1"/>
          </p:cNvSpPr>
          <p:nvPr/>
        </p:nvSpPr>
        <p:spPr>
          <a:xfrm xmlns:a="http://schemas.openxmlformats.org/drawingml/2006/main">
            <a:off x="2286000" y="2181225"/>
            <a:ext cx="28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DBA71E15-5C04-4483-93E6-52A2CC573010}"/>
              </a:ext>
            </a:extLst>
          </p:cNvPr>
          <p:cNvSpPr>
            <a:spLocks xmlns:a="http://schemas.openxmlformats.org/drawingml/2006/main" noGrp="1"/>
          </p:cNvSpPr>
          <p:nvPr/>
        </p:nvSpPr>
        <p:spPr>
          <a:xfrm xmlns:a="http://schemas.openxmlformats.org/drawingml/2006/main">
            <a:off x="2514600" y="1876425"/>
            <a:ext cx="1619250" cy="990600"/>
          </a:xfrm>
          <a:prstGeom xmlns:a="http://schemas.openxmlformats.org/drawingml/2006/main" prst="roundRect">
            <a:avLst>
              <a:gd name="adj" fmla="val 7692"/>
            </a:avLst>
          </a:prstGeom>
          <a:solidFill xmlns:a="http://schemas.openxmlformats.org/drawingml/2006/main">
            <a:srgbClr val="101B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52972E-DF65-4F21-AAEA-EBEEFB8ADE9D}"/>
              </a:ext>
            </a:extLst>
          </p:cNvPr>
          <p:cNvSpPr>
            <a:spLocks xmlns:a="http://schemas.openxmlformats.org/drawingml/2006/main" noGrp="1"/>
          </p:cNvSpPr>
          <p:nvPr/>
        </p:nvSpPr>
        <p:spPr>
          <a:xfrm xmlns:a="http://schemas.openxmlformats.org/drawingml/2006/main">
            <a:off x="2647950" y="2009775"/>
            <a:ext cx="1352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TOKENS</a:t>
            </a:r>
          </a:p>
        </p:txBody>
      </p:sp>
      <p:sp>
        <p:nvSpPr>
          <p:cNvPr id="13" name="">
            <a:extLst xmlns:a="http://schemas.openxmlformats.org/drawingml/2006/main">
              <a:ext uri="{FF2B5EF4-FFF2-40B4-BE49-F238E27FC236}">
                <a16:creationId xmlns:a16="http://schemas.microsoft.com/office/drawing/2014/main" id="{9FC868D4-9075-4DAE-9673-F7D1E3B9D812}"/>
              </a:ext>
            </a:extLst>
          </p:cNvPr>
          <p:cNvSpPr>
            <a:spLocks xmlns:a="http://schemas.openxmlformats.org/drawingml/2006/main" noGrp="1"/>
          </p:cNvSpPr>
          <p:nvPr/>
        </p:nvSpPr>
        <p:spPr>
          <a:xfrm xmlns:a="http://schemas.openxmlformats.org/drawingml/2006/main">
            <a:off x="2647950" y="24479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AEBBD0"/>
                </a:solidFill>
                <a:latin typeface="Arial"/>
                <a:ea typeface="Arial"/>
                <a:cs typeface="Arial"/>
              </a:defRPr>
            </a:defPPr>
          </a:lstStyle>
          <a:p xmlns:a="http://schemas.openxmlformats.org/drawingml/2006/main">
            <a:pPr>
              <a:defRPr sz="1275" b="0">
                <a:solidFill>
                  <a:srgbClr val="AEBBD0"/>
                </a:solidFill>
                <a:latin typeface="Arial"/>
                <a:ea typeface="Arial"/>
                <a:cs typeface="Arial"/>
              </a:defRPr>
            </a:pPr>
            <a:r>
              <a:rPr sz="1275" b="0">
                <a:solidFill>
                  <a:srgbClr val="AEBBD0"/>
                </a:solidFill>
                <a:latin typeface="Arial"/>
                <a:ea typeface="Arial"/>
                <a:cs typeface="Arial"/>
              </a:rPr>
              <a:t>lexer.py</a:t>
            </a:r>
          </a:p>
        </p:txBody>
      </p:sp>
      <p:sp>
        <p:nvSpPr>
          <p:cNvPr id="14" name="">
            <a:extLst xmlns:a="http://schemas.openxmlformats.org/drawingml/2006/main">
              <a:ext uri="{FF2B5EF4-FFF2-40B4-BE49-F238E27FC236}">
                <a16:creationId xmlns:a16="http://schemas.microsoft.com/office/drawing/2014/main" id="{F9792013-2AAA-480C-BAC8-1B261247F078}"/>
              </a:ext>
            </a:extLst>
          </p:cNvPr>
          <p:cNvSpPr>
            <a:spLocks xmlns:a="http://schemas.openxmlformats.org/drawingml/2006/main" noGrp="1"/>
          </p:cNvSpPr>
          <p:nvPr/>
        </p:nvSpPr>
        <p:spPr>
          <a:xfrm xmlns:a="http://schemas.openxmlformats.org/drawingml/2006/main">
            <a:off x="4171950" y="2181225"/>
            <a:ext cx="28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2C5EB175-3195-4DEA-A121-83C521479E95}"/>
              </a:ext>
            </a:extLst>
          </p:cNvPr>
          <p:cNvSpPr>
            <a:spLocks xmlns:a="http://schemas.openxmlformats.org/drawingml/2006/main" noGrp="1"/>
          </p:cNvSpPr>
          <p:nvPr/>
        </p:nvSpPr>
        <p:spPr>
          <a:xfrm xmlns:a="http://schemas.openxmlformats.org/drawingml/2006/main">
            <a:off x="4400550" y="1876425"/>
            <a:ext cx="1619250" cy="990600"/>
          </a:xfrm>
          <a:prstGeom xmlns:a="http://schemas.openxmlformats.org/drawingml/2006/main" prst="roundRect">
            <a:avLst>
              <a:gd name="adj" fmla="val 7692"/>
            </a:avLst>
          </a:prstGeom>
          <a:solidFill xmlns:a="http://schemas.openxmlformats.org/drawingml/2006/main">
            <a:srgbClr val="101B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52DCD8F-D250-42C2-9B80-7FC2CAD06499}"/>
              </a:ext>
            </a:extLst>
          </p:cNvPr>
          <p:cNvSpPr>
            <a:spLocks xmlns:a="http://schemas.openxmlformats.org/drawingml/2006/main" noGrp="1"/>
          </p:cNvSpPr>
          <p:nvPr/>
        </p:nvSpPr>
        <p:spPr>
          <a:xfrm xmlns:a="http://schemas.openxmlformats.org/drawingml/2006/main">
            <a:off x="4533900" y="2009775"/>
            <a:ext cx="1352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AST</a:t>
            </a:r>
          </a:p>
        </p:txBody>
      </p:sp>
      <p:sp>
        <p:nvSpPr>
          <p:cNvPr id="17" name="">
            <a:extLst xmlns:a="http://schemas.openxmlformats.org/drawingml/2006/main">
              <a:ext uri="{FF2B5EF4-FFF2-40B4-BE49-F238E27FC236}">
                <a16:creationId xmlns:a16="http://schemas.microsoft.com/office/drawing/2014/main" id="{37E6C807-2ADC-4178-BECA-7D56BD7D5FE4}"/>
              </a:ext>
            </a:extLst>
          </p:cNvPr>
          <p:cNvSpPr>
            <a:spLocks xmlns:a="http://schemas.openxmlformats.org/drawingml/2006/main" noGrp="1"/>
          </p:cNvSpPr>
          <p:nvPr/>
        </p:nvSpPr>
        <p:spPr>
          <a:xfrm xmlns:a="http://schemas.openxmlformats.org/drawingml/2006/main">
            <a:off x="4533900" y="24479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AEBBD0"/>
                </a:solidFill>
                <a:latin typeface="Arial"/>
                <a:ea typeface="Arial"/>
                <a:cs typeface="Arial"/>
              </a:defRPr>
            </a:defPPr>
          </a:lstStyle>
          <a:p xmlns:a="http://schemas.openxmlformats.org/drawingml/2006/main">
            <a:pPr>
              <a:defRPr sz="1275" b="0">
                <a:solidFill>
                  <a:srgbClr val="AEBBD0"/>
                </a:solidFill>
                <a:latin typeface="Arial"/>
                <a:ea typeface="Arial"/>
                <a:cs typeface="Arial"/>
              </a:defRPr>
            </a:pPr>
            <a:r>
              <a:rPr sz="1275" b="0">
                <a:solidFill>
                  <a:srgbClr val="AEBBD0"/>
                </a:solidFill>
                <a:latin typeface="Arial"/>
                <a:ea typeface="Arial"/>
                <a:cs typeface="Arial"/>
              </a:rPr>
              <a:t>parser.py</a:t>
            </a:r>
          </a:p>
        </p:txBody>
      </p:sp>
      <p:sp>
        <p:nvSpPr>
          <p:cNvPr id="18" name="">
            <a:extLst xmlns:a="http://schemas.openxmlformats.org/drawingml/2006/main">
              <a:ext uri="{FF2B5EF4-FFF2-40B4-BE49-F238E27FC236}">
                <a16:creationId xmlns:a16="http://schemas.microsoft.com/office/drawing/2014/main" id="{78989185-D84D-472E-8B7C-C0917F2EC5CA}"/>
              </a:ext>
            </a:extLst>
          </p:cNvPr>
          <p:cNvSpPr>
            <a:spLocks xmlns:a="http://schemas.openxmlformats.org/drawingml/2006/main" noGrp="1"/>
          </p:cNvSpPr>
          <p:nvPr/>
        </p:nvSpPr>
        <p:spPr>
          <a:xfrm xmlns:a="http://schemas.openxmlformats.org/drawingml/2006/main">
            <a:off x="6057900" y="2181225"/>
            <a:ext cx="28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AD00D69E-6DB9-41AA-B4A5-1F51A99583BB}"/>
              </a:ext>
            </a:extLst>
          </p:cNvPr>
          <p:cNvSpPr>
            <a:spLocks xmlns:a="http://schemas.openxmlformats.org/drawingml/2006/main" noGrp="1"/>
          </p:cNvSpPr>
          <p:nvPr/>
        </p:nvSpPr>
        <p:spPr>
          <a:xfrm xmlns:a="http://schemas.openxmlformats.org/drawingml/2006/main">
            <a:off x="6286500" y="1876425"/>
            <a:ext cx="1619250" cy="990600"/>
          </a:xfrm>
          <a:prstGeom xmlns:a="http://schemas.openxmlformats.org/drawingml/2006/main" prst="roundRect">
            <a:avLst>
              <a:gd name="adj" fmla="val 7692"/>
            </a:avLst>
          </a:prstGeom>
          <a:solidFill xmlns:a="http://schemas.openxmlformats.org/drawingml/2006/main">
            <a:srgbClr val="101B2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C36A3AE-2F5A-483E-AC30-CAA8ACE58EC2}"/>
              </a:ext>
            </a:extLst>
          </p:cNvPr>
          <p:cNvSpPr>
            <a:spLocks xmlns:a="http://schemas.openxmlformats.org/drawingml/2006/main" noGrp="1"/>
          </p:cNvSpPr>
          <p:nvPr/>
        </p:nvSpPr>
        <p:spPr>
          <a:xfrm xmlns:a="http://schemas.openxmlformats.org/drawingml/2006/main">
            <a:off x="6419850" y="2009775"/>
            <a:ext cx="1352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SYMBOLS</a:t>
            </a:r>
          </a:p>
        </p:txBody>
      </p:sp>
      <p:sp>
        <p:nvSpPr>
          <p:cNvPr id="21" name="">
            <a:extLst xmlns:a="http://schemas.openxmlformats.org/drawingml/2006/main">
              <a:ext uri="{FF2B5EF4-FFF2-40B4-BE49-F238E27FC236}">
                <a16:creationId xmlns:a16="http://schemas.microsoft.com/office/drawing/2014/main" id="{4C080F07-2AAA-45B7-A6D7-8F3DF1CFC77E}"/>
              </a:ext>
            </a:extLst>
          </p:cNvPr>
          <p:cNvSpPr>
            <a:spLocks xmlns:a="http://schemas.openxmlformats.org/drawingml/2006/main" noGrp="1"/>
          </p:cNvSpPr>
          <p:nvPr/>
        </p:nvSpPr>
        <p:spPr>
          <a:xfrm xmlns:a="http://schemas.openxmlformats.org/drawingml/2006/main">
            <a:off x="6419850" y="24479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AEBBD0"/>
                </a:solidFill>
                <a:latin typeface="Arial"/>
                <a:ea typeface="Arial"/>
                <a:cs typeface="Arial"/>
              </a:defRPr>
            </a:defPPr>
          </a:lstStyle>
          <a:p xmlns:a="http://schemas.openxmlformats.org/drawingml/2006/main">
            <a:pPr>
              <a:defRPr sz="1275" b="0">
                <a:solidFill>
                  <a:srgbClr val="AEBBD0"/>
                </a:solidFill>
                <a:latin typeface="Arial"/>
                <a:ea typeface="Arial"/>
                <a:cs typeface="Arial"/>
              </a:defRPr>
            </a:pPr>
            <a:r>
              <a:rPr sz="1275" b="0">
                <a:solidFill>
                  <a:srgbClr val="AEBBD0"/>
                </a:solidFill>
                <a:latin typeface="Arial"/>
                <a:ea typeface="Arial"/>
                <a:cs typeface="Arial"/>
              </a:rPr>
              <a:t>semantic.py</a:t>
            </a:r>
          </a:p>
        </p:txBody>
      </p:sp>
      <p:sp>
        <p:nvSpPr>
          <p:cNvPr id="22" name="">
            <a:extLst xmlns:a="http://schemas.openxmlformats.org/drawingml/2006/main">
              <a:ext uri="{FF2B5EF4-FFF2-40B4-BE49-F238E27FC236}">
                <a16:creationId xmlns:a16="http://schemas.microsoft.com/office/drawing/2014/main" id="{98644734-73FA-43FF-B47A-A488CAAA6F4B}"/>
              </a:ext>
            </a:extLst>
          </p:cNvPr>
          <p:cNvSpPr>
            <a:spLocks xmlns:a="http://schemas.openxmlformats.org/drawingml/2006/main" noGrp="1"/>
          </p:cNvSpPr>
          <p:nvPr/>
        </p:nvSpPr>
        <p:spPr>
          <a:xfrm xmlns:a="http://schemas.openxmlformats.org/drawingml/2006/main">
            <a:off x="7943850" y="2181225"/>
            <a:ext cx="28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516D6BE4-8F8A-4A42-B0B1-7530C46650BA}"/>
              </a:ext>
            </a:extLst>
          </p:cNvPr>
          <p:cNvSpPr>
            <a:spLocks xmlns:a="http://schemas.openxmlformats.org/drawingml/2006/main" noGrp="1"/>
          </p:cNvSpPr>
          <p:nvPr/>
        </p:nvSpPr>
        <p:spPr>
          <a:xfrm xmlns:a="http://schemas.openxmlformats.org/drawingml/2006/main">
            <a:off x="8172450" y="1876425"/>
            <a:ext cx="1619250" cy="990600"/>
          </a:xfrm>
          <a:prstGeom xmlns:a="http://schemas.openxmlformats.org/drawingml/2006/main" prst="roundRect">
            <a:avLst>
              <a:gd name="adj" fmla="val 7692"/>
            </a:avLst>
          </a:prstGeom>
          <a:solidFill xmlns:a="http://schemas.openxmlformats.org/drawingml/2006/main">
            <a:srgbClr val="101B2C"/>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002C7FC-1FCD-42D6-8EDF-AAB76141C086}"/>
              </a:ext>
            </a:extLst>
          </p:cNvPr>
          <p:cNvSpPr>
            <a:spLocks xmlns:a="http://schemas.openxmlformats.org/drawingml/2006/main" noGrp="1"/>
          </p:cNvSpPr>
          <p:nvPr/>
        </p:nvSpPr>
        <p:spPr>
          <a:xfrm xmlns:a="http://schemas.openxmlformats.org/drawingml/2006/main">
            <a:off x="8305800" y="2009775"/>
            <a:ext cx="1352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IR</a:t>
            </a:r>
          </a:p>
        </p:txBody>
      </p:sp>
      <p:sp>
        <p:nvSpPr>
          <p:cNvPr id="25" name="">
            <a:extLst xmlns:a="http://schemas.openxmlformats.org/drawingml/2006/main">
              <a:ext uri="{FF2B5EF4-FFF2-40B4-BE49-F238E27FC236}">
                <a16:creationId xmlns:a16="http://schemas.microsoft.com/office/drawing/2014/main" id="{58572BD5-2091-4904-B541-42C4B20287FA}"/>
              </a:ext>
            </a:extLst>
          </p:cNvPr>
          <p:cNvSpPr>
            <a:spLocks xmlns:a="http://schemas.openxmlformats.org/drawingml/2006/main" noGrp="1"/>
          </p:cNvSpPr>
          <p:nvPr/>
        </p:nvSpPr>
        <p:spPr>
          <a:xfrm xmlns:a="http://schemas.openxmlformats.org/drawingml/2006/main">
            <a:off x="8305800" y="24479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AEBBD0"/>
                </a:solidFill>
                <a:latin typeface="Arial"/>
                <a:ea typeface="Arial"/>
                <a:cs typeface="Arial"/>
              </a:defRPr>
            </a:defPPr>
          </a:lstStyle>
          <a:p xmlns:a="http://schemas.openxmlformats.org/drawingml/2006/main">
            <a:pPr>
              <a:defRPr sz="1275" b="0">
                <a:solidFill>
                  <a:srgbClr val="AEBBD0"/>
                </a:solidFill>
                <a:latin typeface="Arial"/>
                <a:ea typeface="Arial"/>
                <a:cs typeface="Arial"/>
              </a:defRPr>
            </a:pPr>
            <a:r>
              <a:rPr sz="1275" b="0">
                <a:solidFill>
                  <a:srgbClr val="AEBBD0"/>
                </a:solidFill>
                <a:latin typeface="Arial"/>
                <a:ea typeface="Arial"/>
                <a:cs typeface="Arial"/>
              </a:rPr>
              <a:t>ir.py</a:t>
            </a:r>
          </a:p>
        </p:txBody>
      </p:sp>
      <p:sp>
        <p:nvSpPr>
          <p:cNvPr id="26" name="">
            <a:extLst xmlns:a="http://schemas.openxmlformats.org/drawingml/2006/main">
              <a:ext uri="{FF2B5EF4-FFF2-40B4-BE49-F238E27FC236}">
                <a16:creationId xmlns:a16="http://schemas.microsoft.com/office/drawing/2014/main" id="{E3905470-1497-4AAB-B90F-67B1C27FDCAC}"/>
              </a:ext>
            </a:extLst>
          </p:cNvPr>
          <p:cNvSpPr>
            <a:spLocks xmlns:a="http://schemas.openxmlformats.org/drawingml/2006/main" noGrp="1"/>
          </p:cNvSpPr>
          <p:nvPr/>
        </p:nvSpPr>
        <p:spPr>
          <a:xfrm xmlns:a="http://schemas.openxmlformats.org/drawingml/2006/main">
            <a:off x="9829800" y="2181225"/>
            <a:ext cx="28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6F5D93F2-8673-4BE1-A67E-5D49C0F72E6E}"/>
              </a:ext>
            </a:extLst>
          </p:cNvPr>
          <p:cNvSpPr>
            <a:spLocks xmlns:a="http://schemas.openxmlformats.org/drawingml/2006/main" noGrp="1"/>
          </p:cNvSpPr>
          <p:nvPr/>
        </p:nvSpPr>
        <p:spPr>
          <a:xfrm xmlns:a="http://schemas.openxmlformats.org/drawingml/2006/main">
            <a:off x="10058400" y="1876425"/>
            <a:ext cx="1619250" cy="990600"/>
          </a:xfrm>
          <a:prstGeom xmlns:a="http://schemas.openxmlformats.org/drawingml/2006/main" prst="roundRect">
            <a:avLst>
              <a:gd name="adj" fmla="val 7692"/>
            </a:avLst>
          </a:prstGeom>
          <a:solidFill xmlns:a="http://schemas.openxmlformats.org/drawingml/2006/main">
            <a:srgbClr val="101B2C"/>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9690F43-A942-471E-9EEB-5EB5982BB579}"/>
              </a:ext>
            </a:extLst>
          </p:cNvPr>
          <p:cNvSpPr>
            <a:spLocks xmlns:a="http://schemas.openxmlformats.org/drawingml/2006/main" noGrp="1"/>
          </p:cNvSpPr>
          <p:nvPr/>
        </p:nvSpPr>
        <p:spPr>
          <a:xfrm xmlns:a="http://schemas.openxmlformats.org/drawingml/2006/main">
            <a:off x="10191750" y="2009775"/>
            <a:ext cx="13525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33D69B"/>
                </a:solidFill>
                <a:latin typeface="Arial"/>
                <a:ea typeface="Arial"/>
                <a:cs typeface="Arial"/>
              </a:defRPr>
            </a:defPPr>
          </a:lstStyle>
          <a:p xmlns:a="http://schemas.openxmlformats.org/drawingml/2006/main">
            <a:pPr>
              <a:defRPr sz="1650" b="1">
                <a:solidFill>
                  <a:srgbClr val="33D69B"/>
                </a:solidFill>
                <a:latin typeface="Arial"/>
                <a:ea typeface="Arial"/>
                <a:cs typeface="Arial"/>
              </a:defRPr>
            </a:pPr>
            <a:r>
              <a:rPr sz="1650" b="1">
                <a:solidFill>
                  <a:srgbClr val="33D69B"/>
                </a:solidFill>
                <a:latin typeface="Arial"/>
                <a:ea typeface="Arial"/>
                <a:cs typeface="Arial"/>
              </a:rPr>
              <a:t>C</a:t>
            </a:r>
          </a:p>
        </p:txBody>
      </p:sp>
      <p:sp>
        <p:nvSpPr>
          <p:cNvPr id="29" name="">
            <a:extLst xmlns:a="http://schemas.openxmlformats.org/drawingml/2006/main">
              <a:ext uri="{FF2B5EF4-FFF2-40B4-BE49-F238E27FC236}">
                <a16:creationId xmlns:a16="http://schemas.microsoft.com/office/drawing/2014/main" id="{67CBB33B-FD63-44D4-BF45-4276B193B260}"/>
              </a:ext>
            </a:extLst>
          </p:cNvPr>
          <p:cNvSpPr>
            <a:spLocks xmlns:a="http://schemas.openxmlformats.org/drawingml/2006/main" noGrp="1"/>
          </p:cNvSpPr>
          <p:nvPr/>
        </p:nvSpPr>
        <p:spPr>
          <a:xfrm xmlns:a="http://schemas.openxmlformats.org/drawingml/2006/main">
            <a:off x="10191750" y="24479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AEBBD0"/>
                </a:solidFill>
                <a:latin typeface="Arial"/>
                <a:ea typeface="Arial"/>
                <a:cs typeface="Arial"/>
              </a:defRPr>
            </a:defPPr>
          </a:lstStyle>
          <a:p xmlns:a="http://schemas.openxmlformats.org/drawingml/2006/main">
            <a:pPr>
              <a:defRPr sz="1275" b="0">
                <a:solidFill>
                  <a:srgbClr val="AEBBD0"/>
                </a:solidFill>
                <a:latin typeface="Arial"/>
                <a:ea typeface="Arial"/>
                <a:cs typeface="Arial"/>
              </a:defRPr>
            </a:pPr>
            <a:r>
              <a:rPr sz="1275" b="0">
                <a:solidFill>
                  <a:srgbClr val="AEBBD0"/>
                </a:solidFill>
                <a:latin typeface="Arial"/>
                <a:ea typeface="Arial"/>
                <a:cs typeface="Arial"/>
              </a:rPr>
              <a:t>cgen.py</a:t>
            </a:r>
          </a:p>
        </p:txBody>
      </p:sp>
      <p:sp>
        <p:nvSpPr>
          <p:cNvPr id="30" name="">
            <a:extLst xmlns:a="http://schemas.openxmlformats.org/drawingml/2006/main">
              <a:ext uri="{FF2B5EF4-FFF2-40B4-BE49-F238E27FC236}">
                <a16:creationId xmlns:a16="http://schemas.microsoft.com/office/drawing/2014/main" id="{082255D8-CEF5-45A7-A305-5F633518E12D}"/>
              </a:ext>
            </a:extLst>
          </p:cNvPr>
          <p:cNvSpPr>
            <a:spLocks xmlns:a="http://schemas.openxmlformats.org/drawingml/2006/main" noGrp="1"/>
          </p:cNvSpPr>
          <p:nvPr/>
        </p:nvSpPr>
        <p:spPr>
          <a:xfrm xmlns:a="http://schemas.openxmlformats.org/drawingml/2006/main">
            <a:off x="638175" y="3429000"/>
            <a:ext cx="108299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CHECKS AND TRANSFORMS</a:t>
            </a:r>
          </a:p>
        </p:txBody>
      </p:sp>
      <p:sp>
        <p:nvSpPr>
          <p:cNvPr id="31" name="">
            <a:extLst xmlns:a="http://schemas.openxmlformats.org/drawingml/2006/main">
              <a:ext uri="{FF2B5EF4-FFF2-40B4-BE49-F238E27FC236}">
                <a16:creationId xmlns:a16="http://schemas.microsoft.com/office/drawing/2014/main" id="{C05B61C1-44BD-43A0-9596-6F6A455B0CDD}"/>
              </a:ext>
            </a:extLst>
          </p:cNvPr>
          <p:cNvSpPr>
            <a:spLocks xmlns:a="http://schemas.openxmlformats.org/drawingml/2006/main" noGrp="1"/>
          </p:cNvSpPr>
          <p:nvPr/>
        </p:nvSpPr>
        <p:spPr>
          <a:xfrm xmlns:a="http://schemas.openxmlformats.org/drawingml/2006/main">
            <a:off x="638175" y="3771900"/>
            <a:ext cx="1082992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3F5FBC3-0AD5-4DF0-9999-7856A56F21DB}"/>
              </a:ext>
            </a:extLst>
          </p:cNvPr>
          <p:cNvSpPr>
            <a:spLocks xmlns:a="http://schemas.openxmlformats.org/drawingml/2006/main" noGrp="1"/>
          </p:cNvSpPr>
          <p:nvPr/>
        </p:nvSpPr>
        <p:spPr>
          <a:xfrm xmlns:a="http://schemas.openxmlformats.org/drawingml/2006/main">
            <a:off x="638175" y="3952875"/>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semantic.py checks names, types and scope</a:t>
            </a:r>
          </a:p>
        </p:txBody>
      </p:sp>
      <p:sp>
        <p:nvSpPr>
          <p:cNvPr id="33" name="">
            <a:extLst xmlns:a="http://schemas.openxmlformats.org/drawingml/2006/main">
              <a:ext uri="{FF2B5EF4-FFF2-40B4-BE49-F238E27FC236}">
                <a16:creationId xmlns:a16="http://schemas.microsoft.com/office/drawing/2014/main" id="{1726D702-D521-4F4E-8265-E0871E9D714C}"/>
              </a:ext>
            </a:extLst>
          </p:cNvPr>
          <p:cNvSpPr>
            <a:spLocks xmlns:a="http://schemas.openxmlformats.org/drawingml/2006/main" noGrp="1"/>
          </p:cNvSpPr>
          <p:nvPr/>
        </p:nvSpPr>
        <p:spPr>
          <a:xfrm xmlns:a="http://schemas.openxmlformats.org/drawingml/2006/main">
            <a:off x="6191250" y="3952875"/>
            <a:ext cx="514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optimizer.py folds safe constants</a:t>
            </a:r>
          </a:p>
        </p:txBody>
      </p:sp>
      <p:sp>
        <p:nvSpPr>
          <p:cNvPr id="34" name="">
            <a:extLst xmlns:a="http://schemas.openxmlformats.org/drawingml/2006/main">
              <a:ext uri="{FF2B5EF4-FFF2-40B4-BE49-F238E27FC236}">
                <a16:creationId xmlns:a16="http://schemas.microsoft.com/office/drawing/2014/main" id="{9B417DE6-6BD3-4A7C-9F76-FCADD92BE2C6}"/>
              </a:ext>
            </a:extLst>
          </p:cNvPr>
          <p:cNvSpPr>
            <a:spLocks xmlns:a="http://schemas.openxmlformats.org/drawingml/2006/main" noGrp="1"/>
          </p:cNvSpPr>
          <p:nvPr/>
        </p:nvSpPr>
        <p:spPr>
          <a:xfrm xmlns:a="http://schemas.openxmlformats.org/drawingml/2006/main">
            <a:off x="638175" y="45529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astview.py displays tree structure</a:t>
            </a:r>
          </a:p>
        </p:txBody>
      </p:sp>
      <p:sp>
        <p:nvSpPr>
          <p:cNvPr id="35" name="">
            <a:extLst xmlns:a="http://schemas.openxmlformats.org/drawingml/2006/main">
              <a:ext uri="{FF2B5EF4-FFF2-40B4-BE49-F238E27FC236}">
                <a16:creationId xmlns:a16="http://schemas.microsoft.com/office/drawing/2014/main" id="{2955375B-7EA9-48E2-9E71-02297B9A4180}"/>
              </a:ext>
            </a:extLst>
          </p:cNvPr>
          <p:cNvSpPr>
            <a:spLocks xmlns:a="http://schemas.openxmlformats.org/drawingml/2006/main" noGrp="1"/>
          </p:cNvSpPr>
          <p:nvPr/>
        </p:nvSpPr>
        <p:spPr>
          <a:xfrm xmlns:a="http://schemas.openxmlformats.org/drawingml/2006/main">
            <a:off x="6191250" y="4552950"/>
            <a:ext cx="5095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main.py shows every stage and can run C with GCC</a:t>
            </a:r>
          </a:p>
        </p:txBody>
      </p:sp>
    </p:spTree>
    <p:extLst>
      <p:ext uri="{BB962C8B-B14F-4D97-AF65-F5344CB8AC3E}">
        <p14:creationId xmlns:p14="http://schemas.microsoft.com/office/powerpoint/2010/main" val="877911337"/>
      </p:ext>
    </p:extLst>
  </p:cSld>
</p:sld>
</file>

<file path=ppt/slides/slide5.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0CD8FCA-2572-4673-9854-C89ADAA59223}"/>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55C1276-8C7C-4E3C-BD0C-8E9B3647E39D}"/>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One input through the compiler</a:t>
            </a:r>
          </a:p>
        </p:txBody>
      </p:sp>
      <p:sp>
        <p:nvSpPr>
          <p:cNvPr id="3" name="">
            <a:extLst xmlns:a="http://schemas.openxmlformats.org/drawingml/2006/main">
              <a:ext uri="{FF2B5EF4-FFF2-40B4-BE49-F238E27FC236}">
                <a16:creationId xmlns:a16="http://schemas.microsoft.com/office/drawing/2014/main" id="{D3BCDADF-2C7B-4EDC-837D-38FCCBEB9168}"/>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A small example makes the intermediate stages easy to explain.</a:t>
            </a:r>
          </a:p>
        </p:txBody>
      </p:sp>
      <p:sp>
        <p:nvSpPr>
          <p:cNvPr id="4" name="">
            <a:extLst xmlns:a="http://schemas.openxmlformats.org/drawingml/2006/main">
              <a:ext uri="{FF2B5EF4-FFF2-40B4-BE49-F238E27FC236}">
                <a16:creationId xmlns:a16="http://schemas.microsoft.com/office/drawing/2014/main" id="{ACD359F6-2D77-4095-A195-83543BD9453C}"/>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2BEE62B-DBCF-4E75-BF48-A9B4FD39D98B}"/>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47469DBE-486C-4D68-A137-66FC891D1622}"/>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05</a:t>
            </a:r>
          </a:p>
        </p:txBody>
      </p:sp>
      <p:sp>
        <p:nvSpPr>
          <p:cNvPr id="7" name="">
            <a:extLst xmlns:a="http://schemas.openxmlformats.org/drawingml/2006/main">
              <a:ext uri="{FF2B5EF4-FFF2-40B4-BE49-F238E27FC236}">
                <a16:creationId xmlns:a16="http://schemas.microsoft.com/office/drawing/2014/main" id="{1CEB7321-116C-4A01-9131-C84CEEAC8CA1}"/>
              </a:ext>
            </a:extLst>
          </p:cNvPr>
          <p:cNvSpPr>
            <a:spLocks xmlns:a="http://schemas.openxmlformats.org/drawingml/2006/main" noGrp="1"/>
          </p:cNvSpPr>
          <p:nvPr/>
        </p:nvSpPr>
        <p:spPr>
          <a:xfrm xmlns:a="http://schemas.openxmlformats.org/drawingml/2006/main">
            <a:off x="628650" y="1495425"/>
            <a:ext cx="2809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a:t>
            </a:r>
          </a:p>
        </p:txBody>
      </p:sp>
      <p:sp>
        <p:nvSpPr>
          <p:cNvPr id="8" name="">
            <a:extLst xmlns:a="http://schemas.openxmlformats.org/drawingml/2006/main">
              <a:ext uri="{FF2B5EF4-FFF2-40B4-BE49-F238E27FC236}">
                <a16:creationId xmlns:a16="http://schemas.microsoft.com/office/drawing/2014/main" id="{AD56D3D8-826B-4C77-8CE1-46FE7D95AFF8}"/>
              </a:ext>
            </a:extLst>
          </p:cNvPr>
          <p:cNvSpPr>
            <a:spLocks xmlns:a="http://schemas.openxmlformats.org/drawingml/2006/main" noGrp="1"/>
          </p:cNvSpPr>
          <p:nvPr/>
        </p:nvSpPr>
        <p:spPr>
          <a:xfrm xmlns:a="http://schemas.openxmlformats.org/drawingml/2006/main">
            <a:off x="628650" y="1838325"/>
            <a:ext cx="28098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26165CA-E8CF-4EB9-9BDC-DE2A2FB995B1}"/>
              </a:ext>
            </a:extLst>
          </p:cNvPr>
          <p:cNvSpPr>
            <a:spLocks xmlns:a="http://schemas.openxmlformats.org/drawingml/2006/main" noGrp="1"/>
          </p:cNvSpPr>
          <p:nvPr/>
        </p:nvSpPr>
        <p:spPr>
          <a:xfrm xmlns:a="http://schemas.openxmlformats.org/drawingml/2006/main">
            <a:off x="3657600" y="14954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ORIGINAL IR</a:t>
            </a:r>
          </a:p>
        </p:txBody>
      </p:sp>
      <p:sp>
        <p:nvSpPr>
          <p:cNvPr id="10" name="">
            <a:extLst xmlns:a="http://schemas.openxmlformats.org/drawingml/2006/main">
              <a:ext uri="{FF2B5EF4-FFF2-40B4-BE49-F238E27FC236}">
                <a16:creationId xmlns:a16="http://schemas.microsoft.com/office/drawing/2014/main" id="{7D4563EF-34A0-41F9-BB54-26DCDF39AF73}"/>
              </a:ext>
            </a:extLst>
          </p:cNvPr>
          <p:cNvSpPr>
            <a:spLocks xmlns:a="http://schemas.openxmlformats.org/drawingml/2006/main" noGrp="1"/>
          </p:cNvSpPr>
          <p:nvPr/>
        </p:nvSpPr>
        <p:spPr>
          <a:xfrm xmlns:a="http://schemas.openxmlformats.org/drawingml/2006/main">
            <a:off x="3657600" y="1838325"/>
            <a:ext cx="26670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AC19471-FF09-417C-9673-B4F6763DBF8F}"/>
              </a:ext>
            </a:extLst>
          </p:cNvPr>
          <p:cNvSpPr>
            <a:spLocks xmlns:a="http://schemas.openxmlformats.org/drawingml/2006/main" noGrp="1"/>
          </p:cNvSpPr>
          <p:nvPr/>
        </p:nvSpPr>
        <p:spPr>
          <a:xfrm xmlns:a="http://schemas.openxmlformats.org/drawingml/2006/main">
            <a:off x="6543675" y="14954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OPTIMIZED IR</a:t>
            </a:r>
          </a:p>
        </p:txBody>
      </p:sp>
      <p:sp>
        <p:nvSpPr>
          <p:cNvPr id="12" name="">
            <a:extLst xmlns:a="http://schemas.openxmlformats.org/drawingml/2006/main">
              <a:ext uri="{FF2B5EF4-FFF2-40B4-BE49-F238E27FC236}">
                <a16:creationId xmlns:a16="http://schemas.microsoft.com/office/drawing/2014/main" id="{70020FA0-B1AC-41AC-B832-81B83041FBE5}"/>
              </a:ext>
            </a:extLst>
          </p:cNvPr>
          <p:cNvSpPr>
            <a:spLocks xmlns:a="http://schemas.openxmlformats.org/drawingml/2006/main" noGrp="1"/>
          </p:cNvSpPr>
          <p:nvPr/>
        </p:nvSpPr>
        <p:spPr>
          <a:xfrm xmlns:a="http://schemas.openxmlformats.org/drawingml/2006/main">
            <a:off x="6543675" y="1838325"/>
            <a:ext cx="26670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593EF4E-1023-460A-9EF3-0067FF2EC78A}"/>
              </a:ext>
            </a:extLst>
          </p:cNvPr>
          <p:cNvSpPr>
            <a:spLocks xmlns:a="http://schemas.openxmlformats.org/drawingml/2006/main" noGrp="1"/>
          </p:cNvSpPr>
          <p:nvPr/>
        </p:nvSpPr>
        <p:spPr>
          <a:xfrm xmlns:a="http://schemas.openxmlformats.org/drawingml/2006/main">
            <a:off x="9429750" y="1495425"/>
            <a:ext cx="2143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F6B94D"/>
                </a:solidFill>
                <a:latin typeface="Arial"/>
                <a:ea typeface="Arial"/>
                <a:cs typeface="Arial"/>
              </a:defRPr>
            </a:defPPr>
          </a:lstStyle>
          <a:p xmlns:a="http://schemas.openxmlformats.org/drawingml/2006/main">
            <a:pPr>
              <a:defRPr sz="1350" b="1">
                <a:solidFill>
                  <a:srgbClr val="F6B94D"/>
                </a:solidFill>
                <a:latin typeface="Arial"/>
                <a:ea typeface="Arial"/>
                <a:cs typeface="Arial"/>
              </a:defRPr>
            </a:pPr>
            <a:r>
              <a:rPr sz="1350" b="1">
                <a:solidFill>
                  <a:srgbClr val="F6B94D"/>
                </a:solidFill>
                <a:latin typeface="Arial"/>
                <a:ea typeface="Arial"/>
                <a:cs typeface="Arial"/>
              </a:rPr>
              <a:t>C STATEMENTS</a:t>
            </a:r>
          </a:p>
        </p:txBody>
      </p:sp>
      <p:sp>
        <p:nvSpPr>
          <p:cNvPr id="14" name="">
            <a:extLst xmlns:a="http://schemas.openxmlformats.org/drawingml/2006/main">
              <a:ext uri="{FF2B5EF4-FFF2-40B4-BE49-F238E27FC236}">
                <a16:creationId xmlns:a16="http://schemas.microsoft.com/office/drawing/2014/main" id="{5EF93E5F-B531-4E92-9DA6-86787494C65C}"/>
              </a:ext>
            </a:extLst>
          </p:cNvPr>
          <p:cNvSpPr>
            <a:spLocks xmlns:a="http://schemas.openxmlformats.org/drawingml/2006/main" noGrp="1"/>
          </p:cNvSpPr>
          <p:nvPr/>
        </p:nvSpPr>
        <p:spPr>
          <a:xfrm xmlns:a="http://schemas.openxmlformats.org/drawingml/2006/main">
            <a:off x="9429750" y="1838325"/>
            <a:ext cx="2143125" cy="19050"/>
          </a:xfrm>
          <a:prstGeom xmlns:a="http://schemas.openxmlformats.org/drawingml/2006/main" prst="rect">
            <a:avLst/>
          </a:prstGeom>
          <a:solidFill xmlns:a="http://schemas.openxmlformats.org/drawingml/2006/main">
            <a:srgbClr val="F6B94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44044DD-7588-45DD-8F42-D93666FCCC10}"/>
              </a:ext>
            </a:extLst>
          </p:cNvPr>
          <p:cNvSpPr>
            <a:spLocks xmlns:a="http://schemas.openxmlformats.org/drawingml/2006/main" noGrp="1"/>
          </p:cNvSpPr>
          <p:nvPr/>
        </p:nvSpPr>
        <p:spPr>
          <a:xfrm xmlns:a="http://schemas.openxmlformats.org/drawingml/2006/main">
            <a:off x="619125" y="2000250"/>
            <a:ext cx="281940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5896A33-6AD5-4FFB-BF5C-7000C4D327E8}"/>
              </a:ext>
            </a:extLst>
          </p:cNvPr>
          <p:cNvSpPr>
            <a:spLocks xmlns:a="http://schemas.openxmlformats.org/drawingml/2006/main" noGrp="1"/>
          </p:cNvSpPr>
          <p:nvPr/>
        </p:nvSpPr>
        <p:spPr>
          <a:xfrm xmlns:a="http://schemas.openxmlformats.org/drawingml/2006/main">
            <a:off x="828675" y="2162175"/>
            <a:ext cx="240030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BEGIN</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AS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SET x = 2 + 3</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END</a:t>
            </a:r>
          </a:p>
        </p:txBody>
      </p:sp>
      <p:sp>
        <p:nvSpPr>
          <p:cNvPr id="17" name="">
            <a:extLst xmlns:a="http://schemas.openxmlformats.org/drawingml/2006/main">
              <a:ext uri="{FF2B5EF4-FFF2-40B4-BE49-F238E27FC236}">
                <a16:creationId xmlns:a16="http://schemas.microsoft.com/office/drawing/2014/main" id="{A4216F9E-7317-47C0-9E7D-6D65C686C7AD}"/>
              </a:ext>
            </a:extLst>
          </p:cNvPr>
          <p:cNvSpPr>
            <a:spLocks xmlns:a="http://schemas.openxmlformats.org/drawingml/2006/main" noGrp="1"/>
          </p:cNvSpPr>
          <p:nvPr/>
        </p:nvSpPr>
        <p:spPr>
          <a:xfrm xmlns:a="http://schemas.openxmlformats.org/drawingml/2006/main">
            <a:off x="3638550" y="2000250"/>
            <a:ext cx="268605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C64E6B2-C185-49D7-B4BF-BD78A24FCC2F}"/>
              </a:ext>
            </a:extLst>
          </p:cNvPr>
          <p:cNvSpPr>
            <a:spLocks xmlns:a="http://schemas.openxmlformats.org/drawingml/2006/main" noGrp="1"/>
          </p:cNvSpPr>
          <p:nvPr/>
        </p:nvSpPr>
        <p:spPr>
          <a:xfrm xmlns:a="http://schemas.openxmlformats.org/drawingml/2006/main">
            <a:off x="3848100" y="2162175"/>
            <a:ext cx="22669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t1 = 2 + 3</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t1</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p:txBody>
      </p:sp>
      <p:sp>
        <p:nvSpPr>
          <p:cNvPr id="19" name="">
            <a:extLst xmlns:a="http://schemas.openxmlformats.org/drawingml/2006/main">
              <a:ext uri="{FF2B5EF4-FFF2-40B4-BE49-F238E27FC236}">
                <a16:creationId xmlns:a16="http://schemas.microsoft.com/office/drawing/2014/main" id="{4144E0B5-9559-4782-A202-8E46CFE9C0FD}"/>
              </a:ext>
            </a:extLst>
          </p:cNvPr>
          <p:cNvSpPr>
            <a:spLocks xmlns:a="http://schemas.openxmlformats.org/drawingml/2006/main" noGrp="1"/>
          </p:cNvSpPr>
          <p:nvPr/>
        </p:nvSpPr>
        <p:spPr>
          <a:xfrm xmlns:a="http://schemas.openxmlformats.org/drawingml/2006/main">
            <a:off x="6534150" y="2000250"/>
            <a:ext cx="268605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EC9191A-BE4B-4A13-947F-2A8469278697}"/>
              </a:ext>
            </a:extLst>
          </p:cNvPr>
          <p:cNvSpPr>
            <a:spLocks xmlns:a="http://schemas.openxmlformats.org/drawingml/2006/main" noGrp="1"/>
          </p:cNvSpPr>
          <p:nvPr/>
        </p:nvSpPr>
        <p:spPr>
          <a:xfrm xmlns:a="http://schemas.openxmlformats.org/drawingml/2006/main">
            <a:off x="6743700" y="2162175"/>
            <a:ext cx="22669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5</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p:txBody>
      </p:sp>
      <p:sp>
        <p:nvSpPr>
          <p:cNvPr id="21" name="">
            <a:extLst xmlns:a="http://schemas.openxmlformats.org/drawingml/2006/main">
              <a:ext uri="{FF2B5EF4-FFF2-40B4-BE49-F238E27FC236}">
                <a16:creationId xmlns:a16="http://schemas.microsoft.com/office/drawing/2014/main" id="{A9CE278D-FE9B-41D1-8841-A2BC7619887A}"/>
              </a:ext>
            </a:extLst>
          </p:cNvPr>
          <p:cNvSpPr>
            <a:spLocks xmlns:a="http://schemas.openxmlformats.org/drawingml/2006/main" noGrp="1"/>
          </p:cNvSpPr>
          <p:nvPr/>
        </p:nvSpPr>
        <p:spPr>
          <a:xfrm xmlns:a="http://schemas.openxmlformats.org/drawingml/2006/main">
            <a:off x="9410700" y="2000250"/>
            <a:ext cx="2152650" cy="2219325"/>
          </a:xfrm>
          <a:prstGeom xmlns:a="http://schemas.openxmlformats.org/drawingml/2006/main" prst="roundRect">
            <a:avLst>
              <a:gd name="adj" fmla="val 4425"/>
            </a:avLst>
          </a:prstGeom>
          <a:solidFill xmlns:a="http://schemas.openxmlformats.org/drawingml/2006/main">
            <a:srgbClr val="101B2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35947D5-595F-454C-9162-73BD2167034D}"/>
              </a:ext>
            </a:extLst>
          </p:cNvPr>
          <p:cNvSpPr>
            <a:spLocks xmlns:a="http://schemas.openxmlformats.org/drawingml/2006/main" noGrp="1"/>
          </p:cNvSpPr>
          <p:nvPr/>
        </p:nvSpPr>
        <p:spPr>
          <a:xfrm xmlns:a="http://schemas.openxmlformats.org/drawingml/2006/main">
            <a:off x="9620250" y="2162175"/>
            <a:ext cx="17335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int x;</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x = 5;</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printf("%d\n", x);</a:t>
            </a:r>
          </a:p>
        </p:txBody>
      </p:sp>
      <p:sp>
        <p:nvSpPr>
          <p:cNvPr id="23" name="">
            <a:extLst xmlns:a="http://schemas.openxmlformats.org/drawingml/2006/main">
              <a:ext uri="{FF2B5EF4-FFF2-40B4-BE49-F238E27FC236}">
                <a16:creationId xmlns:a16="http://schemas.microsoft.com/office/drawing/2014/main" id="{913E1D75-A920-4C62-A62E-AF773E389736}"/>
              </a:ext>
            </a:extLst>
          </p:cNvPr>
          <p:cNvSpPr>
            <a:spLocks xmlns:a="http://schemas.openxmlformats.org/drawingml/2006/main" noGrp="1"/>
          </p:cNvSpPr>
          <p:nvPr/>
        </p:nvSpPr>
        <p:spPr>
          <a:xfrm xmlns:a="http://schemas.openxmlformats.org/drawingml/2006/main">
            <a:off x="628650" y="4619625"/>
            <a:ext cx="109156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2B2FAA4-D95E-4D1F-AE6F-BDE73DE6033C}"/>
              </a:ext>
            </a:extLst>
          </p:cNvPr>
          <p:cNvSpPr>
            <a:spLocks xmlns:a="http://schemas.openxmlformats.org/drawingml/2006/main" noGrp="1"/>
          </p:cNvSpPr>
          <p:nvPr/>
        </p:nvSpPr>
        <p:spPr>
          <a:xfrm xmlns:a="http://schemas.openxmlformats.org/drawingml/2006/main">
            <a:off x="638175" y="4772025"/>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Tokens identify DECLARE, SET, literals and operators. The AST records expression structure.</a:t>
            </a:r>
          </a:p>
        </p:txBody>
      </p:sp>
      <p:sp>
        <p:nvSpPr>
          <p:cNvPr id="25" name="">
            <a:extLst xmlns:a="http://schemas.openxmlformats.org/drawingml/2006/main">
              <a:ext uri="{FF2B5EF4-FFF2-40B4-BE49-F238E27FC236}">
                <a16:creationId xmlns:a16="http://schemas.microsoft.com/office/drawing/2014/main" id="{D229A79C-515F-4C1D-846B-062A5751C9D8}"/>
              </a:ext>
            </a:extLst>
          </p:cNvPr>
          <p:cNvSpPr>
            <a:spLocks xmlns:a="http://schemas.openxmlformats.org/drawingml/2006/main" noGrp="1"/>
          </p:cNvSpPr>
          <p:nvPr/>
        </p:nvSpPr>
        <p:spPr>
          <a:xfrm xmlns:a="http://schemas.openxmlformats.org/drawingml/2006/main">
            <a:off x="638175" y="5305425"/>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The symbol table records x as INTEGER. Compiled C prints 5.</a:t>
            </a:r>
          </a:p>
        </p:txBody>
      </p:sp>
    </p:spTree>
    <p:extLst>
      <p:ext uri="{BB962C8B-B14F-4D97-AF65-F5344CB8AC3E}">
        <p14:creationId xmlns:p14="http://schemas.microsoft.com/office/powerpoint/2010/main" val="510220405"/>
      </p:ext>
    </p:extLst>
  </p:cSld>
</p:sld>
</file>

<file path=ppt/slides/slide6.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32A799C-7F48-4C88-B2C3-0FDAE47F8A34}"/>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05D54EE-FA47-4E29-98E9-95F54AD69C90}"/>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Phase 2 language coverage</a:t>
            </a:r>
          </a:p>
        </p:txBody>
      </p:sp>
      <p:sp>
        <p:nvSpPr>
          <p:cNvPr id="3" name="">
            <a:extLst xmlns:a="http://schemas.openxmlformats.org/drawingml/2006/main">
              <a:ext uri="{FF2B5EF4-FFF2-40B4-BE49-F238E27FC236}">
                <a16:creationId xmlns:a16="http://schemas.microsoft.com/office/drawing/2014/main" id="{B2DD5987-964B-43F4-9AAA-03BC7BB712FF}"/>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current translator handles these restricted constructs end to end.</a:t>
            </a:r>
          </a:p>
        </p:txBody>
      </p:sp>
      <p:sp>
        <p:nvSpPr>
          <p:cNvPr id="4" name="">
            <a:extLst xmlns:a="http://schemas.openxmlformats.org/drawingml/2006/main">
              <a:ext uri="{FF2B5EF4-FFF2-40B4-BE49-F238E27FC236}">
                <a16:creationId xmlns:a16="http://schemas.microsoft.com/office/drawing/2014/main" id="{66D8EBBB-ECFE-4FDE-AE36-59BC6DA338B6}"/>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3F9E502-0FBA-4319-A3C6-34BDB1F8FEE1}"/>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D47964CE-685D-47F8-A087-BD073A8CF84C}"/>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FFC21713-A1D4-492A-820C-00E7BCFBA154}"/>
              </a:ext>
            </a:extLst>
          </p:cNvPr>
          <p:cNvSpPr>
            <a:spLocks xmlns:a="http://schemas.openxmlformats.org/drawingml/2006/main" noGrp="1"/>
          </p:cNvSpPr>
          <p:nvPr/>
        </p:nvSpPr>
        <p:spPr>
          <a:xfrm xmlns:a="http://schemas.openxmlformats.org/drawingml/2006/main">
            <a:off x="628650" y="1562100"/>
            <a:ext cx="5000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CONTROL FLOW</a:t>
            </a:r>
          </a:p>
        </p:txBody>
      </p:sp>
      <p:sp>
        <p:nvSpPr>
          <p:cNvPr id="8" name="">
            <a:extLst xmlns:a="http://schemas.openxmlformats.org/drawingml/2006/main">
              <a:ext uri="{FF2B5EF4-FFF2-40B4-BE49-F238E27FC236}">
                <a16:creationId xmlns:a16="http://schemas.microsoft.com/office/drawing/2014/main" id="{6320D0A1-73C9-4794-B6B0-33969E4CB515}"/>
              </a:ext>
            </a:extLst>
          </p:cNvPr>
          <p:cNvSpPr>
            <a:spLocks xmlns:a="http://schemas.openxmlformats.org/drawingml/2006/main" noGrp="1"/>
          </p:cNvSpPr>
          <p:nvPr/>
        </p:nvSpPr>
        <p:spPr>
          <a:xfrm xmlns:a="http://schemas.openxmlformats.org/drawingml/2006/main">
            <a:off x="628650" y="1905000"/>
            <a:ext cx="5000625"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3CA3097-178E-406A-9139-4E90AEBA0DD7}"/>
              </a:ext>
            </a:extLst>
          </p:cNvPr>
          <p:cNvSpPr>
            <a:spLocks xmlns:a="http://schemas.openxmlformats.org/drawingml/2006/main" noGrp="1"/>
          </p:cNvSpPr>
          <p:nvPr/>
        </p:nvSpPr>
        <p:spPr>
          <a:xfrm xmlns:a="http://schemas.openxmlformats.org/drawingml/2006/main">
            <a:off x="638175" y="2066925"/>
            <a:ext cx="4714875" cy="2162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F6F8FC"/>
                </a:solidFill>
                <a:latin typeface="Arial"/>
                <a:ea typeface="Arial"/>
                <a:cs typeface="Arial"/>
              </a:defRPr>
            </a:defPPr>
          </a:lstStyle>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IF / ELSE</a:t>
            </a:r>
          </a:p>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WHILE</a:t>
            </a:r>
          </a:p>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Inclusive FOR with STEP</a:t>
            </a:r>
          </a:p>
          <a:p xmlns:a="http://schemas.openxmlformats.org/drawingml/2006/main">
            <a:pPr>
              <a:defRPr sz="1950" b="0">
                <a:solidFill>
                  <a:srgbClr val="F6F8FC"/>
                </a:solidFill>
                <a:latin typeface="Arial"/>
                <a:ea typeface="Arial"/>
                <a:cs typeface="Arial"/>
              </a:defRPr>
            </a:pPr>
            <a:r>
              <a:rPr sz="1950" b="0">
                <a:solidFill>
                  <a:srgbClr val="F6F8FC"/>
                </a:solidFill>
                <a:latin typeface="Arial"/>
                <a:ea typeface="Arial"/>
                <a:cs typeface="Arial"/>
              </a:rPr>
              <a:t>BREAK and CONTINUE</a:t>
            </a:r>
          </a:p>
        </p:txBody>
      </p:sp>
      <p:sp>
        <p:nvSpPr>
          <p:cNvPr id="10" name="">
            <a:extLst xmlns:a="http://schemas.openxmlformats.org/drawingml/2006/main">
              <a:ext uri="{FF2B5EF4-FFF2-40B4-BE49-F238E27FC236}">
                <a16:creationId xmlns:a16="http://schemas.microsoft.com/office/drawing/2014/main" id="{9EBCE9DD-6123-4EF3-9ADA-89C348065F32}"/>
              </a:ext>
            </a:extLst>
          </p:cNvPr>
          <p:cNvSpPr>
            <a:spLocks xmlns:a="http://schemas.openxmlformats.org/drawingml/2006/main" noGrp="1"/>
          </p:cNvSpPr>
          <p:nvPr/>
        </p:nvSpPr>
        <p:spPr>
          <a:xfrm xmlns:a="http://schemas.openxmlformats.org/drawingml/2006/main">
            <a:off x="6172200" y="1562100"/>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DATA AND OPERATIONS</a:t>
            </a:r>
          </a:p>
        </p:txBody>
      </p:sp>
      <p:sp>
        <p:nvSpPr>
          <p:cNvPr id="11" name="">
            <a:extLst xmlns:a="http://schemas.openxmlformats.org/drawingml/2006/main">
              <a:ext uri="{FF2B5EF4-FFF2-40B4-BE49-F238E27FC236}">
                <a16:creationId xmlns:a16="http://schemas.microsoft.com/office/drawing/2014/main" id="{9095C428-E07A-4C68-ABC8-AB2AEA8318CB}"/>
              </a:ext>
            </a:extLst>
          </p:cNvPr>
          <p:cNvSpPr>
            <a:spLocks xmlns:a="http://schemas.openxmlformats.org/drawingml/2006/main" noGrp="1"/>
          </p:cNvSpPr>
          <p:nvPr/>
        </p:nvSpPr>
        <p:spPr>
          <a:xfrm xmlns:a="http://schemas.openxmlformats.org/drawingml/2006/main">
            <a:off x="6172200" y="1905000"/>
            <a:ext cx="5286375"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E43546-1467-4B6B-A88A-42C52F5C21F8}"/>
              </a:ext>
            </a:extLst>
          </p:cNvPr>
          <p:cNvSpPr>
            <a:spLocks xmlns:a="http://schemas.openxmlformats.org/drawingml/2006/main" noGrp="1"/>
          </p:cNvSpPr>
          <p:nvPr/>
        </p:nvSpPr>
        <p:spPr>
          <a:xfrm xmlns:a="http://schemas.openxmlformats.org/drawingml/2006/main">
            <a:off x="6181725" y="2066925"/>
            <a:ext cx="5238750" cy="2162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F6F8FC"/>
                </a:solidFill>
                <a:latin typeface="Arial"/>
                <a:ea typeface="Arial"/>
                <a:cs typeface="Arial"/>
              </a:defRPr>
            </a:defPPr>
          </a:lstStyle>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INTEGER, REAL, CHAR, STRING</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Fixed-size 1D arrays</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Bitwise &amp;, |, ^, ~, &lt;&lt;, &gt;&gt;</a:t>
            </a:r>
          </a:p>
          <a:p xmlns:a="http://schemas.openxmlformats.org/drawingml/2006/main">
            <a:pPr>
              <a:defRPr sz="1875" b="0">
                <a:solidFill>
                  <a:srgbClr val="F6F8FC"/>
                </a:solidFill>
                <a:latin typeface="Arial"/>
                <a:ea typeface="Arial"/>
                <a:cs typeface="Arial"/>
              </a:defRPr>
            </a:pPr>
            <a:r>
              <a:rPr sz="1875" b="0">
                <a:solidFill>
                  <a:srgbClr val="F6F8FC"/>
                </a:solidFill>
                <a:latin typeface="Arial"/>
                <a:ea typeface="Arial"/>
                <a:cs typeface="Arial"/>
              </a:rPr>
              <a:t>READ, PRINT and optional contracts</a:t>
            </a:r>
          </a:p>
        </p:txBody>
      </p:sp>
      <p:sp>
        <p:nvSpPr>
          <p:cNvPr id="13" name="">
            <a:extLst xmlns:a="http://schemas.openxmlformats.org/drawingml/2006/main">
              <a:ext uri="{FF2B5EF4-FFF2-40B4-BE49-F238E27FC236}">
                <a16:creationId xmlns:a16="http://schemas.microsoft.com/office/drawing/2014/main" id="{7F565487-33D8-40A3-A4C4-68B224785986}"/>
              </a:ext>
            </a:extLst>
          </p:cNvPr>
          <p:cNvSpPr>
            <a:spLocks xmlns:a="http://schemas.openxmlformats.org/drawingml/2006/main" noGrp="1"/>
          </p:cNvSpPr>
          <p:nvPr/>
        </p:nvSpPr>
        <p:spPr>
          <a:xfrm xmlns:a="http://schemas.openxmlformats.org/drawingml/2006/main">
            <a:off x="628650" y="4572000"/>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13EFCC7-4957-47B0-B740-AE7B3B4D11B5}"/>
              </a:ext>
            </a:extLst>
          </p:cNvPr>
          <p:cNvSpPr>
            <a:spLocks xmlns:a="http://schemas.openxmlformats.org/drawingml/2006/main" noGrp="1"/>
          </p:cNvSpPr>
          <p:nvPr/>
        </p:nvSpPr>
        <p:spPr>
          <a:xfrm xmlns:a="http://schemas.openxmlformats.org/drawingml/2006/main">
            <a:off x="647700" y="4810125"/>
            <a:ext cx="419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Consolas"/>
                <a:ea typeface="Consolas"/>
                <a:cs typeface="Consolas"/>
              </a:defRPr>
            </a:defPPr>
          </a:lstStyle>
          <a:p xmlns:a="http://schemas.openxmlformats.org/drawingml/2006/main">
            <a:pPr>
              <a:defRPr sz="1650" b="0">
                <a:solidFill>
                  <a:srgbClr val="AEBBD0"/>
                </a:solidFill>
                <a:latin typeface="Consolas"/>
                <a:ea typeface="Consolas"/>
                <a:cs typeface="Consolas"/>
              </a:defRPr>
            </a:pPr>
            <a:r>
              <a:rPr sz="1650" b="0">
                <a:solidFill>
                  <a:srgbClr val="AEBBD0"/>
                </a:solidFill>
                <a:latin typeface="Consolas"/>
                <a:ea typeface="Consolas"/>
                <a:cs typeface="Consolas"/>
              </a:rPr>
              <a:t>FOR i = 1 TO 4 DO</a:t>
            </a:r>
          </a:p>
        </p:txBody>
      </p:sp>
      <p:sp>
        <p:nvSpPr>
          <p:cNvPr id="15" name="">
            <a:extLst xmlns:a="http://schemas.openxmlformats.org/drawingml/2006/main">
              <a:ext uri="{FF2B5EF4-FFF2-40B4-BE49-F238E27FC236}">
                <a16:creationId xmlns:a16="http://schemas.microsoft.com/office/drawing/2014/main" id="{FA6C8009-B0BF-4FC9-8622-83EF035388DD}"/>
              </a:ext>
            </a:extLst>
          </p:cNvPr>
          <p:cNvSpPr>
            <a:spLocks xmlns:a="http://schemas.openxmlformats.org/drawingml/2006/main" noGrp="1"/>
          </p:cNvSpPr>
          <p:nvPr/>
        </p:nvSpPr>
        <p:spPr>
          <a:xfrm xmlns:a="http://schemas.openxmlformats.org/drawingml/2006/main">
            <a:off x="5619750" y="4810125"/>
            <a:ext cx="5810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Consolas"/>
                <a:ea typeface="Consolas"/>
                <a:cs typeface="Consolas"/>
              </a:defRPr>
            </a:defPPr>
          </a:lstStyle>
          <a:p xmlns:a="http://schemas.openxmlformats.org/drawingml/2006/main">
            <a:pPr>
              <a:defRPr sz="1650" b="1">
                <a:solidFill>
                  <a:srgbClr val="20D5EA"/>
                </a:solidFill>
                <a:latin typeface="Consolas"/>
                <a:ea typeface="Consolas"/>
                <a:cs typeface="Consolas"/>
              </a:defRPr>
            </a:pPr>
            <a:r>
              <a:rPr sz="1650" b="1">
                <a:solidFill>
                  <a:srgbClr val="20D5EA"/>
                </a:solidFill>
                <a:latin typeface="Consolas"/>
                <a:ea typeface="Consolas"/>
                <a:cs typeface="Consolas"/>
              </a:rPr>
              <a:t>for (i = 1; i &lt;= 4; i++) { ... }</a:t>
            </a:r>
          </a:p>
        </p:txBody>
      </p:sp>
      <p:sp>
        <p:nvSpPr>
          <p:cNvPr id="16" name="">
            <a:extLst xmlns:a="http://schemas.openxmlformats.org/drawingml/2006/main">
              <a:ext uri="{FF2B5EF4-FFF2-40B4-BE49-F238E27FC236}">
                <a16:creationId xmlns:a16="http://schemas.microsoft.com/office/drawing/2014/main" id="{194A466C-3351-48B0-96BC-1FB299D14913}"/>
              </a:ext>
            </a:extLst>
          </p:cNvPr>
          <p:cNvSpPr>
            <a:spLocks xmlns:a="http://schemas.openxmlformats.org/drawingml/2006/main" noGrp="1"/>
          </p:cNvSpPr>
          <p:nvPr/>
        </p:nvSpPr>
        <p:spPr>
          <a:xfrm xmlns:a="http://schemas.openxmlformats.org/drawingml/2006/main">
            <a:off x="647700" y="54292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The generated C uses a normal for loop and normal continue for this case.</a:t>
            </a:r>
          </a:p>
        </p:txBody>
      </p:sp>
    </p:spTree>
    <p:extLst>
      <p:ext uri="{BB962C8B-B14F-4D97-AF65-F5344CB8AC3E}">
        <p14:creationId xmlns:p14="http://schemas.microsoft.com/office/powerpoint/2010/main" val="897779007"/>
      </p:ext>
    </p:extLst>
  </p:cSld>
</p:sld>
</file>

<file path=ppt/slides/slide7.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80DBA09-B7C0-45CA-8881-690D94D12741}"/>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58B1A5-66AE-4881-88AA-B69168DE7248}"/>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Implemented improvement: automatic guards</a:t>
            </a:r>
          </a:p>
        </p:txBody>
      </p:sp>
      <p:sp>
        <p:nvSpPr>
          <p:cNvPr id="3" name="">
            <a:extLst xmlns:a="http://schemas.openxmlformats.org/drawingml/2006/main">
              <a:ext uri="{FF2B5EF4-FFF2-40B4-BE49-F238E27FC236}">
                <a16:creationId xmlns:a16="http://schemas.microsoft.com/office/drawing/2014/main" id="{9C39D4AD-0123-4D16-9677-CDBD9C9326FA}"/>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generator adds selected checks based on the operation it sees.</a:t>
            </a:r>
          </a:p>
        </p:txBody>
      </p:sp>
      <p:sp>
        <p:nvSpPr>
          <p:cNvPr id="4" name="">
            <a:extLst xmlns:a="http://schemas.openxmlformats.org/drawingml/2006/main">
              <a:ext uri="{FF2B5EF4-FFF2-40B4-BE49-F238E27FC236}">
                <a16:creationId xmlns:a16="http://schemas.microsoft.com/office/drawing/2014/main" id="{185EE3C6-C307-48AC-8412-890F2B43A255}"/>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A90F505-9873-4836-995D-3E2888F6B556}"/>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0983A59A-0246-4BFE-9C2E-C22D0D138B5B}"/>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51236DD0-B5FC-4CE0-97C5-EF797C53E052}"/>
              </a:ext>
            </a:extLst>
          </p:cNvPr>
          <p:cNvSpPr>
            <a:spLocks xmlns:a="http://schemas.openxmlformats.org/drawingml/2006/main" noGrp="1"/>
          </p:cNvSpPr>
          <p:nvPr/>
        </p:nvSpPr>
        <p:spPr>
          <a:xfrm xmlns:a="http://schemas.openxmlformats.org/drawingml/2006/main">
            <a:off x="628650" y="1514475"/>
            <a:ext cx="5000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 EXCERPT</a:t>
            </a:r>
          </a:p>
        </p:txBody>
      </p:sp>
      <p:sp>
        <p:nvSpPr>
          <p:cNvPr id="8" name="">
            <a:extLst xmlns:a="http://schemas.openxmlformats.org/drawingml/2006/main">
              <a:ext uri="{FF2B5EF4-FFF2-40B4-BE49-F238E27FC236}">
                <a16:creationId xmlns:a16="http://schemas.microsoft.com/office/drawing/2014/main" id="{E36B05E8-8059-4721-AE6F-7E0B12CB4429}"/>
              </a:ext>
            </a:extLst>
          </p:cNvPr>
          <p:cNvSpPr>
            <a:spLocks xmlns:a="http://schemas.openxmlformats.org/drawingml/2006/main" noGrp="1"/>
          </p:cNvSpPr>
          <p:nvPr/>
        </p:nvSpPr>
        <p:spPr>
          <a:xfrm xmlns:a="http://schemas.openxmlformats.org/drawingml/2006/main">
            <a:off x="628650" y="1857375"/>
            <a:ext cx="500062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46BBF9E-B17B-4D06-B005-00CCA3CFB6CC}"/>
              </a:ext>
            </a:extLst>
          </p:cNvPr>
          <p:cNvSpPr>
            <a:spLocks xmlns:a="http://schemas.openxmlformats.org/drawingml/2006/main" noGrp="1"/>
          </p:cNvSpPr>
          <p:nvPr/>
        </p:nvSpPr>
        <p:spPr>
          <a:xfrm xmlns:a="http://schemas.openxmlformats.org/drawingml/2006/main">
            <a:off x="619125" y="2000250"/>
            <a:ext cx="5010150" cy="1847850"/>
          </a:xfrm>
          <a:prstGeom xmlns:a="http://schemas.openxmlformats.org/drawingml/2006/main" prst="roundRect">
            <a:avLst>
              <a:gd name="adj" fmla="val 5155"/>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46C44B-F57A-4432-9A18-62C3432E149C}"/>
              </a:ext>
            </a:extLst>
          </p:cNvPr>
          <p:cNvSpPr>
            <a:spLocks xmlns:a="http://schemas.openxmlformats.org/drawingml/2006/main" noGrp="1"/>
          </p:cNvSpPr>
          <p:nvPr/>
        </p:nvSpPr>
        <p:spPr>
          <a:xfrm xmlns:a="http://schemas.openxmlformats.org/drawingml/2006/main">
            <a:off x="828675" y="2162175"/>
            <a:ext cx="45910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Consolas"/>
                <a:ea typeface="Consolas"/>
                <a:cs typeface="Consolas"/>
              </a:defRPr>
            </a:defPPr>
          </a:lstStyle>
          <a:p xmlns:a="http://schemas.openxmlformats.org/drawingml/2006/main">
            <a:pPr>
              <a:defRPr sz="1725" b="0">
                <a:solidFill>
                  <a:srgbClr val="F6F8FC"/>
                </a:solidFill>
                <a:latin typeface="Consolas"/>
                <a:ea typeface="Consolas"/>
                <a:cs typeface="Consolas"/>
              </a:defRPr>
            </a:pPr>
            <a:r>
              <a:rPr sz="1725" b="0">
                <a:solidFill>
                  <a:srgbClr val="F6F8FC"/>
                </a:solidFill>
                <a:latin typeface="Consolas"/>
                <a:ea typeface="Consolas"/>
                <a:cs typeface="Consolas"/>
              </a:rPr>
              <a:t>READ dividend</a:t>
            </a:r>
          </a:p>
          <a:p xmlns:a="http://schemas.openxmlformats.org/drawingml/2006/main">
            <a:pPr>
              <a:defRPr sz="1725" b="0">
                <a:solidFill>
                  <a:srgbClr val="F6F8FC"/>
                </a:solidFill>
                <a:latin typeface="Consolas"/>
                <a:ea typeface="Consolas"/>
                <a:cs typeface="Consolas"/>
              </a:defRPr>
            </a:pPr>
            <a:r>
              <a:rPr sz="1725" b="0">
                <a:solidFill>
                  <a:srgbClr val="F6F8FC"/>
                </a:solidFill>
                <a:latin typeface="Consolas"/>
                <a:ea typeface="Consolas"/>
                <a:cs typeface="Consolas"/>
              </a:rPr>
              <a:t>READ divisor</a:t>
            </a:r>
          </a:p>
          <a:p xmlns:a="http://schemas.openxmlformats.org/drawingml/2006/main">
            <a:pPr>
              <a:defRPr sz="1725" b="0">
                <a:solidFill>
                  <a:srgbClr val="F6F8FC"/>
                </a:solidFill>
                <a:latin typeface="Consolas"/>
                <a:ea typeface="Consolas"/>
                <a:cs typeface="Consolas"/>
              </a:defRPr>
            </a:pPr>
            <a:r>
              <a:rPr sz="1725" b="0">
                <a:solidFill>
                  <a:srgbClr val="F6F8FC"/>
                </a:solidFill>
                <a:latin typeface="Consolas"/>
                <a:ea typeface="Consolas"/>
                <a:cs typeface="Consolas"/>
              </a:rPr>
              <a:t>PRINT dividend / divisor</a:t>
            </a:r>
          </a:p>
        </p:txBody>
      </p:sp>
      <p:sp>
        <p:nvSpPr>
          <p:cNvPr id="11" name="">
            <a:extLst xmlns:a="http://schemas.openxmlformats.org/drawingml/2006/main">
              <a:ext uri="{FF2B5EF4-FFF2-40B4-BE49-F238E27FC236}">
                <a16:creationId xmlns:a16="http://schemas.microsoft.com/office/drawing/2014/main" id="{C9A9A842-0249-4820-90C2-9BB12046CE0E}"/>
              </a:ext>
            </a:extLst>
          </p:cNvPr>
          <p:cNvSpPr>
            <a:spLocks xmlns:a="http://schemas.openxmlformats.org/drawingml/2006/main" noGrp="1"/>
          </p:cNvSpPr>
          <p:nvPr/>
        </p:nvSpPr>
        <p:spPr>
          <a:xfrm xmlns:a="http://schemas.openxmlformats.org/drawingml/2006/main">
            <a:off x="6191250" y="1514475"/>
            <a:ext cx="5286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C CHECK (ABBREVIATED)</a:t>
            </a:r>
          </a:p>
        </p:txBody>
      </p:sp>
      <p:sp>
        <p:nvSpPr>
          <p:cNvPr id="12" name="">
            <a:extLst xmlns:a="http://schemas.openxmlformats.org/drawingml/2006/main">
              <a:ext uri="{FF2B5EF4-FFF2-40B4-BE49-F238E27FC236}">
                <a16:creationId xmlns:a16="http://schemas.microsoft.com/office/drawing/2014/main" id="{2906313D-6FDA-4226-8455-37F214F40CEA}"/>
              </a:ext>
            </a:extLst>
          </p:cNvPr>
          <p:cNvSpPr>
            <a:spLocks xmlns:a="http://schemas.openxmlformats.org/drawingml/2006/main" noGrp="1"/>
          </p:cNvSpPr>
          <p:nvPr/>
        </p:nvSpPr>
        <p:spPr>
          <a:xfrm xmlns:a="http://schemas.openxmlformats.org/drawingml/2006/main">
            <a:off x="6191250" y="1857375"/>
            <a:ext cx="5286375"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B1076FF-7193-48F2-ADBA-D10BA03B3331}"/>
              </a:ext>
            </a:extLst>
          </p:cNvPr>
          <p:cNvSpPr>
            <a:spLocks xmlns:a="http://schemas.openxmlformats.org/drawingml/2006/main" noGrp="1"/>
          </p:cNvSpPr>
          <p:nvPr/>
        </p:nvSpPr>
        <p:spPr>
          <a:xfrm xmlns:a="http://schemas.openxmlformats.org/drawingml/2006/main">
            <a:off x="6181725" y="2000250"/>
            <a:ext cx="5286375" cy="1847850"/>
          </a:xfrm>
          <a:prstGeom xmlns:a="http://schemas.openxmlformats.org/drawingml/2006/main" prst="roundRect">
            <a:avLst>
              <a:gd name="adj" fmla="val 5155"/>
            </a:avLst>
          </a:prstGeom>
          <a:solidFill xmlns:a="http://schemas.openxmlformats.org/drawingml/2006/main">
            <a:srgbClr val="101B2C"/>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DFF943E-03D8-4BE0-80DA-688ACE4BD188}"/>
              </a:ext>
            </a:extLst>
          </p:cNvPr>
          <p:cNvSpPr>
            <a:spLocks xmlns:a="http://schemas.openxmlformats.org/drawingml/2006/main" noGrp="1"/>
          </p:cNvSpPr>
          <p:nvPr/>
        </p:nvSpPr>
        <p:spPr>
          <a:xfrm xmlns:a="http://schemas.openxmlformats.org/drawingml/2006/main">
            <a:off x="6391275" y="2162175"/>
            <a:ext cx="4867275"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F6F8FC"/>
                </a:solidFill>
                <a:latin typeface="Consolas"/>
                <a:ea typeface="Consolas"/>
                <a:cs typeface="Consolas"/>
              </a:defRPr>
            </a:defPPr>
          </a:lstStyle>
          <a:p xmlns:a="http://schemas.openxmlformats.org/drawingml/2006/main">
            <a:pPr>
              <a:defRPr sz="1425" b="0">
                <a:solidFill>
                  <a:srgbClr val="F6F8FC"/>
                </a:solidFill>
                <a:latin typeface="Consolas"/>
                <a:ea typeface="Consolas"/>
                <a:cs typeface="Consolas"/>
              </a:defRPr>
            </a:pPr>
            <a:r>
              <a:rPr sz="1425" b="0">
                <a:solidFill>
                  <a:srgbClr val="F6F8FC"/>
                </a:solidFill>
                <a:latin typeface="Consolas"/>
                <a:ea typeface="Consolas"/>
                <a:cs typeface="Consolas"/>
              </a:rPr>
              <a:t>if (divisor == 0) {</a:t>
            </a:r>
          </a:p>
          <a:p xmlns:a="http://schemas.openxmlformats.org/drawingml/2006/main">
            <a:pPr>
              <a:defRPr sz="1425" b="0">
                <a:solidFill>
                  <a:srgbClr val="F6F8FC"/>
                </a:solidFill>
                <a:latin typeface="Consolas"/>
                <a:ea typeface="Consolas"/>
                <a:cs typeface="Consolas"/>
              </a:defRPr>
            </a:pPr>
            <a:r>
              <a:rPr sz="1425" b="0">
                <a:solidFill>
                  <a:srgbClr val="F6F8FC"/>
                </a:solidFill>
                <a:latin typeface="Consolas"/>
                <a:ea typeface="Consolas"/>
                <a:cs typeface="Consolas"/>
              </a:rPr>
              <a:t>    /* source-line diagnostic */</a:t>
            </a:r>
          </a:p>
          <a:p xmlns:a="http://schemas.openxmlformats.org/drawingml/2006/main">
            <a:pPr>
              <a:defRPr sz="1425" b="0">
                <a:solidFill>
                  <a:srgbClr val="F6F8FC"/>
                </a:solidFill>
                <a:latin typeface="Consolas"/>
                <a:ea typeface="Consolas"/>
                <a:cs typeface="Consolas"/>
              </a:defRPr>
            </a:pPr>
            <a:r>
              <a:rPr sz="1425" b="0">
                <a:solidFill>
                  <a:srgbClr val="F6F8FC"/>
                </a:solidFill>
                <a:latin typeface="Consolas"/>
                <a:ea typeface="Consolas"/>
                <a:cs typeface="Consolas"/>
              </a:rPr>
              <a:t>    return 1;</a:t>
            </a:r>
          </a:p>
          <a:p xmlns:a="http://schemas.openxmlformats.org/drawingml/2006/main">
            <a:pPr>
              <a:defRPr sz="1425" b="0">
                <a:solidFill>
                  <a:srgbClr val="F6F8FC"/>
                </a:solidFill>
                <a:latin typeface="Consolas"/>
                <a:ea typeface="Consolas"/>
                <a:cs typeface="Consolas"/>
              </a:defRPr>
            </a:pPr>
            <a:r>
              <a:rPr sz="1425" b="0">
                <a:solidFill>
                  <a:srgbClr val="F6F8FC"/>
                </a:solidFill>
                <a:latin typeface="Consolas"/>
                <a:ea typeface="Consolas"/>
                <a:cs typeface="Consolas"/>
              </a:rPr>
              <a:t>}</a:t>
            </a:r>
          </a:p>
        </p:txBody>
      </p:sp>
      <p:sp>
        <p:nvSpPr>
          <p:cNvPr id="15" name="">
            <a:extLst xmlns:a="http://schemas.openxmlformats.org/drawingml/2006/main">
              <a:ext uri="{FF2B5EF4-FFF2-40B4-BE49-F238E27FC236}">
                <a16:creationId xmlns:a16="http://schemas.microsoft.com/office/drawing/2014/main" id="{B756CA7D-1524-45FB-A12E-AE1C22C207A4}"/>
              </a:ext>
            </a:extLst>
          </p:cNvPr>
          <p:cNvSpPr>
            <a:spLocks xmlns:a="http://schemas.openxmlformats.org/drawingml/2006/main" noGrp="1"/>
          </p:cNvSpPr>
          <p:nvPr/>
        </p:nvSpPr>
        <p:spPr>
          <a:xfrm xmlns:a="http://schemas.openxmlformats.org/drawingml/2006/main">
            <a:off x="628650" y="4343400"/>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1A7C599-BFC5-4773-A3FA-0C3E4EE71605}"/>
              </a:ext>
            </a:extLst>
          </p:cNvPr>
          <p:cNvSpPr>
            <a:spLocks xmlns:a="http://schemas.openxmlformats.org/drawingml/2006/main" noGrp="1"/>
          </p:cNvSpPr>
          <p:nvPr/>
        </p:nvSpPr>
        <p:spPr>
          <a:xfrm xmlns:a="http://schemas.openxmlformats.org/drawingml/2006/main">
            <a:off x="628650" y="45720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Also implemented: dynamic array bounds and invalid shift-count checks.</a:t>
            </a:r>
          </a:p>
        </p:txBody>
      </p:sp>
      <p:sp>
        <p:nvSpPr>
          <p:cNvPr id="17" name="">
            <a:extLst xmlns:a="http://schemas.openxmlformats.org/drawingml/2006/main">
              <a:ext uri="{FF2B5EF4-FFF2-40B4-BE49-F238E27FC236}">
                <a16:creationId xmlns:a16="http://schemas.microsoft.com/office/drawing/2014/main" id="{E11494F7-D033-4D11-A57D-373C7D6A2E23}"/>
              </a:ext>
            </a:extLst>
          </p:cNvPr>
          <p:cNvSpPr>
            <a:spLocks xmlns:a="http://schemas.openxmlformats.org/drawingml/2006/main" noGrp="1"/>
          </p:cNvSpPr>
          <p:nvPr/>
        </p:nvSpPr>
        <p:spPr>
          <a:xfrm xmlns:a="http://schemas.openxmlformats.org/drawingml/2006/main">
            <a:off x="628650" y="519112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AEBBD0"/>
                </a:solidFill>
                <a:latin typeface="Arial"/>
                <a:ea typeface="Arial"/>
                <a:cs typeface="Arial"/>
              </a:defRPr>
            </a:defPPr>
          </a:lstStyle>
          <a:p xmlns:a="http://schemas.openxmlformats.org/drawingml/2006/main">
            <a:pPr>
              <a:defRPr sz="1725" b="0">
                <a:solidFill>
                  <a:srgbClr val="AEBBD0"/>
                </a:solidFill>
                <a:latin typeface="Arial"/>
                <a:ea typeface="Arial"/>
                <a:cs typeface="Arial"/>
              </a:defRPr>
            </a:pPr>
            <a:r>
              <a:rPr sz="1725" b="0">
                <a:solidFill>
                  <a:srgbClr val="AEBBD0"/>
                </a:solidFill>
                <a:latin typeface="Arial"/>
                <a:ea typeface="Arial"/>
                <a:cs typeface="Arial"/>
              </a:rPr>
              <a:t>Optional REQUIRE and ENSURE express program-specific conditions.</a:t>
            </a:r>
          </a:p>
        </p:txBody>
      </p:sp>
    </p:spTree>
    <p:extLst>
      <p:ext uri="{BB962C8B-B14F-4D97-AF65-F5344CB8AC3E}">
        <p14:creationId xmlns:p14="http://schemas.microsoft.com/office/powerpoint/2010/main" val="1203423192"/>
      </p:ext>
    </p:extLst>
  </p:cSld>
</p:sld>
</file>

<file path=ppt/slides/slide8.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513BFB0-E02F-4645-8E50-FBA795D75573}"/>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E60B9D1-552A-477F-927C-14F196883B6A}"/>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Functional checks and test evidence</a:t>
            </a:r>
          </a:p>
        </p:txBody>
      </p:sp>
      <p:sp>
        <p:nvSpPr>
          <p:cNvPr id="3" name="">
            <a:extLst xmlns:a="http://schemas.openxmlformats.org/drawingml/2006/main">
              <a:ext uri="{FF2B5EF4-FFF2-40B4-BE49-F238E27FC236}">
                <a16:creationId xmlns:a16="http://schemas.microsoft.com/office/drawing/2014/main" id="{BEB0B251-B32C-41E9-A7EE-F765FF371EFF}"/>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Local verification on Windows with Python 3.13 and MinGW GCC.</a:t>
            </a:r>
          </a:p>
        </p:txBody>
      </p:sp>
      <p:sp>
        <p:nvSpPr>
          <p:cNvPr id="4" name="">
            <a:extLst xmlns:a="http://schemas.openxmlformats.org/drawingml/2006/main">
              <a:ext uri="{FF2B5EF4-FFF2-40B4-BE49-F238E27FC236}">
                <a16:creationId xmlns:a16="http://schemas.microsoft.com/office/drawing/2014/main" id="{D8A67C48-45CB-479B-B529-342CD14C57AF}"/>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5A9811E-DDF5-4778-9F4F-18A1C427E7CC}"/>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F15D84B6-25E7-4F37-A491-58D86429E147}"/>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DBBE492E-AF7F-4C06-BB90-877CC0E49765}"/>
              </a:ext>
            </a:extLst>
          </p:cNvPr>
          <p:cNvSpPr>
            <a:spLocks xmlns:a="http://schemas.openxmlformats.org/drawingml/2006/main" noGrp="1"/>
          </p:cNvSpPr>
          <p:nvPr/>
        </p:nvSpPr>
        <p:spPr>
          <a:xfrm xmlns:a="http://schemas.openxmlformats.org/drawingml/2006/main">
            <a:off x="638175" y="1504950"/>
            <a:ext cx="195262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475" b="1">
                <a:solidFill>
                  <a:srgbClr val="33D69B"/>
                </a:solidFill>
                <a:latin typeface="Arial"/>
                <a:ea typeface="Arial"/>
                <a:cs typeface="Arial"/>
              </a:defRPr>
            </a:defPPr>
          </a:lstStyle>
          <a:p xmlns:a="http://schemas.openxmlformats.org/drawingml/2006/main">
            <a:pPr>
              <a:defRPr sz="5475" b="1">
                <a:solidFill>
                  <a:srgbClr val="33D69B"/>
                </a:solidFill>
                <a:latin typeface="Arial"/>
                <a:ea typeface="Arial"/>
                <a:cs typeface="Arial"/>
              </a:defRPr>
            </a:pPr>
            <a:r>
              <a:rPr sz="5475" b="1">
                <a:solidFill>
                  <a:srgbClr val="33D69B"/>
                </a:solidFill>
                <a:latin typeface="Arial"/>
                <a:ea typeface="Arial"/>
                <a:cs typeface="Arial"/>
              </a:rPr>
              <a:t>111</a:t>
            </a:r>
          </a:p>
        </p:txBody>
      </p:sp>
      <p:sp>
        <p:nvSpPr>
          <p:cNvPr id="8" name="">
            <a:extLst xmlns:a="http://schemas.openxmlformats.org/drawingml/2006/main">
              <a:ext uri="{FF2B5EF4-FFF2-40B4-BE49-F238E27FC236}">
                <a16:creationId xmlns:a16="http://schemas.microsoft.com/office/drawing/2014/main" id="{4B4E81EC-B734-4F35-8B74-BAA4923F9359}"/>
              </a:ext>
            </a:extLst>
          </p:cNvPr>
          <p:cNvSpPr>
            <a:spLocks xmlns:a="http://schemas.openxmlformats.org/drawingml/2006/main" noGrp="1"/>
          </p:cNvSpPr>
          <p:nvPr/>
        </p:nvSpPr>
        <p:spPr>
          <a:xfrm xmlns:a="http://schemas.openxmlformats.org/drawingml/2006/main">
            <a:off x="2333625" y="1762125"/>
            <a:ext cx="9096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F6F8FC"/>
                </a:solidFill>
                <a:latin typeface="Arial"/>
                <a:ea typeface="Arial"/>
                <a:cs typeface="Arial"/>
              </a:defRPr>
            </a:defPPr>
          </a:lstStyle>
          <a:p xmlns:a="http://schemas.openxmlformats.org/drawingml/2006/main">
            <a:pPr>
              <a:defRPr sz="2250" b="1">
                <a:solidFill>
                  <a:srgbClr val="F6F8FC"/>
                </a:solidFill>
                <a:latin typeface="Arial"/>
                <a:ea typeface="Arial"/>
                <a:cs typeface="Arial"/>
              </a:defRPr>
            </a:pPr>
            <a:r>
              <a:rPr sz="2250" b="1">
                <a:solidFill>
                  <a:srgbClr val="F6F8FC"/>
                </a:solidFill>
                <a:latin typeface="Arial"/>
                <a:ea typeface="Arial"/>
                <a:cs typeface="Arial"/>
              </a:rPr>
              <a:t>automated tests passed</a:t>
            </a:r>
          </a:p>
        </p:txBody>
      </p:sp>
      <p:sp>
        <p:nvSpPr>
          <p:cNvPr id="9" name="">
            <a:extLst xmlns:a="http://schemas.openxmlformats.org/drawingml/2006/main">
              <a:ext uri="{FF2B5EF4-FFF2-40B4-BE49-F238E27FC236}">
                <a16:creationId xmlns:a16="http://schemas.microsoft.com/office/drawing/2014/main" id="{8931FC33-325F-4035-9E2A-7BFFC5930157}"/>
              </a:ext>
            </a:extLst>
          </p:cNvPr>
          <p:cNvSpPr>
            <a:spLocks xmlns:a="http://schemas.openxmlformats.org/drawingml/2006/main" noGrp="1"/>
          </p:cNvSpPr>
          <p:nvPr/>
        </p:nvSpPr>
        <p:spPr>
          <a:xfrm xmlns:a="http://schemas.openxmlformats.org/drawingml/2006/main">
            <a:off x="628650" y="2609850"/>
            <a:ext cx="108394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5EF1A0-4003-4DD3-B4DB-A3CB2D77E77D}"/>
              </a:ext>
            </a:extLst>
          </p:cNvPr>
          <p:cNvSpPr>
            <a:spLocks xmlns:a="http://schemas.openxmlformats.org/drawingml/2006/main" noGrp="1"/>
          </p:cNvSpPr>
          <p:nvPr/>
        </p:nvSpPr>
        <p:spPr>
          <a:xfrm xmlns:a="http://schemas.openxmlformats.org/drawingml/2006/main">
            <a:off x="638175" y="2809875"/>
            <a:ext cx="28098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CASE</a:t>
            </a:r>
          </a:p>
        </p:txBody>
      </p:sp>
      <p:sp>
        <p:nvSpPr>
          <p:cNvPr id="11" name="">
            <a:extLst xmlns:a="http://schemas.openxmlformats.org/drawingml/2006/main">
              <a:ext uri="{FF2B5EF4-FFF2-40B4-BE49-F238E27FC236}">
                <a16:creationId xmlns:a16="http://schemas.microsoft.com/office/drawing/2014/main" id="{38A2DB7D-7335-48DC-9269-7A1C1885D8B9}"/>
              </a:ext>
            </a:extLst>
          </p:cNvPr>
          <p:cNvSpPr>
            <a:spLocks xmlns:a="http://schemas.openxmlformats.org/drawingml/2006/main" noGrp="1"/>
          </p:cNvSpPr>
          <p:nvPr/>
        </p:nvSpPr>
        <p:spPr>
          <a:xfrm xmlns:a="http://schemas.openxmlformats.org/drawingml/2006/main">
            <a:off x="3857625" y="2809875"/>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INPUT</a:t>
            </a:r>
          </a:p>
        </p:txBody>
      </p:sp>
      <p:sp>
        <p:nvSpPr>
          <p:cNvPr id="12" name="">
            <a:extLst xmlns:a="http://schemas.openxmlformats.org/drawingml/2006/main">
              <a:ext uri="{FF2B5EF4-FFF2-40B4-BE49-F238E27FC236}">
                <a16:creationId xmlns:a16="http://schemas.microsoft.com/office/drawing/2014/main" id="{639D253C-9B79-4D72-A70C-56CED77B522C}"/>
              </a:ext>
            </a:extLst>
          </p:cNvPr>
          <p:cNvSpPr>
            <a:spLocks xmlns:a="http://schemas.openxmlformats.org/drawingml/2006/main" noGrp="1"/>
          </p:cNvSpPr>
          <p:nvPr/>
        </p:nvSpPr>
        <p:spPr>
          <a:xfrm xmlns:a="http://schemas.openxmlformats.org/drawingml/2006/main">
            <a:off x="9239250" y="2809875"/>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OBSERVED</a:t>
            </a:r>
          </a:p>
        </p:txBody>
      </p:sp>
      <p:sp>
        <p:nvSpPr>
          <p:cNvPr id="13" name="">
            <a:extLst xmlns:a="http://schemas.openxmlformats.org/drawingml/2006/main">
              <a:ext uri="{FF2B5EF4-FFF2-40B4-BE49-F238E27FC236}">
                <a16:creationId xmlns:a16="http://schemas.microsoft.com/office/drawing/2014/main" id="{012C21D2-6BC2-42CD-8C22-DAA661A8D6AC}"/>
              </a:ext>
            </a:extLst>
          </p:cNvPr>
          <p:cNvSpPr>
            <a:spLocks xmlns:a="http://schemas.openxmlformats.org/drawingml/2006/main" noGrp="1"/>
          </p:cNvSpPr>
          <p:nvPr/>
        </p:nvSpPr>
        <p:spPr>
          <a:xfrm xmlns:a="http://schemas.openxmlformats.org/drawingml/2006/main">
            <a:off x="638175" y="3190875"/>
            <a:ext cx="2905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Arithmetic</a:t>
            </a:r>
          </a:p>
        </p:txBody>
      </p:sp>
      <p:sp>
        <p:nvSpPr>
          <p:cNvPr id="14" name="">
            <a:extLst xmlns:a="http://schemas.openxmlformats.org/drawingml/2006/main">
              <a:ext uri="{FF2B5EF4-FFF2-40B4-BE49-F238E27FC236}">
                <a16:creationId xmlns:a16="http://schemas.microsoft.com/office/drawing/2014/main" id="{2576AB34-EA56-4C7C-86B5-316DBB7CF106}"/>
              </a:ext>
            </a:extLst>
          </p:cNvPr>
          <p:cNvSpPr>
            <a:spLocks xmlns:a="http://schemas.openxmlformats.org/drawingml/2006/main" noGrp="1"/>
          </p:cNvSpPr>
          <p:nvPr/>
        </p:nvSpPr>
        <p:spPr>
          <a:xfrm xmlns:a="http://schemas.openxmlformats.org/drawingml/2006/main">
            <a:off x="3857625" y="319087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2 + 3 × 4</a:t>
            </a:r>
          </a:p>
        </p:txBody>
      </p:sp>
      <p:sp>
        <p:nvSpPr>
          <p:cNvPr id="15" name="">
            <a:extLst xmlns:a="http://schemas.openxmlformats.org/drawingml/2006/main">
              <a:ext uri="{FF2B5EF4-FFF2-40B4-BE49-F238E27FC236}">
                <a16:creationId xmlns:a16="http://schemas.microsoft.com/office/drawing/2014/main" id="{770907C8-E214-4062-8F35-6102B2F2263E}"/>
              </a:ext>
            </a:extLst>
          </p:cNvPr>
          <p:cNvSpPr>
            <a:spLocks xmlns:a="http://schemas.openxmlformats.org/drawingml/2006/main" noGrp="1"/>
          </p:cNvSpPr>
          <p:nvPr/>
        </p:nvSpPr>
        <p:spPr>
          <a:xfrm xmlns:a="http://schemas.openxmlformats.org/drawingml/2006/main">
            <a:off x="9239250" y="3190875"/>
            <a:ext cx="219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33D69B"/>
                </a:solidFill>
                <a:latin typeface="Arial"/>
                <a:ea typeface="Arial"/>
                <a:cs typeface="Arial"/>
              </a:defRPr>
            </a:defPPr>
          </a:lstStyle>
          <a:p xmlns:a="http://schemas.openxmlformats.org/drawingml/2006/main">
            <a:pPr>
              <a:defRPr sz="1650" b="1">
                <a:solidFill>
                  <a:srgbClr val="33D69B"/>
                </a:solidFill>
                <a:latin typeface="Arial"/>
                <a:ea typeface="Arial"/>
                <a:cs typeface="Arial"/>
              </a:defRPr>
            </a:pPr>
            <a:r>
              <a:rPr sz="1650" b="1">
                <a:solidFill>
                  <a:srgbClr val="33D69B"/>
                </a:solidFill>
                <a:latin typeface="Arial"/>
                <a:ea typeface="Arial"/>
                <a:cs typeface="Arial"/>
              </a:rPr>
              <a:t>14</a:t>
            </a:r>
          </a:p>
        </p:txBody>
      </p:sp>
      <p:sp>
        <p:nvSpPr>
          <p:cNvPr id="16" name="">
            <a:extLst xmlns:a="http://schemas.openxmlformats.org/drawingml/2006/main">
              <a:ext uri="{FF2B5EF4-FFF2-40B4-BE49-F238E27FC236}">
                <a16:creationId xmlns:a16="http://schemas.microsoft.com/office/drawing/2014/main" id="{9D7E5F52-AE2E-4056-8608-7D233E6AA892}"/>
              </a:ext>
            </a:extLst>
          </p:cNvPr>
          <p:cNvSpPr>
            <a:spLocks xmlns:a="http://schemas.openxmlformats.org/drawingml/2006/main" noGrp="1"/>
          </p:cNvSpPr>
          <p:nvPr/>
        </p:nvSpPr>
        <p:spPr>
          <a:xfrm xmlns:a="http://schemas.openxmlformats.org/drawingml/2006/main">
            <a:off x="628650" y="3590925"/>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90AFE95-771B-40D1-88DA-3C2D5F23A808}"/>
              </a:ext>
            </a:extLst>
          </p:cNvPr>
          <p:cNvSpPr>
            <a:spLocks xmlns:a="http://schemas.openxmlformats.org/drawingml/2006/main" noGrp="1"/>
          </p:cNvSpPr>
          <p:nvPr/>
        </p:nvSpPr>
        <p:spPr>
          <a:xfrm xmlns:a="http://schemas.openxmlformats.org/drawingml/2006/main">
            <a:off x="638175" y="3724275"/>
            <a:ext cx="2905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IF/ELSE</a:t>
            </a:r>
          </a:p>
        </p:txBody>
      </p:sp>
      <p:sp>
        <p:nvSpPr>
          <p:cNvPr id="18" name="">
            <a:extLst xmlns:a="http://schemas.openxmlformats.org/drawingml/2006/main">
              <a:ext uri="{FF2B5EF4-FFF2-40B4-BE49-F238E27FC236}">
                <a16:creationId xmlns:a16="http://schemas.microsoft.com/office/drawing/2014/main" id="{71316A6D-7F6E-4C0D-978A-EC8A753BD096}"/>
              </a:ext>
            </a:extLst>
          </p:cNvPr>
          <p:cNvSpPr>
            <a:spLocks xmlns:a="http://schemas.openxmlformats.org/drawingml/2006/main" noGrp="1"/>
          </p:cNvSpPr>
          <p:nvPr/>
        </p:nvSpPr>
        <p:spPr>
          <a:xfrm xmlns:a="http://schemas.openxmlformats.org/drawingml/2006/main">
            <a:off x="3857625" y="372427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mark = 72</a:t>
            </a:r>
          </a:p>
        </p:txBody>
      </p:sp>
      <p:sp>
        <p:nvSpPr>
          <p:cNvPr id="19" name="">
            <a:extLst xmlns:a="http://schemas.openxmlformats.org/drawingml/2006/main">
              <a:ext uri="{FF2B5EF4-FFF2-40B4-BE49-F238E27FC236}">
                <a16:creationId xmlns:a16="http://schemas.microsoft.com/office/drawing/2014/main" id="{55D1C133-5F36-4408-B942-DF9FC3E24129}"/>
              </a:ext>
            </a:extLst>
          </p:cNvPr>
          <p:cNvSpPr>
            <a:spLocks xmlns:a="http://schemas.openxmlformats.org/drawingml/2006/main" noGrp="1"/>
          </p:cNvSpPr>
          <p:nvPr/>
        </p:nvSpPr>
        <p:spPr>
          <a:xfrm xmlns:a="http://schemas.openxmlformats.org/drawingml/2006/main">
            <a:off x="9239250" y="3724275"/>
            <a:ext cx="219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33D69B"/>
                </a:solidFill>
                <a:latin typeface="Arial"/>
                <a:ea typeface="Arial"/>
                <a:cs typeface="Arial"/>
              </a:defRPr>
            </a:defPPr>
          </a:lstStyle>
          <a:p xmlns:a="http://schemas.openxmlformats.org/drawingml/2006/main">
            <a:pPr>
              <a:defRPr sz="1650" b="1">
                <a:solidFill>
                  <a:srgbClr val="33D69B"/>
                </a:solidFill>
                <a:latin typeface="Arial"/>
                <a:ea typeface="Arial"/>
                <a:cs typeface="Arial"/>
              </a:defRPr>
            </a:pPr>
            <a:r>
              <a:rPr sz="1650" b="1">
                <a:solidFill>
                  <a:srgbClr val="33D69B"/>
                </a:solidFill>
                <a:latin typeface="Arial"/>
                <a:ea typeface="Arial"/>
                <a:cs typeface="Arial"/>
              </a:rPr>
              <a:t>Pass</a:t>
            </a:r>
          </a:p>
        </p:txBody>
      </p:sp>
      <p:sp>
        <p:nvSpPr>
          <p:cNvPr id="20" name="">
            <a:extLst xmlns:a="http://schemas.openxmlformats.org/drawingml/2006/main">
              <a:ext uri="{FF2B5EF4-FFF2-40B4-BE49-F238E27FC236}">
                <a16:creationId xmlns:a16="http://schemas.microsoft.com/office/drawing/2014/main" id="{982767C3-DA93-44BF-9635-21E7AC30C495}"/>
              </a:ext>
            </a:extLst>
          </p:cNvPr>
          <p:cNvSpPr>
            <a:spLocks xmlns:a="http://schemas.openxmlformats.org/drawingml/2006/main" noGrp="1"/>
          </p:cNvSpPr>
          <p:nvPr/>
        </p:nvSpPr>
        <p:spPr>
          <a:xfrm xmlns:a="http://schemas.openxmlformats.org/drawingml/2006/main">
            <a:off x="628650" y="4124325"/>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B0E1341-2F0A-4C7F-BFFF-27B81831BA70}"/>
              </a:ext>
            </a:extLst>
          </p:cNvPr>
          <p:cNvSpPr>
            <a:spLocks xmlns:a="http://schemas.openxmlformats.org/drawingml/2006/main" noGrp="1"/>
          </p:cNvSpPr>
          <p:nvPr/>
        </p:nvSpPr>
        <p:spPr>
          <a:xfrm xmlns:a="http://schemas.openxmlformats.org/drawingml/2006/main">
            <a:off x="638175" y="4257675"/>
            <a:ext cx="2905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FOR + CONTINUE</a:t>
            </a:r>
          </a:p>
        </p:txBody>
      </p:sp>
      <p:sp>
        <p:nvSpPr>
          <p:cNvPr id="22" name="">
            <a:extLst xmlns:a="http://schemas.openxmlformats.org/drawingml/2006/main">
              <a:ext uri="{FF2B5EF4-FFF2-40B4-BE49-F238E27FC236}">
                <a16:creationId xmlns:a16="http://schemas.microsoft.com/office/drawing/2014/main" id="{9F8EAB81-1983-4D07-855D-6AB507EFF53A}"/>
              </a:ext>
            </a:extLst>
          </p:cNvPr>
          <p:cNvSpPr>
            <a:spLocks xmlns:a="http://schemas.openxmlformats.org/drawingml/2006/main" noGrp="1"/>
          </p:cNvSpPr>
          <p:nvPr/>
        </p:nvSpPr>
        <p:spPr>
          <a:xfrm xmlns:a="http://schemas.openxmlformats.org/drawingml/2006/main">
            <a:off x="3857625" y="425767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skip 2 from 1 to 4</a:t>
            </a:r>
          </a:p>
        </p:txBody>
      </p:sp>
      <p:sp>
        <p:nvSpPr>
          <p:cNvPr id="23" name="">
            <a:extLst xmlns:a="http://schemas.openxmlformats.org/drawingml/2006/main">
              <a:ext uri="{FF2B5EF4-FFF2-40B4-BE49-F238E27FC236}">
                <a16:creationId xmlns:a16="http://schemas.microsoft.com/office/drawing/2014/main" id="{D3D87C46-D1E9-40D7-9A73-2B643B94E358}"/>
              </a:ext>
            </a:extLst>
          </p:cNvPr>
          <p:cNvSpPr>
            <a:spLocks xmlns:a="http://schemas.openxmlformats.org/drawingml/2006/main" noGrp="1"/>
          </p:cNvSpPr>
          <p:nvPr/>
        </p:nvSpPr>
        <p:spPr>
          <a:xfrm xmlns:a="http://schemas.openxmlformats.org/drawingml/2006/main">
            <a:off x="9239250" y="4257675"/>
            <a:ext cx="219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33D69B"/>
                </a:solidFill>
                <a:latin typeface="Arial"/>
                <a:ea typeface="Arial"/>
                <a:cs typeface="Arial"/>
              </a:defRPr>
            </a:defPPr>
          </a:lstStyle>
          <a:p xmlns:a="http://schemas.openxmlformats.org/drawingml/2006/main">
            <a:pPr>
              <a:defRPr sz="1650" b="1">
                <a:solidFill>
                  <a:srgbClr val="33D69B"/>
                </a:solidFill>
                <a:latin typeface="Arial"/>
                <a:ea typeface="Arial"/>
                <a:cs typeface="Arial"/>
              </a:defRPr>
            </a:pPr>
            <a:r>
              <a:rPr sz="1650" b="1">
                <a:solidFill>
                  <a:srgbClr val="33D69B"/>
                </a:solidFill>
                <a:latin typeface="Arial"/>
                <a:ea typeface="Arial"/>
                <a:cs typeface="Arial"/>
              </a:rPr>
              <a:t>8</a:t>
            </a:r>
          </a:p>
        </p:txBody>
      </p:sp>
      <p:sp>
        <p:nvSpPr>
          <p:cNvPr id="24" name="">
            <a:extLst xmlns:a="http://schemas.openxmlformats.org/drawingml/2006/main">
              <a:ext uri="{FF2B5EF4-FFF2-40B4-BE49-F238E27FC236}">
                <a16:creationId xmlns:a16="http://schemas.microsoft.com/office/drawing/2014/main" id="{D1C3BA83-D1B9-47C7-9BE1-AF18261526E1}"/>
              </a:ext>
            </a:extLst>
          </p:cNvPr>
          <p:cNvSpPr>
            <a:spLocks xmlns:a="http://schemas.openxmlformats.org/drawingml/2006/main" noGrp="1"/>
          </p:cNvSpPr>
          <p:nvPr/>
        </p:nvSpPr>
        <p:spPr>
          <a:xfrm xmlns:a="http://schemas.openxmlformats.org/drawingml/2006/main">
            <a:off x="628650" y="4657725"/>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0EE19D5-8ADB-4050-94DF-DE6117553F4C}"/>
              </a:ext>
            </a:extLst>
          </p:cNvPr>
          <p:cNvSpPr>
            <a:spLocks xmlns:a="http://schemas.openxmlformats.org/drawingml/2006/main" noGrp="1"/>
          </p:cNvSpPr>
          <p:nvPr/>
        </p:nvSpPr>
        <p:spPr>
          <a:xfrm xmlns:a="http://schemas.openxmlformats.org/drawingml/2006/main">
            <a:off x="638175" y="4791075"/>
            <a:ext cx="2905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Array + WHILE</a:t>
            </a:r>
          </a:p>
        </p:txBody>
      </p:sp>
      <p:sp>
        <p:nvSpPr>
          <p:cNvPr id="26" name="">
            <a:extLst xmlns:a="http://schemas.openxmlformats.org/drawingml/2006/main">
              <a:ext uri="{FF2B5EF4-FFF2-40B4-BE49-F238E27FC236}">
                <a16:creationId xmlns:a16="http://schemas.microsoft.com/office/drawing/2014/main" id="{531D6A19-7532-4549-B0D2-F9297E3F541C}"/>
              </a:ext>
            </a:extLst>
          </p:cNvPr>
          <p:cNvSpPr>
            <a:spLocks xmlns:a="http://schemas.openxmlformats.org/drawingml/2006/main" noGrp="1"/>
          </p:cNvSpPr>
          <p:nvPr/>
        </p:nvSpPr>
        <p:spPr>
          <a:xfrm xmlns:a="http://schemas.openxmlformats.org/drawingml/2006/main">
            <a:off x="3857625" y="479107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visit 2, 4, 6</a:t>
            </a:r>
          </a:p>
        </p:txBody>
      </p:sp>
      <p:sp>
        <p:nvSpPr>
          <p:cNvPr id="27" name="">
            <a:extLst xmlns:a="http://schemas.openxmlformats.org/drawingml/2006/main">
              <a:ext uri="{FF2B5EF4-FFF2-40B4-BE49-F238E27FC236}">
                <a16:creationId xmlns:a16="http://schemas.microsoft.com/office/drawing/2014/main" id="{D397618F-01A1-4274-8604-BD6241C45064}"/>
              </a:ext>
            </a:extLst>
          </p:cNvPr>
          <p:cNvSpPr>
            <a:spLocks xmlns:a="http://schemas.openxmlformats.org/drawingml/2006/main" noGrp="1"/>
          </p:cNvSpPr>
          <p:nvPr/>
        </p:nvSpPr>
        <p:spPr>
          <a:xfrm xmlns:a="http://schemas.openxmlformats.org/drawingml/2006/main">
            <a:off x="9239250" y="4791075"/>
            <a:ext cx="219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33D69B"/>
                </a:solidFill>
                <a:latin typeface="Arial"/>
                <a:ea typeface="Arial"/>
                <a:cs typeface="Arial"/>
              </a:defRPr>
            </a:defPPr>
          </a:lstStyle>
          <a:p xmlns:a="http://schemas.openxmlformats.org/drawingml/2006/main">
            <a:pPr>
              <a:defRPr sz="1650" b="1">
                <a:solidFill>
                  <a:srgbClr val="33D69B"/>
                </a:solidFill>
                <a:latin typeface="Arial"/>
                <a:ea typeface="Arial"/>
                <a:cs typeface="Arial"/>
              </a:defRPr>
            </a:pPr>
            <a:r>
              <a:rPr sz="1650" b="1">
                <a:solidFill>
                  <a:srgbClr val="33D69B"/>
                </a:solidFill>
                <a:latin typeface="Arial"/>
                <a:ea typeface="Arial"/>
                <a:cs typeface="Arial"/>
              </a:rPr>
              <a:t>2 / 4 / 6</a:t>
            </a:r>
          </a:p>
        </p:txBody>
      </p:sp>
      <p:sp>
        <p:nvSpPr>
          <p:cNvPr id="28" name="">
            <a:extLst xmlns:a="http://schemas.openxmlformats.org/drawingml/2006/main">
              <a:ext uri="{FF2B5EF4-FFF2-40B4-BE49-F238E27FC236}">
                <a16:creationId xmlns:a16="http://schemas.microsoft.com/office/drawing/2014/main" id="{9709CDD9-3EA0-438D-AE8E-C484178E3AFE}"/>
              </a:ext>
            </a:extLst>
          </p:cNvPr>
          <p:cNvSpPr>
            <a:spLocks xmlns:a="http://schemas.openxmlformats.org/drawingml/2006/main" noGrp="1"/>
          </p:cNvSpPr>
          <p:nvPr/>
        </p:nvSpPr>
        <p:spPr>
          <a:xfrm xmlns:a="http://schemas.openxmlformats.org/drawingml/2006/main">
            <a:off x="628650" y="5191125"/>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F33DC80-75B9-446F-BA9D-D40CC93727FF}"/>
              </a:ext>
            </a:extLst>
          </p:cNvPr>
          <p:cNvSpPr>
            <a:spLocks xmlns:a="http://schemas.openxmlformats.org/drawingml/2006/main" noGrp="1"/>
          </p:cNvSpPr>
          <p:nvPr/>
        </p:nvSpPr>
        <p:spPr>
          <a:xfrm xmlns:a="http://schemas.openxmlformats.org/drawingml/2006/main">
            <a:off x="638175" y="5324475"/>
            <a:ext cx="2905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Invalid source</a:t>
            </a:r>
          </a:p>
        </p:txBody>
      </p:sp>
      <p:sp>
        <p:nvSpPr>
          <p:cNvPr id="30" name="">
            <a:extLst xmlns:a="http://schemas.openxmlformats.org/drawingml/2006/main">
              <a:ext uri="{FF2B5EF4-FFF2-40B4-BE49-F238E27FC236}">
                <a16:creationId xmlns:a16="http://schemas.microsoft.com/office/drawing/2014/main" id="{2D0E3E45-558B-44FA-B4C3-F935950DAEE5}"/>
              </a:ext>
            </a:extLst>
          </p:cNvPr>
          <p:cNvSpPr>
            <a:spLocks xmlns:a="http://schemas.openxmlformats.org/drawingml/2006/main" noGrp="1"/>
          </p:cNvSpPr>
          <p:nvPr/>
        </p:nvSpPr>
        <p:spPr>
          <a:xfrm xmlns:a="http://schemas.openxmlformats.org/drawingml/2006/main">
            <a:off x="3857625" y="5324475"/>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undeclared variable</a:t>
            </a:r>
          </a:p>
        </p:txBody>
      </p:sp>
      <p:sp>
        <p:nvSpPr>
          <p:cNvPr id="31" name="">
            <a:extLst xmlns:a="http://schemas.openxmlformats.org/drawingml/2006/main">
              <a:ext uri="{FF2B5EF4-FFF2-40B4-BE49-F238E27FC236}">
                <a16:creationId xmlns:a16="http://schemas.microsoft.com/office/drawing/2014/main" id="{88B41084-1103-4FAA-919E-E3B8D0CAC1C5}"/>
              </a:ext>
            </a:extLst>
          </p:cNvPr>
          <p:cNvSpPr>
            <a:spLocks xmlns:a="http://schemas.openxmlformats.org/drawingml/2006/main" noGrp="1"/>
          </p:cNvSpPr>
          <p:nvPr/>
        </p:nvSpPr>
        <p:spPr>
          <a:xfrm xmlns:a="http://schemas.openxmlformats.org/drawingml/2006/main">
            <a:off x="9239250" y="5324475"/>
            <a:ext cx="219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6B94D"/>
                </a:solidFill>
                <a:latin typeface="Arial"/>
                <a:ea typeface="Arial"/>
                <a:cs typeface="Arial"/>
              </a:defRPr>
            </a:defPPr>
          </a:lstStyle>
          <a:p xmlns:a="http://schemas.openxmlformats.org/drawingml/2006/main">
            <a:pPr>
              <a:defRPr sz="1650" b="1">
                <a:solidFill>
                  <a:srgbClr val="F6B94D"/>
                </a:solidFill>
                <a:latin typeface="Arial"/>
                <a:ea typeface="Arial"/>
                <a:cs typeface="Arial"/>
              </a:defRPr>
            </a:pPr>
            <a:r>
              <a:rPr sz="1650" b="1">
                <a:solidFill>
                  <a:srgbClr val="F6B94D"/>
                </a:solidFill>
                <a:latin typeface="Arial"/>
                <a:ea typeface="Arial"/>
                <a:cs typeface="Arial"/>
              </a:rPr>
              <a:t>diagnostic</a:t>
            </a:r>
          </a:p>
        </p:txBody>
      </p:sp>
      <p:sp>
        <p:nvSpPr>
          <p:cNvPr id="32" name="">
            <a:extLst xmlns:a="http://schemas.openxmlformats.org/drawingml/2006/main">
              <a:ext uri="{FF2B5EF4-FFF2-40B4-BE49-F238E27FC236}">
                <a16:creationId xmlns:a16="http://schemas.microsoft.com/office/drawing/2014/main" id="{5458ADA8-F0C4-46A9-AFBA-AEA8A11F9480}"/>
              </a:ext>
            </a:extLst>
          </p:cNvPr>
          <p:cNvSpPr>
            <a:spLocks xmlns:a="http://schemas.openxmlformats.org/drawingml/2006/main" noGrp="1"/>
          </p:cNvSpPr>
          <p:nvPr/>
        </p:nvSpPr>
        <p:spPr>
          <a:xfrm xmlns:a="http://schemas.openxmlformats.org/drawingml/2006/main">
            <a:off x="628650" y="5724525"/>
            <a:ext cx="10839450" cy="9525"/>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Tree>
    <p:extLst>
      <p:ext uri="{BB962C8B-B14F-4D97-AF65-F5344CB8AC3E}">
        <p14:creationId xmlns:p14="http://schemas.microsoft.com/office/powerpoint/2010/main" val="719537073"/>
      </p:ext>
    </p:extLst>
  </p:cSld>
</p:sld>
</file>

<file path=ppt/slides/slide9.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3359A83-67E5-4FC5-893D-4DC9CE98A164}"/>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D4151CC-6EA2-4CCB-AD4F-C3251DF2657F}"/>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Current limits and next work</a:t>
            </a:r>
          </a:p>
        </p:txBody>
      </p:sp>
      <p:sp>
        <p:nvSpPr>
          <p:cNvPr id="3" name="">
            <a:extLst xmlns:a="http://schemas.openxmlformats.org/drawingml/2006/main">
              <a:ext uri="{FF2B5EF4-FFF2-40B4-BE49-F238E27FC236}">
                <a16:creationId xmlns:a16="http://schemas.microsoft.com/office/drawing/2014/main" id="{7895B157-27AE-46CC-A363-0FD3071CF8D0}"/>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supported language is intentionally small and defined.</a:t>
            </a:r>
          </a:p>
        </p:txBody>
      </p:sp>
      <p:sp>
        <p:nvSpPr>
          <p:cNvPr id="4" name="">
            <a:extLst xmlns:a="http://schemas.openxmlformats.org/drawingml/2006/main">
              <a:ext uri="{FF2B5EF4-FFF2-40B4-BE49-F238E27FC236}">
                <a16:creationId xmlns:a16="http://schemas.microsoft.com/office/drawing/2014/main" id="{E46EEE94-5296-4C7E-941C-1FF5E19BD322}"/>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F97CF31-2FE0-4157-ACC5-E2A2C7E8B81B}"/>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B5A535DA-103F-400C-92EF-90E00239D09B}"/>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09</a:t>
            </a:r>
          </a:p>
        </p:txBody>
      </p:sp>
      <p:sp>
        <p:nvSpPr>
          <p:cNvPr id="7" name="">
            <a:extLst xmlns:a="http://schemas.openxmlformats.org/drawingml/2006/main">
              <a:ext uri="{FF2B5EF4-FFF2-40B4-BE49-F238E27FC236}">
                <a16:creationId xmlns:a16="http://schemas.microsoft.com/office/drawing/2014/main" id="{49DD5511-3D35-44DE-A366-5AC9EB9298B5}"/>
              </a:ext>
            </a:extLst>
          </p:cNvPr>
          <p:cNvSpPr>
            <a:spLocks xmlns:a="http://schemas.openxmlformats.org/drawingml/2006/main" noGrp="1"/>
          </p:cNvSpPr>
          <p:nvPr/>
        </p:nvSpPr>
        <p:spPr>
          <a:xfrm xmlns:a="http://schemas.openxmlformats.org/drawingml/2006/main">
            <a:off x="628650" y="1504950"/>
            <a:ext cx="50196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F6B94D"/>
                </a:solidFill>
                <a:latin typeface="Arial"/>
                <a:ea typeface="Arial"/>
                <a:cs typeface="Arial"/>
              </a:defRPr>
            </a:defPPr>
          </a:lstStyle>
          <a:p xmlns:a="http://schemas.openxmlformats.org/drawingml/2006/main">
            <a:pPr>
              <a:defRPr sz="1350" b="1">
                <a:solidFill>
                  <a:srgbClr val="F6B94D"/>
                </a:solidFill>
                <a:latin typeface="Arial"/>
                <a:ea typeface="Arial"/>
                <a:cs typeface="Arial"/>
              </a:defRPr>
            </a:pPr>
            <a:r>
              <a:rPr sz="1350" b="1">
                <a:solidFill>
                  <a:srgbClr val="F6B94D"/>
                </a:solidFill>
                <a:latin typeface="Arial"/>
                <a:ea typeface="Arial"/>
                <a:cs typeface="Arial"/>
              </a:rPr>
              <a:t>CURRENT LIMITS</a:t>
            </a:r>
          </a:p>
        </p:txBody>
      </p:sp>
      <p:sp>
        <p:nvSpPr>
          <p:cNvPr id="8" name="">
            <a:extLst xmlns:a="http://schemas.openxmlformats.org/drawingml/2006/main">
              <a:ext uri="{FF2B5EF4-FFF2-40B4-BE49-F238E27FC236}">
                <a16:creationId xmlns:a16="http://schemas.microsoft.com/office/drawing/2014/main" id="{9D9E7623-F4F6-48AD-A209-D02246F8D92C}"/>
              </a:ext>
            </a:extLst>
          </p:cNvPr>
          <p:cNvSpPr>
            <a:spLocks xmlns:a="http://schemas.openxmlformats.org/drawingml/2006/main" noGrp="1"/>
          </p:cNvSpPr>
          <p:nvPr/>
        </p:nvSpPr>
        <p:spPr>
          <a:xfrm xmlns:a="http://schemas.openxmlformats.org/drawingml/2006/main">
            <a:off x="628650" y="1847850"/>
            <a:ext cx="5019675" cy="19050"/>
          </a:xfrm>
          <a:prstGeom xmlns:a="http://schemas.openxmlformats.org/drawingml/2006/main" prst="rect">
            <a:avLst/>
          </a:prstGeom>
          <a:solidFill xmlns:a="http://schemas.openxmlformats.org/drawingml/2006/main">
            <a:srgbClr val="F6B94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EAF38B5-D418-4E6D-9B8C-503F08E3B26C}"/>
              </a:ext>
            </a:extLst>
          </p:cNvPr>
          <p:cNvSpPr>
            <a:spLocks xmlns:a="http://schemas.openxmlformats.org/drawingml/2006/main" noGrp="1"/>
          </p:cNvSpPr>
          <p:nvPr/>
        </p:nvSpPr>
        <p:spPr>
          <a:xfrm xmlns:a="http://schemas.openxmlformats.org/drawingml/2006/main">
            <a:off x="647700" y="2085975"/>
            <a:ext cx="5019675" cy="3000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No free-form English</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No functions or multidimensional arrays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No logical AND / OR</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STRING uses a fixed 255-character ASCII limit</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No general overflow or uninitialized-use analysis</a:t>
            </a:r>
          </a:p>
        </p:txBody>
      </p:sp>
      <p:sp>
        <p:nvSpPr>
          <p:cNvPr id="10" name="">
            <a:extLst xmlns:a="http://schemas.openxmlformats.org/drawingml/2006/main">
              <a:ext uri="{FF2B5EF4-FFF2-40B4-BE49-F238E27FC236}">
                <a16:creationId xmlns:a16="http://schemas.microsoft.com/office/drawing/2014/main" id="{63B3CD51-EB84-4D28-945B-74031FFE6F2C}"/>
              </a:ext>
            </a:extLst>
          </p:cNvPr>
          <p:cNvSpPr>
            <a:spLocks xmlns:a="http://schemas.openxmlformats.org/drawingml/2006/main" noGrp="1"/>
          </p:cNvSpPr>
          <p:nvPr/>
        </p:nvSpPr>
        <p:spPr>
          <a:xfrm xmlns:a="http://schemas.openxmlformats.org/drawingml/2006/main">
            <a:off x="6210300" y="1504950"/>
            <a:ext cx="52482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PHASE 3 DIRECTION</a:t>
            </a:r>
          </a:p>
        </p:txBody>
      </p:sp>
      <p:sp>
        <p:nvSpPr>
          <p:cNvPr id="11" name="">
            <a:extLst xmlns:a="http://schemas.openxmlformats.org/drawingml/2006/main">
              <a:ext uri="{FF2B5EF4-FFF2-40B4-BE49-F238E27FC236}">
                <a16:creationId xmlns:a16="http://schemas.microsoft.com/office/drawing/2014/main" id="{B7A1414D-470E-4AB8-B8A3-332EF8A92DD1}"/>
              </a:ext>
            </a:extLst>
          </p:cNvPr>
          <p:cNvSpPr>
            <a:spLocks xmlns:a="http://schemas.openxmlformats.org/drawingml/2006/main" noGrp="1"/>
          </p:cNvSpPr>
          <p:nvPr/>
        </p:nvSpPr>
        <p:spPr>
          <a:xfrm xmlns:a="http://schemas.openxmlformats.org/drawingml/2006/main">
            <a:off x="6210300" y="1847850"/>
            <a:ext cx="52482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AF82F1-C4A5-46F8-8F00-DDF5B5EF105F}"/>
              </a:ext>
            </a:extLst>
          </p:cNvPr>
          <p:cNvSpPr>
            <a:spLocks xmlns:a="http://schemas.openxmlformats.org/drawingml/2006/main" noGrp="1"/>
          </p:cNvSpPr>
          <p:nvPr/>
        </p:nvSpPr>
        <p:spPr>
          <a:xfrm xmlns:a="http://schemas.openxmlformats.org/drawingml/2006/main">
            <a:off x="6229350" y="2085975"/>
            <a:ext cx="5143500" cy="2667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Improve diagnostics for common mistakes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Broaden valid, invalid and boundary tests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Assess readable C and optimization effects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Keep added checks selective</a:t>
            </a:r>
          </a:p>
        </p:txBody>
      </p:sp>
      <p:sp>
        <p:nvSpPr>
          <p:cNvPr id="13" name="">
            <a:extLst xmlns:a="http://schemas.openxmlformats.org/drawingml/2006/main">
              <a:ext uri="{FF2B5EF4-FFF2-40B4-BE49-F238E27FC236}">
                <a16:creationId xmlns:a16="http://schemas.microsoft.com/office/drawing/2014/main" id="{15F79F91-4D8A-4E5C-A289-CE5FAC42B978}"/>
              </a:ext>
            </a:extLst>
          </p:cNvPr>
          <p:cNvSpPr>
            <a:spLocks xmlns:a="http://schemas.openxmlformats.org/drawingml/2006/main" noGrp="1"/>
          </p:cNvSpPr>
          <p:nvPr/>
        </p:nvSpPr>
        <p:spPr>
          <a:xfrm xmlns:a="http://schemas.openxmlformats.org/drawingml/2006/main">
            <a:off x="638175" y="5219700"/>
            <a:ext cx="10810875"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83E2963-2FE9-4ABE-B665-EC6BE078C50B}"/>
              </a:ext>
            </a:extLst>
          </p:cNvPr>
          <p:cNvSpPr>
            <a:spLocks xmlns:a="http://schemas.openxmlformats.org/drawingml/2006/main" noGrp="1"/>
          </p:cNvSpPr>
          <p:nvPr/>
        </p:nvSpPr>
        <p:spPr>
          <a:xfrm xmlns:a="http://schemas.openxmlformats.org/drawingml/2006/main">
            <a:off x="647700" y="5381625"/>
            <a:ext cx="1057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33D69B"/>
                </a:solidFill>
                <a:latin typeface="Arial"/>
                <a:ea typeface="Arial"/>
                <a:cs typeface="Arial"/>
              </a:defRPr>
            </a:defPPr>
          </a:lstStyle>
          <a:p xmlns:a="http://schemas.openxmlformats.org/drawingml/2006/main">
            <a:pPr>
              <a:defRPr sz="1725" b="1">
                <a:solidFill>
                  <a:srgbClr val="33D69B"/>
                </a:solidFill>
                <a:latin typeface="Arial"/>
                <a:ea typeface="Arial"/>
                <a:cs typeface="Arial"/>
              </a:defRPr>
            </a:pPr>
            <a:r>
              <a:rPr sz="1725" b="1">
                <a:solidFill>
                  <a:srgbClr val="33D69B"/>
                </a:solidFill>
                <a:latin typeface="Arial"/>
                <a:ea typeface="Arial"/>
                <a:cs typeface="Arial"/>
              </a:rPr>
              <a:t>The proposed intelligence layer is future work. Current checks are rule-based.</a:t>
            </a:r>
          </a:p>
        </p:txBody>
      </p:sp>
    </p:spTree>
    <p:extLst>
      <p:ext uri="{BB962C8B-B14F-4D97-AF65-F5344CB8AC3E}">
        <p14:creationId xmlns:p14="http://schemas.microsoft.com/office/powerpoint/2010/main" val="1205730900"/>
      </p:ext>
    </p:extLst>
  </p:cSld>
</p:sld>
</file>

<file path=ppt/slides/slide10.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1DCC56A-77F1-43E8-A29F-D475A0A41A2A}"/>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84CEF58-5902-43A9-A6B9-471856225717}"/>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Live demonstration and viva</a:t>
            </a:r>
          </a:p>
        </p:txBody>
      </p:sp>
      <p:sp>
        <p:nvSpPr>
          <p:cNvPr id="3" name="">
            <a:extLst xmlns:a="http://schemas.openxmlformats.org/drawingml/2006/main">
              <a:ext uri="{FF2B5EF4-FFF2-40B4-BE49-F238E27FC236}">
                <a16:creationId xmlns:a16="http://schemas.microsoft.com/office/drawing/2014/main" id="{CAD29B63-8753-4112-BED4-70CD1C686784}"/>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Copy a pseudocode block, then run the compiler from the project folder.</a:t>
            </a:r>
          </a:p>
        </p:txBody>
      </p:sp>
      <p:sp>
        <p:nvSpPr>
          <p:cNvPr id="4" name="">
            <a:extLst xmlns:a="http://schemas.openxmlformats.org/drawingml/2006/main">
              <a:ext uri="{FF2B5EF4-FFF2-40B4-BE49-F238E27FC236}">
                <a16:creationId xmlns:a16="http://schemas.microsoft.com/office/drawing/2014/main" id="{5DE948FE-38A3-41A7-BE6A-5936D78280B4}"/>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70B6891-9176-43FA-94C2-E529931EC07F}"/>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897D5308-CDF5-4E8A-85B7-92DBF737B63C}"/>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10</a:t>
            </a:r>
          </a:p>
        </p:txBody>
      </p:sp>
      <p:sp>
        <p:nvSpPr>
          <p:cNvPr id="7" name="">
            <a:extLst xmlns:a="http://schemas.openxmlformats.org/drawingml/2006/main">
              <a:ext uri="{FF2B5EF4-FFF2-40B4-BE49-F238E27FC236}">
                <a16:creationId xmlns:a16="http://schemas.microsoft.com/office/drawing/2014/main" id="{2BEBC566-EA35-4E8B-8FB5-D39947A7B841}"/>
              </a:ext>
            </a:extLst>
          </p:cNvPr>
          <p:cNvSpPr>
            <a:spLocks xmlns:a="http://schemas.openxmlformats.org/drawingml/2006/main" noGrp="1"/>
          </p:cNvSpPr>
          <p:nvPr/>
        </p:nvSpPr>
        <p:spPr>
          <a:xfrm xmlns:a="http://schemas.openxmlformats.org/drawingml/2006/main">
            <a:off x="638175" y="1666875"/>
            <a:ext cx="10887075" cy="809625"/>
          </a:xfrm>
          <a:prstGeom xmlns:a="http://schemas.openxmlformats.org/drawingml/2006/main" prst="roundRect">
            <a:avLst>
              <a:gd name="adj" fmla="val 11765"/>
            </a:avLst>
          </a:prstGeom>
          <a:solidFill xmlns:a="http://schemas.openxmlformats.org/drawingml/2006/main">
            <a:srgbClr val="101B2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8D45DE6-881A-4CA3-9D9A-5FF9BD885637}"/>
              </a:ext>
            </a:extLst>
          </p:cNvPr>
          <p:cNvSpPr>
            <a:spLocks xmlns:a="http://schemas.openxmlformats.org/drawingml/2006/main" noGrp="1"/>
          </p:cNvSpPr>
          <p:nvPr/>
        </p:nvSpPr>
        <p:spPr>
          <a:xfrm xmlns:a="http://schemas.openxmlformats.org/drawingml/2006/main">
            <a:off x="847725" y="1828800"/>
            <a:ext cx="104679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F6F8FC"/>
                </a:solidFill>
                <a:latin typeface="Consolas"/>
                <a:ea typeface="Consolas"/>
                <a:cs typeface="Consolas"/>
              </a:defRPr>
            </a:defPPr>
          </a:lstStyle>
          <a:p xmlns:a="http://schemas.openxmlformats.org/drawingml/2006/main">
            <a:pPr>
              <a:defRPr sz="1950" b="0">
                <a:solidFill>
                  <a:srgbClr val="F6F8FC"/>
                </a:solidFill>
                <a:latin typeface="Consolas"/>
                <a:ea typeface="Consolas"/>
                <a:cs typeface="Consolas"/>
              </a:defRPr>
            </a:pPr>
            <a:r>
              <a:rPr sz="1950" b="0">
                <a:solidFill>
                  <a:srgbClr val="F6F8FC"/>
                </a:solidFill>
                <a:latin typeface="Consolas"/>
                <a:ea typeface="Consolas"/>
                <a:cs typeface="Consolas"/>
              </a:rPr>
              <a:t>python main.py --clipboard --run</a:t>
            </a:r>
          </a:p>
        </p:txBody>
      </p:sp>
      <p:sp>
        <p:nvSpPr>
          <p:cNvPr id="9" name="">
            <a:extLst xmlns:a="http://schemas.openxmlformats.org/drawingml/2006/main">
              <a:ext uri="{FF2B5EF4-FFF2-40B4-BE49-F238E27FC236}">
                <a16:creationId xmlns:a16="http://schemas.microsoft.com/office/drawing/2014/main" id="{E30B82B3-E607-41D2-BCAC-ED41D9B64ED3}"/>
              </a:ext>
            </a:extLst>
          </p:cNvPr>
          <p:cNvSpPr>
            <a:spLocks xmlns:a="http://schemas.openxmlformats.org/drawingml/2006/main" noGrp="1"/>
          </p:cNvSpPr>
          <p:nvPr/>
        </p:nvSpPr>
        <p:spPr>
          <a:xfrm xmlns:a="http://schemas.openxmlformats.org/drawingml/2006/main">
            <a:off x="638175" y="275272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0D5EA"/>
                </a:solidFill>
                <a:latin typeface="Arial"/>
                <a:ea typeface="Arial"/>
                <a:cs typeface="Arial"/>
              </a:defRPr>
            </a:defPPr>
          </a:lstStyle>
          <a:p xmlns:a="http://schemas.openxmlformats.org/drawingml/2006/main">
            <a:pPr>
              <a:defRPr sz="1725" b="1">
                <a:solidFill>
                  <a:srgbClr val="20D5EA"/>
                </a:solidFill>
                <a:latin typeface="Arial"/>
                <a:ea typeface="Arial"/>
                <a:cs typeface="Arial"/>
              </a:defRPr>
            </a:pPr>
            <a:r>
              <a:rPr sz="1725" b="1">
                <a:solidFill>
                  <a:srgbClr val="20D5EA"/>
                </a:solidFill>
                <a:latin typeface="Arial"/>
                <a:ea typeface="Arial"/>
                <a:cs typeface="Arial"/>
              </a:rPr>
              <a:t>Show: source  /  tokens  /  AST  /  symbols  /  IR  /  optimized IR  /  C  /  output</a:t>
            </a:r>
          </a:p>
        </p:txBody>
      </p:sp>
      <p:sp>
        <p:nvSpPr>
          <p:cNvPr id="10" name="">
            <a:extLst xmlns:a="http://schemas.openxmlformats.org/drawingml/2006/main">
              <a:ext uri="{FF2B5EF4-FFF2-40B4-BE49-F238E27FC236}">
                <a16:creationId xmlns:a16="http://schemas.microsoft.com/office/drawing/2014/main" id="{697A4A44-47A0-41C7-9EC6-E130F7C4776E}"/>
              </a:ext>
            </a:extLst>
          </p:cNvPr>
          <p:cNvSpPr>
            <a:spLocks xmlns:a="http://schemas.openxmlformats.org/drawingml/2006/main" noGrp="1"/>
          </p:cNvSpPr>
          <p:nvPr/>
        </p:nvSpPr>
        <p:spPr>
          <a:xfrm xmlns:a="http://schemas.openxmlformats.org/drawingml/2006/main">
            <a:off x="638175" y="3524250"/>
            <a:ext cx="10829925"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C2B8B0C-6026-478A-B5AD-9797408BAA2B}"/>
              </a:ext>
            </a:extLst>
          </p:cNvPr>
          <p:cNvSpPr>
            <a:spLocks xmlns:a="http://schemas.openxmlformats.org/drawingml/2006/main" noGrp="1"/>
          </p:cNvSpPr>
          <p:nvPr/>
        </p:nvSpPr>
        <p:spPr>
          <a:xfrm xmlns:a="http://schemas.openxmlformats.org/drawingml/2006/main">
            <a:off x="638175" y="3781425"/>
            <a:ext cx="22383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F6F8FC"/>
                </a:solidFill>
                <a:latin typeface="Arial"/>
                <a:ea typeface="Arial"/>
                <a:cs typeface="Arial"/>
              </a:defRPr>
            </a:defPPr>
          </a:lstStyle>
          <a:p xmlns:a="http://schemas.openxmlformats.org/drawingml/2006/main">
            <a:pPr>
              <a:defRPr sz="1800" b="1">
                <a:solidFill>
                  <a:srgbClr val="F6F8FC"/>
                </a:solidFill>
                <a:latin typeface="Arial"/>
                <a:ea typeface="Arial"/>
                <a:cs typeface="Arial"/>
              </a:defRPr>
            </a:pPr>
            <a:r>
              <a:rPr sz="1800" b="1">
                <a:solidFill>
                  <a:srgbClr val="F6F8FC"/>
                </a:solidFill>
                <a:latin typeface="Arial"/>
                <a:ea typeface="Arial"/>
                <a:cs typeface="Arial"/>
              </a:rPr>
              <a:t>Why IR?</a:t>
            </a:r>
          </a:p>
        </p:txBody>
      </p:sp>
      <p:sp>
        <p:nvSpPr>
          <p:cNvPr id="12" name="">
            <a:extLst xmlns:a="http://schemas.openxmlformats.org/drawingml/2006/main">
              <a:ext uri="{FF2B5EF4-FFF2-40B4-BE49-F238E27FC236}">
                <a16:creationId xmlns:a16="http://schemas.microsoft.com/office/drawing/2014/main" id="{BA645FA7-5A22-4ABB-82EE-1AB409BABF4E}"/>
              </a:ext>
            </a:extLst>
          </p:cNvPr>
          <p:cNvSpPr>
            <a:spLocks xmlns:a="http://schemas.openxmlformats.org/drawingml/2006/main" noGrp="1"/>
          </p:cNvSpPr>
          <p:nvPr/>
        </p:nvSpPr>
        <p:spPr>
          <a:xfrm xmlns:a="http://schemas.openxmlformats.org/drawingml/2006/main">
            <a:off x="3105150" y="3781425"/>
            <a:ext cx="8334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Arial"/>
                <a:ea typeface="Arial"/>
                <a:cs typeface="Arial"/>
              </a:defRPr>
            </a:defPPr>
          </a:lstStyle>
          <a:p xmlns:a="http://schemas.openxmlformats.org/drawingml/2006/main">
            <a:pPr>
              <a:defRPr sz="1650" b="0">
                <a:solidFill>
                  <a:srgbClr val="AEBBD0"/>
                </a:solidFill>
                <a:latin typeface="Arial"/>
                <a:ea typeface="Arial"/>
                <a:cs typeface="Arial"/>
              </a:defRPr>
            </a:pPr>
            <a:r>
              <a:rPr sz="1650" b="0">
                <a:solidFill>
                  <a:srgbClr val="AEBBD0"/>
                </a:solidFill>
                <a:latin typeface="Arial"/>
                <a:ea typeface="Arial"/>
                <a:cs typeface="Arial"/>
              </a:rPr>
              <a:t>It makes evaluation order explicit before optimization and C generation.</a:t>
            </a:r>
          </a:p>
        </p:txBody>
      </p:sp>
      <p:sp>
        <p:nvSpPr>
          <p:cNvPr id="13" name="">
            <a:extLst xmlns:a="http://schemas.openxmlformats.org/drawingml/2006/main">
              <a:ext uri="{FF2B5EF4-FFF2-40B4-BE49-F238E27FC236}">
                <a16:creationId xmlns:a16="http://schemas.microsoft.com/office/drawing/2014/main" id="{746F5137-F97E-49C8-9CDC-06911727B38D}"/>
              </a:ext>
            </a:extLst>
          </p:cNvPr>
          <p:cNvSpPr>
            <a:spLocks xmlns:a="http://schemas.openxmlformats.org/drawingml/2006/main" noGrp="1"/>
          </p:cNvSpPr>
          <p:nvPr/>
        </p:nvSpPr>
        <p:spPr>
          <a:xfrm xmlns:a="http://schemas.openxmlformats.org/drawingml/2006/main">
            <a:off x="638175" y="4562475"/>
            <a:ext cx="2476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F6F8FC"/>
                </a:solidFill>
                <a:latin typeface="Arial"/>
                <a:ea typeface="Arial"/>
                <a:cs typeface="Arial"/>
              </a:defRPr>
            </a:defPPr>
          </a:lstStyle>
          <a:p xmlns:a="http://schemas.openxmlformats.org/drawingml/2006/main">
            <a:pPr>
              <a:defRPr sz="1800" b="1">
                <a:solidFill>
                  <a:srgbClr val="F6F8FC"/>
                </a:solidFill>
                <a:latin typeface="Arial"/>
                <a:ea typeface="Arial"/>
                <a:cs typeface="Arial"/>
              </a:defRPr>
            </a:pPr>
            <a:r>
              <a:rPr sz="1800" b="1">
                <a:solidFill>
                  <a:srgbClr val="F6F8FC"/>
                </a:solidFill>
                <a:latin typeface="Arial"/>
                <a:ea typeface="Arial"/>
                <a:cs typeface="Arial"/>
              </a:rPr>
              <a:t>What is improved?</a:t>
            </a:r>
          </a:p>
        </p:txBody>
      </p:sp>
      <p:sp>
        <p:nvSpPr>
          <p:cNvPr id="14" name="">
            <a:extLst xmlns:a="http://schemas.openxmlformats.org/drawingml/2006/main">
              <a:ext uri="{FF2B5EF4-FFF2-40B4-BE49-F238E27FC236}">
                <a16:creationId xmlns:a16="http://schemas.microsoft.com/office/drawing/2014/main" id="{3C5F0F2E-1930-4FDD-A04C-BB8C22586A75}"/>
              </a:ext>
            </a:extLst>
          </p:cNvPr>
          <p:cNvSpPr>
            <a:spLocks xmlns:a="http://schemas.openxmlformats.org/drawingml/2006/main" noGrp="1"/>
          </p:cNvSpPr>
          <p:nvPr/>
        </p:nvSpPr>
        <p:spPr>
          <a:xfrm xmlns:a="http://schemas.openxmlformats.org/drawingml/2006/main">
            <a:off x="3105150" y="4562475"/>
            <a:ext cx="8334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Arial"/>
                <a:ea typeface="Arial"/>
                <a:cs typeface="Arial"/>
              </a:defRPr>
            </a:defPPr>
          </a:lstStyle>
          <a:p xmlns:a="http://schemas.openxmlformats.org/drawingml/2006/main">
            <a:pPr>
              <a:defRPr sz="1650" b="0">
                <a:solidFill>
                  <a:srgbClr val="AEBBD0"/>
                </a:solidFill>
                <a:latin typeface="Arial"/>
                <a:ea typeface="Arial"/>
                <a:cs typeface="Arial"/>
              </a:defRPr>
            </a:pPr>
            <a:r>
              <a:rPr sz="1650" b="0">
                <a:solidFill>
                  <a:srgbClr val="AEBBD0"/>
                </a:solidFill>
                <a:latin typeface="Arial"/>
                <a:ea typeface="Arial"/>
                <a:cs typeface="Arial"/>
              </a:rPr>
              <a:t>More language constructs and targeted automatic checks since Review 1.</a:t>
            </a:r>
          </a:p>
        </p:txBody>
      </p:sp>
      <p:sp>
        <p:nvSpPr>
          <p:cNvPr id="15" name="">
            <a:extLst xmlns:a="http://schemas.openxmlformats.org/drawingml/2006/main">
              <a:ext uri="{FF2B5EF4-FFF2-40B4-BE49-F238E27FC236}">
                <a16:creationId xmlns:a16="http://schemas.microsoft.com/office/drawing/2014/main" id="{DA7ACE8C-3879-4A47-A925-42A17447A3D4}"/>
              </a:ext>
            </a:extLst>
          </p:cNvPr>
          <p:cNvSpPr>
            <a:spLocks xmlns:a="http://schemas.openxmlformats.org/drawingml/2006/main" noGrp="1"/>
          </p:cNvSpPr>
          <p:nvPr/>
        </p:nvSpPr>
        <p:spPr>
          <a:xfrm xmlns:a="http://schemas.openxmlformats.org/drawingml/2006/main">
            <a:off x="638175" y="5343525"/>
            <a:ext cx="2476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F6F8FC"/>
                </a:solidFill>
                <a:latin typeface="Arial"/>
                <a:ea typeface="Arial"/>
                <a:cs typeface="Arial"/>
              </a:defRPr>
            </a:defPPr>
          </a:lstStyle>
          <a:p xmlns:a="http://schemas.openxmlformats.org/drawingml/2006/main">
            <a:pPr>
              <a:defRPr sz="1800" b="1">
                <a:solidFill>
                  <a:srgbClr val="F6F8FC"/>
                </a:solidFill>
                <a:latin typeface="Arial"/>
                <a:ea typeface="Arial"/>
                <a:cs typeface="Arial"/>
              </a:defRPr>
            </a:pPr>
            <a:r>
              <a:rPr sz="1800" b="1">
                <a:solidFill>
                  <a:srgbClr val="F6F8FC"/>
                </a:solidFill>
                <a:latin typeface="Arial"/>
                <a:ea typeface="Arial"/>
                <a:cs typeface="Arial"/>
              </a:rPr>
              <a:t>What is unfinished?</a:t>
            </a:r>
          </a:p>
        </p:txBody>
      </p:sp>
      <p:sp>
        <p:nvSpPr>
          <p:cNvPr id="16" name="">
            <a:extLst xmlns:a="http://schemas.openxmlformats.org/drawingml/2006/main">
              <a:ext uri="{FF2B5EF4-FFF2-40B4-BE49-F238E27FC236}">
                <a16:creationId xmlns:a16="http://schemas.microsoft.com/office/drawing/2014/main" id="{A8BEFA53-44D0-41F8-A3E7-E189D06687F8}"/>
              </a:ext>
            </a:extLst>
          </p:cNvPr>
          <p:cNvSpPr>
            <a:spLocks xmlns:a="http://schemas.openxmlformats.org/drawingml/2006/main" noGrp="1"/>
          </p:cNvSpPr>
          <p:nvPr/>
        </p:nvSpPr>
        <p:spPr>
          <a:xfrm xmlns:a="http://schemas.openxmlformats.org/drawingml/2006/main">
            <a:off x="3105150" y="5343525"/>
            <a:ext cx="8334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Arial"/>
                <a:ea typeface="Arial"/>
                <a:cs typeface="Arial"/>
              </a:defRPr>
            </a:defPPr>
          </a:lstStyle>
          <a:p xmlns:a="http://schemas.openxmlformats.org/drawingml/2006/main">
            <a:pPr>
              <a:defRPr sz="1650" b="0">
                <a:solidFill>
                  <a:srgbClr val="AEBBD0"/>
                </a:solidFill>
                <a:latin typeface="Arial"/>
                <a:ea typeface="Arial"/>
                <a:cs typeface="Arial"/>
              </a:defRPr>
            </a:pPr>
            <a:r>
              <a:rPr sz="1650" b="0">
                <a:solidFill>
                  <a:srgbClr val="AEBBD0"/>
                </a:solidFill>
                <a:latin typeface="Arial"/>
                <a:ea typeface="Arial"/>
                <a:cs typeface="Arial"/>
              </a:rPr>
              <a:t>Free-form input and intelligent repair are not implemented.</a:t>
            </a:r>
          </a:p>
        </p:txBody>
      </p:sp>
    </p:spTree>
    <p:extLst>
      <p:ext uri="{BB962C8B-B14F-4D97-AF65-F5344CB8AC3E}">
        <p14:creationId xmlns:p14="http://schemas.microsoft.com/office/powerpoint/2010/main" val="4703751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2026-10-08T07:14:57.0860000Z</dcterms:created>
  <dcterms:modified xsi:type="dcterms:W3CDTF">2026-10-08T07:14:57.0860000Z</dcterms:modified>
</coreProperties>
</file>