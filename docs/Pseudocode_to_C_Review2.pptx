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daeb5353c748af" /><Relationship Type="http://schemas.openxmlformats.org/officeDocument/2006/relationships/extended-properties" Target="/docProps/app.xml" Id="R655e3951f582443f" /><Relationship Type="http://schemas.openxmlformats.org/officeDocument/2006/relationships/officeDocument" Target="/ppt/presentation.xml" Id="Rfc0a4c02496c414a" /></Relationships>
</file>

<file path=ppt/presentation.xml><?xml version="1.0" encoding="utf-8"?>
<p:presentation xmlns:p="http://schemas.openxmlformats.org/presentationml/2006/main">
  <p:sldMasterIdLst>
    <p:sldMasterId xmlns:r="http://schemas.openxmlformats.org/officeDocument/2006/relationships" id="2147483648" r:id="R77ff7d0cee014fc8"/>
  </p:sldMasterIdLst>
  <p:notesMasterIdLst>
    <p:notesMasterId xmlns:r="http://schemas.openxmlformats.org/officeDocument/2006/relationships" r:id="Ra6c7fff8e4604842"/>
  </p:notesMasterIdLst>
  <p:sldIdLst>
    <p:sldId xmlns:r="http://schemas.openxmlformats.org/officeDocument/2006/relationships" id="256" r:id="R471c7d6bad264d3d"/>
    <p:sldId xmlns:r="http://schemas.openxmlformats.org/officeDocument/2006/relationships" id="257" r:id="R7fbebf4535284441"/>
    <p:sldId xmlns:r="http://schemas.openxmlformats.org/officeDocument/2006/relationships" id="258" r:id="Rec09d55a58f04265"/>
    <p:sldId xmlns:r="http://schemas.openxmlformats.org/officeDocument/2006/relationships" id="259" r:id="R1eebbc2ed581435d"/>
    <p:sldId xmlns:r="http://schemas.openxmlformats.org/officeDocument/2006/relationships" id="260" r:id="Rc65f8a1465d94cda"/>
    <p:sldId xmlns:r="http://schemas.openxmlformats.org/officeDocument/2006/relationships" id="261" r:id="R54dad522cbe04e9b"/>
    <p:sldId xmlns:r="http://schemas.openxmlformats.org/officeDocument/2006/relationships" id="262" r:id="R02dec67d7fa54ff6"/>
    <p:sldId xmlns:r="http://schemas.openxmlformats.org/officeDocument/2006/relationships" id="263" r:id="R7daf5528acad4363"/>
    <p:sldId xmlns:r="http://schemas.openxmlformats.org/officeDocument/2006/relationships" id="264" r:id="R1480123c69654327"/>
    <p:sldId xmlns:r="http://schemas.openxmlformats.org/officeDocument/2006/relationships" id="265" r:id="Ra2ecd7bab1064a8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680226998a410f" /><Relationship Type="http://schemas.openxmlformats.org/officeDocument/2006/relationships/slideMaster" Target="/ppt/slideMasters/slideMaster1.xml" Id="R77ff7d0cee014fc8" /><Relationship Type="http://schemas.openxmlformats.org/officeDocument/2006/relationships/notesMaster" Target="/ppt/notesMasters/notesMaster1.xml" Id="Ra6c7fff8e4604842" /><Relationship Type="http://schemas.openxmlformats.org/officeDocument/2006/relationships/presProps" Target="/ppt/presProps.xml" Id="R4c2033c5d36d4d7a" /><Relationship Type="http://schemas.openxmlformats.org/officeDocument/2006/relationships/tableStyles" Target="/ppt/tableStyles.xml" Id="R5999d998bfe64674" /><Relationship Type="http://schemas.openxmlformats.org/officeDocument/2006/relationships/slide" Target="/ppt/slides/slide1.xml" Id="R471c7d6bad264d3d" /><Relationship Type="http://schemas.openxmlformats.org/officeDocument/2006/relationships/slide" Target="/ppt/slides/slide2.xml" Id="R7fbebf4535284441" /><Relationship Type="http://schemas.openxmlformats.org/officeDocument/2006/relationships/slide" Target="/ppt/slides/slide3.xml" Id="Rec09d55a58f04265" /><Relationship Type="http://schemas.openxmlformats.org/officeDocument/2006/relationships/slide" Target="/ppt/slides/slide4.xml" Id="R1eebbc2ed581435d" /><Relationship Type="http://schemas.openxmlformats.org/officeDocument/2006/relationships/slide" Target="/ppt/slides/slide5.xml" Id="Rc65f8a1465d94cda" /><Relationship Type="http://schemas.openxmlformats.org/officeDocument/2006/relationships/slide" Target="/ppt/slides/slide6.xml" Id="R54dad522cbe04e9b" /><Relationship Type="http://schemas.openxmlformats.org/officeDocument/2006/relationships/slide" Target="/ppt/slides/slide7.xml" Id="R02dec67d7fa54ff6" /><Relationship Type="http://schemas.openxmlformats.org/officeDocument/2006/relationships/slide" Target="/ppt/slides/slide8.xml" Id="R7daf5528acad4363" /><Relationship Type="http://schemas.openxmlformats.org/officeDocument/2006/relationships/slide" Target="/ppt/slides/slide9.xml" Id="R1480123c69654327" /><Relationship Type="http://schemas.openxmlformats.org/officeDocument/2006/relationships/slide" Target="/ppt/slides/slide10.xml" Id="Ra2ecd7bab1064a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0fa3fd37304c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ad0327c0574bf6" /><Relationship Type="http://schemas.openxmlformats.org/officeDocument/2006/relationships/notesMaster" Target="/ppt/notesMasters/notesMaster1.xml" Id="R2fc966cab4fe48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a043748b534b8e" /><Relationship Type="http://schemas.openxmlformats.org/officeDocument/2006/relationships/notesMaster" Target="/ppt/notesMasters/notesMaster1.xml" Id="Rc43dc59cc21d442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c4e957b7894eb1" /><Relationship Type="http://schemas.openxmlformats.org/officeDocument/2006/relationships/notesMaster" Target="/ppt/notesMasters/notesMaster1.xml" Id="R8e54b02825e442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9b021839df4ffe" /><Relationship Type="http://schemas.openxmlformats.org/officeDocument/2006/relationships/notesMaster" Target="/ppt/notesMasters/notesMaster1.xml" Id="R21b69847f1654f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0048293f09429f" /><Relationship Type="http://schemas.openxmlformats.org/officeDocument/2006/relationships/notesMaster" Target="/ppt/notesMasters/notesMaster1.xml" Id="R6d53366aaa6140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085da09a2d479c" /><Relationship Type="http://schemas.openxmlformats.org/officeDocument/2006/relationships/notesMaster" Target="/ppt/notesMasters/notesMaster1.xml" Id="R2b199116bd1449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c65911a85e422c" /><Relationship Type="http://schemas.openxmlformats.org/officeDocument/2006/relationships/notesMaster" Target="/ppt/notesMasters/notesMaster1.xml" Id="R0c3b502173864c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8291184da74970" /><Relationship Type="http://schemas.openxmlformats.org/officeDocument/2006/relationships/notesMaster" Target="/ppt/notesMasters/notesMaster1.xml" Id="R508dbccd792340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bc0df581e34bc6" /><Relationship Type="http://schemas.openxmlformats.org/officeDocument/2006/relationships/notesMaster" Target="/ppt/notesMasters/notesMaster1.xml" Id="Rfcad964885a04c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b1bfbf90f546d8" /><Relationship Type="http://schemas.openxmlformats.org/officeDocument/2006/relationships/notesMaster" Target="/ppt/notesMasters/notesMaster1.xml" Id="Rdc0fc9f5f4e041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as a restricted pseudocode-to-C compiler. Explain that it reads a defined teaching language, checks it, builds an intermediate representation, and emits readable C. Review 2 shows the connected implementation and its current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problem simply: the project helps turn small, structured algorithms into C while exposing how a compiler works. The source uses a defined grammar. The output is a C program, not an interpretation of arbitrary English.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about the baseline. The Phase 1 report highlighted simple declarations, assignments, arithmetic and PRINT. The supplied Review 1 code already contained IF/ELSE, WHILE, FOR, READ and one-dimensional arrays, so do not claim those were invented for Review 2. The new extensions are strings, bitwise operators, loop control, contracts, automatic guards, diagnostic suggestions and optimizer comparison. Source: docs/phase1-alignment.md.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flow in order. main.py obtains the source. lexer.py creates tokens. parser.py creates the AST. semantic.py checks declared identifiers, types and scopes and builds the symbol table. ir.py lowers the AST. optimizer.py performs conservative transformations. cgen.py produces C. GCC is an optional final validation/execution step and is not a compiler module. The CLI prints source, tokens, AST, symbols, IR, optimized IR and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end-to-end explanation. The lexer identifies keywords, x, literals and plus. The parser builds an assignment node with a binary addition. Semantic analysis finds x declared as INTEGER. The original IR uses a temporary t1. The optimizer safely folds 2 + 3 to 5. The generator emits x = 5 and printf. Running the generated C prints 5. The temporary appears in IR because IR exposes evaluation steps; it need not remain in final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live FOR example if asked about code generation. The current C generator emits an ordinary for loop for fixed bounds that are safe for the int iterator. It emits continue without goto. Dynamic or extreme bounds use a wider control value in a C for loop. WHILE source still generates C while.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error handling. The lexer/parser/semantic analyzer reject invalid source, such as unknown tokens, malformed syntax, undeclared names or incompatible assignments. The left excerpt is from examples/invalid.pseudo. The compiler stops at the first undeclared-name error; if that line is removed, the REAL-to-INTEGER assignment is a separate error. Generated C also checks input-dependent faults at runtime: division or remainder by zero, dynamic array bounds and shift counts. The right pseudocode is an excerpt; full programs need BEGIN, END and declarations. REQUIRE and ENSURE are optional explicit conditions. Do not say the compiler repairs arbitrary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what is novel, describe this as a useful improvement in this project, not a newly invented compiler algorithm. First, the C generator recognizes operations and inserts selected runtime guards automatically; a zero divisor is the simplest example, and dynamic array indices and shift counts are also covered. Second, the project has a seeded differential check targeted at its optimizer: generated bounded programs are translated with optimization on and off, compiled with GCC and compared by output, errors and status. The method is inspired by established compiler-testing research; the current implementation is project-specific.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Python unit suite completed 111 tests with GCC present. It covers translation and selected generated C execution, including errors. The optimizer comparison used seed 20260925 and 30 bounded generated programs, producing 60 optimized and unoptimized executions; output, standard error and exit status matched in that run. These observations do not prove correctness for every possible program.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clear that the project is a restricted translator. It does not understand unrestricted prose, define functions or support multidimensional arrays or Boolean AND/OR. Strings use a fixed C buffer holding up to 255 ASCII characters. General arithmetic overflow and definite assignment are not checked. The automatic guards target specific operations and do not prove universal safety.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a29fa8bd1c494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5b7bf218f645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867a5b7f564d9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23e408ef5d041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86e342d59554d4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66887d5ad6845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950889-0ECC-4022-8CD2-14A358378AE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ED21CC-7727-47DD-8737-9D398BA9B2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F87D88E-E360-4548-B0DF-94937A3392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2C6F1E-054A-4E5D-ACA1-4F8400E407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6583E9F-497E-4397-A540-BCC7F22959F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286F8E-EB5F-42D1-9E7A-9B38CA9E8F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899841E-6C2B-4F90-90AE-1E10807958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8B843E-D442-44F0-98BF-43C27971075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D49251-FE48-459E-884F-B14EABE4FB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B738FF-AF86-40E5-B716-E07A5A332AE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cc9a2059f74c04" /><Relationship Type="http://schemas.openxmlformats.org/officeDocument/2006/relationships/slideLayout" Target="/ppt/slideLayouts/slideLayout1.xml" Id="R9a0cbb46df71422d" /><Relationship Type="http://schemas.openxmlformats.org/officeDocument/2006/relationships/slideLayout" Target="/ppt/slideLayouts/slideLayout2.xml" Id="R6b3b14b997d74ab3" /><Relationship Type="http://schemas.openxmlformats.org/officeDocument/2006/relationships/slideLayout" Target="/ppt/slideLayouts/slideLayout3.xml" Id="R3777ca30b9504c58" /><Relationship Type="http://schemas.openxmlformats.org/officeDocument/2006/relationships/slideLayout" Target="/ppt/slideLayouts/slideLayout4.xml" Id="R65db334574084f5d" /><Relationship Type="http://schemas.openxmlformats.org/officeDocument/2006/relationships/slideLayout" Target="/ppt/slideLayouts/slideLayout5.xml" Id="Rd1d672b0668b46d4" /><Relationship Type="http://schemas.openxmlformats.org/officeDocument/2006/relationships/slideLayout" Target="/ppt/slideLayouts/slideLayout6.xml" Id="R437bc9a34f1a4e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0cbb46df71422d"/>
    <p:sldLayoutId xmlns:r="http://schemas.openxmlformats.org/officeDocument/2006/relationships" id="2147483650" r:id="R6b3b14b997d74ab3"/>
    <p:sldLayoutId xmlns:r="http://schemas.openxmlformats.org/officeDocument/2006/relationships" id="2147483651" r:id="R3777ca30b9504c58"/>
    <p:sldLayoutId xmlns:r="http://schemas.openxmlformats.org/officeDocument/2006/relationships" id="2147483652" r:id="R65db334574084f5d"/>
    <p:sldLayoutId xmlns:r="http://schemas.openxmlformats.org/officeDocument/2006/relationships" id="2147483653" r:id="Rd1d672b0668b46d4"/>
    <p:sldLayoutId xmlns:r="http://schemas.openxmlformats.org/officeDocument/2006/relationships" id="2147483654" r:id="R437bc9a34f1a4e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299b81e4f7f4829" /><Relationship Type="http://schemas.openxmlformats.org/officeDocument/2006/relationships/notesSlide" Target="/ppt/notesSlides/notesSlide1.xml" Id="R1f545b469ec743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74b14563ee048e7" /><Relationship Type="http://schemas.openxmlformats.org/officeDocument/2006/relationships/notesSlide" Target="/ppt/notesSlides/notesSlide2.xml" Id="R25184e3a12e248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559b7ec39b34be9" /><Relationship Type="http://schemas.openxmlformats.org/officeDocument/2006/relationships/notesSlide" Target="/ppt/notesSlides/notesSlide3.xml" Id="R71c6e9ee490143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babbce5cf0a4410" /><Relationship Type="http://schemas.openxmlformats.org/officeDocument/2006/relationships/notesSlide" Target="/ppt/notesSlides/notesSlide4.xml" Id="R4a8bfff390c445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fa29eccac14a8e" /><Relationship Type="http://schemas.openxmlformats.org/officeDocument/2006/relationships/notesSlide" Target="/ppt/notesSlides/notesSlide5.xml" Id="Ra320c4c82f0747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84b275ac0044712" /><Relationship Type="http://schemas.openxmlformats.org/officeDocument/2006/relationships/notesSlide" Target="/ppt/notesSlides/notesSlide6.xml" Id="R12a55d7f252c43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0f35e942b04065" /><Relationship Type="http://schemas.openxmlformats.org/officeDocument/2006/relationships/notesSlide" Target="/ppt/notesSlides/notesSlide7.xml" Id="R602e3fa724f040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46e103f71ab43ff" /><Relationship Type="http://schemas.openxmlformats.org/officeDocument/2006/relationships/notesSlide" Target="/ppt/notesSlides/notesSlide8.xml" Id="Reeaae7f20d1b40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3488c021224897" /><Relationship Type="http://schemas.openxmlformats.org/officeDocument/2006/relationships/notesSlide" Target="/ppt/notesSlides/notesSlide9.xml" Id="R426864ce3be744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739db35e6984f41" /><Relationship Type="http://schemas.openxmlformats.org/officeDocument/2006/relationships/notesSlide" Target="/ppt/notesSlides/notesSlide10.xml" Id="R9da2748cd92d4c5e" /></Relationships>
</file>

<file path=ppt/slides/slide1.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F9427C-6CEC-4F86-AACF-EF1CA1D9EC2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A7C80A-A9A4-4C38-87BE-700BA6E95ECF}"/>
              </a:ext>
            </a:extLst>
          </p:cNvPr>
          <p:cNvSpPr>
            <a:spLocks xmlns:a="http://schemas.openxmlformats.org/drawingml/2006/main" noGrp="1"/>
          </p:cNvSpPr>
          <p:nvPr/>
        </p:nvSpPr>
        <p:spPr>
          <a:xfrm xmlns:a="http://schemas.openxmlformats.org/drawingml/2006/main">
            <a:off x="619125" y="504825"/>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0D5EA"/>
                </a:solidFill>
                <a:latin typeface="Arial"/>
                <a:ea typeface="Arial"/>
                <a:cs typeface="Arial"/>
              </a:defRPr>
            </a:defPPr>
          </a:lstStyle>
          <a:p xmlns:a="http://schemas.openxmlformats.org/drawingml/2006/main">
            <a:pPr>
              <a:defRPr sz="1425" b="1">
                <a:solidFill>
                  <a:srgbClr val="20D5EA"/>
                </a:solidFill>
                <a:latin typeface="Arial"/>
                <a:ea typeface="Arial"/>
                <a:cs typeface="Arial"/>
              </a:defRPr>
            </a:pPr>
            <a:r>
              <a:rPr sz="1425" b="1">
                <a:solidFill>
                  <a:srgbClr val="20D5EA"/>
                </a:solidFill>
                <a:latin typeface="Arial"/>
                <a:ea typeface="Arial"/>
                <a:cs typeface="Arial"/>
              </a:rPr>
              <a:t>COMPILER DESIGN LABORATORY</a:t>
            </a:r>
          </a:p>
        </p:txBody>
      </p:sp>
      <p:sp>
        <p:nvSpPr>
          <p:cNvPr id="3" name="">
            <a:extLst xmlns:a="http://schemas.openxmlformats.org/drawingml/2006/main">
              <a:ext uri="{FF2B5EF4-FFF2-40B4-BE49-F238E27FC236}">
                <a16:creationId xmlns:a16="http://schemas.microsoft.com/office/drawing/2014/main" id="{17DF0797-EEB4-4A5E-8A9B-51E26C59BBFE}"/>
              </a:ext>
            </a:extLst>
          </p:cNvPr>
          <p:cNvSpPr>
            <a:spLocks xmlns:a="http://schemas.openxmlformats.org/drawingml/2006/main" noGrp="1"/>
          </p:cNvSpPr>
          <p:nvPr/>
        </p:nvSpPr>
        <p:spPr>
          <a:xfrm xmlns:a="http://schemas.openxmlformats.org/drawingml/2006/main">
            <a:off x="619125" y="1476375"/>
            <a:ext cx="10287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050" b="1">
                <a:solidFill>
                  <a:srgbClr val="F6F8FC"/>
                </a:solidFill>
                <a:latin typeface="Arial"/>
                <a:ea typeface="Arial"/>
                <a:cs typeface="Arial"/>
              </a:defRPr>
            </a:defPPr>
          </a:lstStyle>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Pseudocode-to-C</a:t>
            </a:r>
          </a:p>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Code Translator</a:t>
            </a:r>
          </a:p>
        </p:txBody>
      </p:sp>
      <p:sp>
        <p:nvSpPr>
          <p:cNvPr id="4" name="">
            <a:extLst xmlns:a="http://schemas.openxmlformats.org/drawingml/2006/main">
              <a:ext uri="{FF2B5EF4-FFF2-40B4-BE49-F238E27FC236}">
                <a16:creationId xmlns:a16="http://schemas.microsoft.com/office/drawing/2014/main" id="{A774AD5E-15B2-49C3-9BB8-62604BF69360}"/>
              </a:ext>
            </a:extLst>
          </p:cNvPr>
          <p:cNvSpPr>
            <a:spLocks xmlns:a="http://schemas.openxmlformats.org/drawingml/2006/main" noGrp="1"/>
          </p:cNvSpPr>
          <p:nvPr/>
        </p:nvSpPr>
        <p:spPr>
          <a:xfrm xmlns:a="http://schemas.openxmlformats.org/drawingml/2006/main">
            <a:off x="619125" y="3114675"/>
            <a:ext cx="981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4C82FF"/>
                </a:solidFill>
                <a:latin typeface="Arial"/>
                <a:ea typeface="Arial"/>
                <a:cs typeface="Arial"/>
              </a:defRPr>
            </a:defPPr>
          </a:lstStyle>
          <a:p xmlns:a="http://schemas.openxmlformats.org/drawingml/2006/main">
            <a:pPr>
              <a:defRPr sz="2100" b="1">
                <a:solidFill>
                  <a:srgbClr val="4C82FF"/>
                </a:solidFill>
                <a:latin typeface="Arial"/>
                <a:ea typeface="Arial"/>
                <a:cs typeface="Arial"/>
              </a:defRPr>
            </a:pPr>
            <a:r>
              <a:rPr sz="2100" b="1">
                <a:solidFill>
                  <a:srgbClr val="4C82FF"/>
                </a:solidFill>
                <a:latin typeface="Arial"/>
                <a:ea typeface="Arial"/>
                <a:cs typeface="Arial"/>
              </a:rPr>
              <a:t>Review 2   Core implementation progress</a:t>
            </a:r>
          </a:p>
        </p:txBody>
      </p:sp>
      <p:sp>
        <p:nvSpPr>
          <p:cNvPr id="5" name="">
            <a:extLst xmlns:a="http://schemas.openxmlformats.org/drawingml/2006/main">
              <a:ext uri="{FF2B5EF4-FFF2-40B4-BE49-F238E27FC236}">
                <a16:creationId xmlns:a16="http://schemas.microsoft.com/office/drawing/2014/main" id="{DA76EE2E-2CD8-49E7-B286-9FECE83331A4}"/>
              </a:ext>
            </a:extLst>
          </p:cNvPr>
          <p:cNvSpPr>
            <a:spLocks xmlns:a="http://schemas.openxmlformats.org/drawingml/2006/main" noGrp="1"/>
          </p:cNvSpPr>
          <p:nvPr/>
        </p:nvSpPr>
        <p:spPr>
          <a:xfrm xmlns:a="http://schemas.openxmlformats.org/drawingml/2006/main">
            <a:off x="619125" y="3905250"/>
            <a:ext cx="104775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F34C4D0-1A10-4639-BC41-0686103BA463}"/>
              </a:ext>
            </a:extLst>
          </p:cNvPr>
          <p:cNvSpPr>
            <a:spLocks xmlns:a="http://schemas.openxmlformats.org/drawingml/2006/main" noGrp="1"/>
          </p:cNvSpPr>
          <p:nvPr/>
        </p:nvSpPr>
        <p:spPr>
          <a:xfrm xmlns:a="http://schemas.openxmlformats.org/drawingml/2006/main">
            <a:off x="619125" y="4210050"/>
            <a:ext cx="752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F6F8FC"/>
                </a:solidFill>
                <a:latin typeface="Arial"/>
                <a:ea typeface="Arial"/>
                <a:cs typeface="Arial"/>
              </a:defRPr>
            </a:defPPr>
          </a:lstStyle>
          <a:p xmlns:a="http://schemas.openxmlformats.org/drawingml/2006/main">
            <a:pPr>
              <a:defRPr sz="2025" b="1">
                <a:solidFill>
                  <a:srgbClr val="F6F8FC"/>
                </a:solidFill>
                <a:latin typeface="Arial"/>
                <a:ea typeface="Arial"/>
                <a:cs typeface="Arial"/>
              </a:defRPr>
            </a:pPr>
            <a:r>
              <a:rPr sz="2025" b="1">
                <a:solidFill>
                  <a:srgbClr val="F6F8FC"/>
                </a:solidFill>
                <a:latin typeface="Arial"/>
                <a:ea typeface="Arial"/>
                <a:cs typeface="Arial"/>
              </a:rPr>
              <a:t>Sashwath J   |   24BAI0059</a:t>
            </a:r>
          </a:p>
        </p:txBody>
      </p:sp>
      <p:sp>
        <p:nvSpPr>
          <p:cNvPr id="7" name="">
            <a:extLst xmlns:a="http://schemas.openxmlformats.org/drawingml/2006/main">
              <a:ext uri="{FF2B5EF4-FFF2-40B4-BE49-F238E27FC236}">
                <a16:creationId xmlns:a16="http://schemas.microsoft.com/office/drawing/2014/main" id="{89674474-6953-48BE-BD8F-637EBF9DEF1E}"/>
              </a:ext>
            </a:extLst>
          </p:cNvPr>
          <p:cNvSpPr>
            <a:spLocks xmlns:a="http://schemas.openxmlformats.org/drawingml/2006/main" noGrp="1"/>
          </p:cNvSpPr>
          <p:nvPr/>
        </p:nvSpPr>
        <p:spPr>
          <a:xfrm xmlns:a="http://schemas.openxmlformats.org/drawingml/2006/main">
            <a:off x="619125" y="46863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BCSE307P   Compiler Design Laboratory   |   2026–27</a:t>
            </a:r>
          </a:p>
        </p:txBody>
      </p:sp>
      <p:sp>
        <p:nvSpPr>
          <p:cNvPr id="8" name="">
            <a:extLst xmlns:a="http://schemas.openxmlformats.org/drawingml/2006/main">
              <a:ext uri="{FF2B5EF4-FFF2-40B4-BE49-F238E27FC236}">
                <a16:creationId xmlns:a16="http://schemas.microsoft.com/office/drawing/2014/main" id="{50882F22-D487-4E6D-B83D-DA5ED30AC8D5}"/>
              </a:ext>
            </a:extLst>
          </p:cNvPr>
          <p:cNvSpPr>
            <a:spLocks xmlns:a="http://schemas.openxmlformats.org/drawingml/2006/main" noGrp="1"/>
          </p:cNvSpPr>
          <p:nvPr/>
        </p:nvSpPr>
        <p:spPr>
          <a:xfrm xmlns:a="http://schemas.openxmlformats.org/drawingml/2006/main">
            <a:off x="619125" y="58483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Working translator, compiler stages, test evidence and current limits</a:t>
            </a:r>
          </a:p>
        </p:txBody>
      </p:sp>
    </p:spTree>
    <p:extLst>
      <p:ext uri="{BB962C8B-B14F-4D97-AF65-F5344CB8AC3E}">
        <p14:creationId xmlns:p14="http://schemas.microsoft.com/office/powerpoint/2010/main" val="410118142"/>
      </p:ext>
    </p:extLst>
  </p:cSld>
</p:sld>
</file>

<file path=ppt/slides/slide2.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D81CC43-E765-433A-BDC9-8B012DA90134}"/>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E90D030-559C-4257-8F69-6C0A7AF89647}"/>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Project objective and method</a:t>
            </a:r>
          </a:p>
        </p:txBody>
      </p:sp>
      <p:sp>
        <p:nvSpPr>
          <p:cNvPr id="3" name="">
            <a:extLst xmlns:a="http://schemas.openxmlformats.org/drawingml/2006/main">
              <a:ext uri="{FF2B5EF4-FFF2-40B4-BE49-F238E27FC236}">
                <a16:creationId xmlns:a16="http://schemas.microsoft.com/office/drawing/2014/main" id="{5CD57080-CF18-4786-91BD-D74B6614F74F}"/>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Translate a defined pseudocode language into readable, compilable C.</a:t>
            </a:r>
          </a:p>
        </p:txBody>
      </p:sp>
      <p:sp>
        <p:nvSpPr>
          <p:cNvPr id="4" name="">
            <a:extLst xmlns:a="http://schemas.openxmlformats.org/drawingml/2006/main">
              <a:ext uri="{FF2B5EF4-FFF2-40B4-BE49-F238E27FC236}">
                <a16:creationId xmlns:a16="http://schemas.microsoft.com/office/drawing/2014/main" id="{69C1B36A-6B20-47CA-B57B-63545F027ED0}"/>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7A7FCA8-BA70-42A9-838C-8B39BA6DCFF8}"/>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277D166E-74E9-43C8-A22C-00DF814D863F}"/>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28FBCFCB-ACCB-41EF-ADAC-3AF66F5AF6D2}"/>
              </a:ext>
            </a:extLst>
          </p:cNvPr>
          <p:cNvSpPr>
            <a:spLocks xmlns:a="http://schemas.openxmlformats.org/drawingml/2006/main" noGrp="1"/>
          </p:cNvSpPr>
          <p:nvPr/>
        </p:nvSpPr>
        <p:spPr>
          <a:xfrm xmlns:a="http://schemas.openxmlformats.org/drawingml/2006/main">
            <a:off x="638175" y="155257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INPUT</a:t>
            </a:r>
          </a:p>
        </p:txBody>
      </p:sp>
      <p:sp>
        <p:nvSpPr>
          <p:cNvPr id="8" name="">
            <a:extLst xmlns:a="http://schemas.openxmlformats.org/drawingml/2006/main">
              <a:ext uri="{FF2B5EF4-FFF2-40B4-BE49-F238E27FC236}">
                <a16:creationId xmlns:a16="http://schemas.microsoft.com/office/drawing/2014/main" id="{704E2AF6-1E4E-420C-B7E6-04CFED039D17}"/>
              </a:ext>
            </a:extLst>
          </p:cNvPr>
          <p:cNvSpPr>
            <a:spLocks xmlns:a="http://schemas.openxmlformats.org/drawingml/2006/main" noGrp="1"/>
          </p:cNvSpPr>
          <p:nvPr/>
        </p:nvSpPr>
        <p:spPr>
          <a:xfrm xmlns:a="http://schemas.openxmlformats.org/drawingml/2006/main">
            <a:off x="638175" y="1895475"/>
            <a:ext cx="3048000"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702A4D2-F534-4855-B539-19B5E66116B2}"/>
              </a:ext>
            </a:extLst>
          </p:cNvPr>
          <p:cNvSpPr>
            <a:spLocks xmlns:a="http://schemas.openxmlformats.org/drawingml/2006/main" noGrp="1"/>
          </p:cNvSpPr>
          <p:nvPr/>
        </p:nvSpPr>
        <p:spPr>
          <a:xfrm xmlns:a="http://schemas.openxmlformats.org/drawingml/2006/main">
            <a:off x="628650" y="2066925"/>
            <a:ext cx="3048000" cy="2095500"/>
          </a:xfrm>
          <a:prstGeom xmlns:a="http://schemas.openxmlformats.org/drawingml/2006/main" prst="roundRect">
            <a:avLst>
              <a:gd name="adj" fmla="val 4545"/>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8B8E3D-BA93-4DBF-9C32-8CA0B45E9E88}"/>
              </a:ext>
            </a:extLst>
          </p:cNvPr>
          <p:cNvSpPr>
            <a:spLocks xmlns:a="http://schemas.openxmlformats.org/drawingml/2006/main" noGrp="1"/>
          </p:cNvSpPr>
          <p:nvPr/>
        </p:nvSpPr>
        <p:spPr>
          <a:xfrm xmlns:a="http://schemas.openxmlformats.org/drawingml/2006/main">
            <a:off x="838200" y="2228850"/>
            <a:ext cx="262890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Consolas"/>
                <a:ea typeface="Consolas"/>
                <a:cs typeface="Consolas"/>
              </a:defRPr>
            </a:defPPr>
          </a:lstStyle>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BEGIN</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DECLARE x AS INTEGER</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SET x = 2 + 3</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PRINT x</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287EBFB3-D5D1-4744-A05F-A8B2FF3D3BE2}"/>
              </a:ext>
            </a:extLst>
          </p:cNvPr>
          <p:cNvSpPr>
            <a:spLocks xmlns:a="http://schemas.openxmlformats.org/drawingml/2006/main" noGrp="1"/>
          </p:cNvSpPr>
          <p:nvPr/>
        </p:nvSpPr>
        <p:spPr>
          <a:xfrm xmlns:a="http://schemas.openxmlformats.org/drawingml/2006/main">
            <a:off x="4467225" y="155257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COMPILER</a:t>
            </a:r>
          </a:p>
        </p:txBody>
      </p:sp>
      <p:sp>
        <p:nvSpPr>
          <p:cNvPr id="12" name="">
            <a:extLst xmlns:a="http://schemas.openxmlformats.org/drawingml/2006/main">
              <a:ext uri="{FF2B5EF4-FFF2-40B4-BE49-F238E27FC236}">
                <a16:creationId xmlns:a16="http://schemas.microsoft.com/office/drawing/2014/main" id="{8411A54F-B8F8-4947-AD4C-91E7CCBFCB3B}"/>
              </a:ext>
            </a:extLst>
          </p:cNvPr>
          <p:cNvSpPr>
            <a:spLocks xmlns:a="http://schemas.openxmlformats.org/drawingml/2006/main" noGrp="1"/>
          </p:cNvSpPr>
          <p:nvPr/>
        </p:nvSpPr>
        <p:spPr>
          <a:xfrm xmlns:a="http://schemas.openxmlformats.org/drawingml/2006/main">
            <a:off x="4467225" y="1895475"/>
            <a:ext cx="30480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7EC77EA-B465-4D9B-A5AD-7D3D50DB971C}"/>
              </a:ext>
            </a:extLst>
          </p:cNvPr>
          <p:cNvSpPr>
            <a:spLocks xmlns:a="http://schemas.openxmlformats.org/drawingml/2006/main" noGrp="1"/>
          </p:cNvSpPr>
          <p:nvPr/>
        </p:nvSpPr>
        <p:spPr>
          <a:xfrm xmlns:a="http://schemas.openxmlformats.org/drawingml/2006/main">
            <a:off x="4476750" y="2095500"/>
            <a:ext cx="304800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Recognize syntax</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Check names and types</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Build and optimize IR</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Generate C</a:t>
            </a:r>
          </a:p>
        </p:txBody>
      </p:sp>
      <p:sp>
        <p:nvSpPr>
          <p:cNvPr id="14" name="">
            <a:extLst xmlns:a="http://schemas.openxmlformats.org/drawingml/2006/main">
              <a:ext uri="{FF2B5EF4-FFF2-40B4-BE49-F238E27FC236}">
                <a16:creationId xmlns:a16="http://schemas.microsoft.com/office/drawing/2014/main" id="{BDA59254-4628-45CE-98E7-3B33BF1C9997}"/>
              </a:ext>
            </a:extLst>
          </p:cNvPr>
          <p:cNvSpPr>
            <a:spLocks xmlns:a="http://schemas.openxmlformats.org/drawingml/2006/main" noGrp="1"/>
          </p:cNvSpPr>
          <p:nvPr/>
        </p:nvSpPr>
        <p:spPr>
          <a:xfrm xmlns:a="http://schemas.openxmlformats.org/drawingml/2006/main">
            <a:off x="8286750" y="1552575"/>
            <a:ext cx="3181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OUTPUT</a:t>
            </a:r>
          </a:p>
        </p:txBody>
      </p:sp>
      <p:sp>
        <p:nvSpPr>
          <p:cNvPr id="15" name="">
            <a:extLst xmlns:a="http://schemas.openxmlformats.org/drawingml/2006/main">
              <a:ext uri="{FF2B5EF4-FFF2-40B4-BE49-F238E27FC236}">
                <a16:creationId xmlns:a16="http://schemas.microsoft.com/office/drawing/2014/main" id="{74C6A8A5-D629-439D-8DC1-6FC7EE83522D}"/>
              </a:ext>
            </a:extLst>
          </p:cNvPr>
          <p:cNvSpPr>
            <a:spLocks xmlns:a="http://schemas.openxmlformats.org/drawingml/2006/main" noGrp="1"/>
          </p:cNvSpPr>
          <p:nvPr/>
        </p:nvSpPr>
        <p:spPr>
          <a:xfrm xmlns:a="http://schemas.openxmlformats.org/drawingml/2006/main">
            <a:off x="8286750" y="1895475"/>
            <a:ext cx="318135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9B2BA0B-D326-4F60-A3CA-F028ACC76F97}"/>
              </a:ext>
            </a:extLst>
          </p:cNvPr>
          <p:cNvSpPr>
            <a:spLocks xmlns:a="http://schemas.openxmlformats.org/drawingml/2006/main" noGrp="1"/>
          </p:cNvSpPr>
          <p:nvPr/>
        </p:nvSpPr>
        <p:spPr>
          <a:xfrm xmlns:a="http://schemas.openxmlformats.org/drawingml/2006/main">
            <a:off x="8277225" y="2066925"/>
            <a:ext cx="3190875" cy="2095500"/>
          </a:xfrm>
          <a:prstGeom xmlns:a="http://schemas.openxmlformats.org/drawingml/2006/main" prst="roundRect">
            <a:avLst>
              <a:gd name="adj" fmla="val 4545"/>
            </a:avLst>
          </a:prstGeom>
          <a:solidFill xmlns:a="http://schemas.openxmlformats.org/drawingml/2006/main">
            <a:srgbClr val="101B2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F0CE149-0F8C-4489-9261-6214A0A98B48}"/>
              </a:ext>
            </a:extLst>
          </p:cNvPr>
          <p:cNvSpPr>
            <a:spLocks xmlns:a="http://schemas.openxmlformats.org/drawingml/2006/main" noGrp="1"/>
          </p:cNvSpPr>
          <p:nvPr/>
        </p:nvSpPr>
        <p:spPr>
          <a:xfrm xmlns:a="http://schemas.openxmlformats.org/drawingml/2006/main">
            <a:off x="8486775" y="2228850"/>
            <a:ext cx="2771775"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int x;</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printf("%d\n", x);</a:t>
            </a:r>
          </a:p>
        </p:txBody>
      </p:sp>
      <p:sp>
        <p:nvSpPr>
          <p:cNvPr id="18" name="">
            <a:extLst xmlns:a="http://schemas.openxmlformats.org/drawingml/2006/main">
              <a:ext uri="{FF2B5EF4-FFF2-40B4-BE49-F238E27FC236}">
                <a16:creationId xmlns:a16="http://schemas.microsoft.com/office/drawing/2014/main" id="{068A967E-21AF-4B2B-A741-F7F9DE304CEE}"/>
              </a:ext>
            </a:extLst>
          </p:cNvPr>
          <p:cNvSpPr>
            <a:spLocks xmlns:a="http://schemas.openxmlformats.org/drawingml/2006/main" noGrp="1"/>
          </p:cNvSpPr>
          <p:nvPr/>
        </p:nvSpPr>
        <p:spPr>
          <a:xfrm xmlns:a="http://schemas.openxmlformats.org/drawingml/2006/main">
            <a:off x="638175" y="4648200"/>
            <a:ext cx="1082992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78CAD83-4EC2-4D1D-A9C9-06E05D585890}"/>
              </a:ext>
            </a:extLst>
          </p:cNvPr>
          <p:cNvSpPr>
            <a:spLocks xmlns:a="http://schemas.openxmlformats.org/drawingml/2006/main" noGrp="1"/>
          </p:cNvSpPr>
          <p:nvPr/>
        </p:nvSpPr>
        <p:spPr>
          <a:xfrm xmlns:a="http://schemas.openxmlformats.org/drawingml/2006/main">
            <a:off x="647700" y="487680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F8FC"/>
                </a:solidFill>
                <a:latin typeface="Arial"/>
                <a:ea typeface="Arial"/>
                <a:cs typeface="Arial"/>
              </a:defRPr>
            </a:defPPr>
          </a:lstStyle>
          <a:p xmlns:a="http://schemas.openxmlformats.org/drawingml/2006/main">
            <a:pPr>
              <a:defRPr sz="1725" b="1">
                <a:solidFill>
                  <a:srgbClr val="F6F8FC"/>
                </a:solidFill>
                <a:latin typeface="Arial"/>
                <a:ea typeface="Arial"/>
                <a:cs typeface="Arial"/>
              </a:defRPr>
            </a:pPr>
            <a:r>
              <a:rPr sz="1725" b="1">
                <a:solidFill>
                  <a:srgbClr val="F6F8FC"/>
                </a:solidFill>
                <a:latin typeface="Arial"/>
                <a:ea typeface="Arial"/>
                <a:cs typeface="Arial"/>
              </a:rPr>
              <a:t>The input is structured pseudocode, not unrestricted natural language.</a:t>
            </a:r>
          </a:p>
        </p:txBody>
      </p:sp>
      <p:sp>
        <p:nvSpPr>
          <p:cNvPr id="20" name="">
            <a:extLst xmlns:a="http://schemas.openxmlformats.org/drawingml/2006/main">
              <a:ext uri="{FF2B5EF4-FFF2-40B4-BE49-F238E27FC236}">
                <a16:creationId xmlns:a16="http://schemas.microsoft.com/office/drawing/2014/main" id="{E8E40572-6154-4D5B-B6E7-ABEE1F00075C}"/>
              </a:ext>
            </a:extLst>
          </p:cNvPr>
          <p:cNvSpPr>
            <a:spLocks xmlns:a="http://schemas.openxmlformats.org/drawingml/2006/main" noGrp="1"/>
          </p:cNvSpPr>
          <p:nvPr/>
        </p:nvSpPr>
        <p:spPr>
          <a:xfrm xmlns:a="http://schemas.openxmlformats.org/drawingml/2006/main">
            <a:off x="647700" y="54102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The output is C source; GCC can compile and run it for supported programs.</a:t>
            </a:r>
          </a:p>
        </p:txBody>
      </p:sp>
    </p:spTree>
    <p:extLst>
      <p:ext uri="{BB962C8B-B14F-4D97-AF65-F5344CB8AC3E}">
        <p14:creationId xmlns:p14="http://schemas.microsoft.com/office/powerpoint/2010/main" val="1193060836"/>
      </p:ext>
    </p:extLst>
  </p:cSld>
</p:sld>
</file>

<file path=ppt/slides/slide3.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141A511-ADA6-4F80-ACE7-62D9AC2CD5D0}"/>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C07BBE-0893-47B2-AD56-998E3AB96640}"/>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What changed since Review 1</a:t>
            </a:r>
          </a:p>
        </p:txBody>
      </p:sp>
      <p:sp>
        <p:nvSpPr>
          <p:cNvPr id="3" name="">
            <a:extLst xmlns:a="http://schemas.openxmlformats.org/drawingml/2006/main">
              <a:ext uri="{FF2B5EF4-FFF2-40B4-BE49-F238E27FC236}">
                <a16:creationId xmlns:a16="http://schemas.microsoft.com/office/drawing/2014/main" id="{5732EB42-366B-4DCE-BFB2-0DCA1B93AAC6}"/>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original prototype and report established the compiler path; this version extends and checks it.</a:t>
            </a:r>
          </a:p>
        </p:txBody>
      </p:sp>
      <p:sp>
        <p:nvSpPr>
          <p:cNvPr id="4" name="">
            <a:extLst xmlns:a="http://schemas.openxmlformats.org/drawingml/2006/main">
              <a:ext uri="{FF2B5EF4-FFF2-40B4-BE49-F238E27FC236}">
                <a16:creationId xmlns:a16="http://schemas.microsoft.com/office/drawing/2014/main" id="{36639B4D-9F7F-4BEF-8CEE-A218C9D09F3C}"/>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FBD651F-C14A-4866-B923-50B7BE344E29}"/>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C859E111-16B9-4941-A47E-C00C1D88BB7F}"/>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A90A9794-DFE9-497D-AD3B-7D4E4E67ACB7}"/>
              </a:ext>
            </a:extLst>
          </p:cNvPr>
          <p:cNvSpPr>
            <a:spLocks xmlns:a="http://schemas.openxmlformats.org/drawingml/2006/main" noGrp="1"/>
          </p:cNvSpPr>
          <p:nvPr/>
        </p:nvSpPr>
        <p:spPr>
          <a:xfrm xmlns:a="http://schemas.openxmlformats.org/drawingml/2006/main">
            <a:off x="638175" y="158115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REVIEW 1 PROTOTYPE</a:t>
            </a:r>
          </a:p>
        </p:txBody>
      </p:sp>
      <p:sp>
        <p:nvSpPr>
          <p:cNvPr id="8" name="">
            <a:extLst xmlns:a="http://schemas.openxmlformats.org/drawingml/2006/main">
              <a:ext uri="{FF2B5EF4-FFF2-40B4-BE49-F238E27FC236}">
                <a16:creationId xmlns:a16="http://schemas.microsoft.com/office/drawing/2014/main" id="{3F399BEC-3084-4311-B59C-27B2EE031B9E}"/>
              </a:ext>
            </a:extLst>
          </p:cNvPr>
          <p:cNvSpPr>
            <a:spLocks xmlns:a="http://schemas.openxmlformats.org/drawingml/2006/main" noGrp="1"/>
          </p:cNvSpPr>
          <p:nvPr/>
        </p:nvSpPr>
        <p:spPr>
          <a:xfrm xmlns:a="http://schemas.openxmlformats.org/drawingml/2006/main">
            <a:off x="638175" y="1924050"/>
            <a:ext cx="485775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0D278B4-AD99-44D3-917F-5CB8F9B9790D}"/>
              </a:ext>
            </a:extLst>
          </p:cNvPr>
          <p:cNvSpPr>
            <a:spLocks xmlns:a="http://schemas.openxmlformats.org/drawingml/2006/main" noGrp="1"/>
          </p:cNvSpPr>
          <p:nvPr/>
        </p:nvSpPr>
        <p:spPr>
          <a:xfrm xmlns:a="http://schemas.openxmlformats.org/drawingml/2006/main">
            <a:off x="6334125" y="1581150"/>
            <a:ext cx="514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CURRENT IMPLEMENTATION</a:t>
            </a:r>
          </a:p>
        </p:txBody>
      </p:sp>
      <p:sp>
        <p:nvSpPr>
          <p:cNvPr id="10" name="">
            <a:extLst xmlns:a="http://schemas.openxmlformats.org/drawingml/2006/main">
              <a:ext uri="{FF2B5EF4-FFF2-40B4-BE49-F238E27FC236}">
                <a16:creationId xmlns:a16="http://schemas.microsoft.com/office/drawing/2014/main" id="{0649CA2F-E247-41B5-B1AE-995AB71BD1EA}"/>
              </a:ext>
            </a:extLst>
          </p:cNvPr>
          <p:cNvSpPr>
            <a:spLocks xmlns:a="http://schemas.openxmlformats.org/drawingml/2006/main" noGrp="1"/>
          </p:cNvSpPr>
          <p:nvPr/>
        </p:nvSpPr>
        <p:spPr>
          <a:xfrm xmlns:a="http://schemas.openxmlformats.org/drawingml/2006/main">
            <a:off x="6334125" y="1924050"/>
            <a:ext cx="51435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C388BA2-9A1A-420F-8C74-A6C287336C28}"/>
              </a:ext>
            </a:extLst>
          </p:cNvPr>
          <p:cNvSpPr>
            <a:spLocks xmlns:a="http://schemas.openxmlformats.org/drawingml/2006/main" noGrp="1"/>
          </p:cNvSpPr>
          <p:nvPr/>
        </p:nvSpPr>
        <p:spPr>
          <a:xfrm xmlns:a="http://schemas.openxmlformats.org/drawingml/2006/main">
            <a:off x="647700" y="2143125"/>
            <a:ext cx="4857750" cy="2667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Declarations, assignment and PRINT</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Arithmetic and constant folding</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Lexer, parser, AST, symbols and IR</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Basic control flow and arrays in Review 1 code</a:t>
            </a:r>
          </a:p>
        </p:txBody>
      </p:sp>
      <p:sp>
        <p:nvSpPr>
          <p:cNvPr id="12" name="">
            <a:extLst xmlns:a="http://schemas.openxmlformats.org/drawingml/2006/main">
              <a:ext uri="{FF2B5EF4-FFF2-40B4-BE49-F238E27FC236}">
                <a16:creationId xmlns:a16="http://schemas.microsoft.com/office/drawing/2014/main" id="{D3E54679-FC13-4B03-A522-9F8770CCCB0A}"/>
              </a:ext>
            </a:extLst>
          </p:cNvPr>
          <p:cNvSpPr>
            <a:spLocks xmlns:a="http://schemas.openxmlformats.org/drawingml/2006/main" noGrp="1"/>
          </p:cNvSpPr>
          <p:nvPr/>
        </p:nvSpPr>
        <p:spPr>
          <a:xfrm xmlns:a="http://schemas.openxmlformats.org/drawingml/2006/main">
            <a:off x="6343650" y="2143125"/>
            <a:ext cx="5143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STRING and bitwise operators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BREAK / CONTINUE and readable FOR output</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Optional REQUIRE / ENSURE conditions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Automatic guards and clearer diagnostics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Optimizer comparison checks</a:t>
            </a:r>
          </a:p>
        </p:txBody>
      </p:sp>
      <p:sp>
        <p:nvSpPr>
          <p:cNvPr id="13" name="">
            <a:extLst xmlns:a="http://schemas.openxmlformats.org/drawingml/2006/main">
              <a:ext uri="{FF2B5EF4-FFF2-40B4-BE49-F238E27FC236}">
                <a16:creationId xmlns:a16="http://schemas.microsoft.com/office/drawing/2014/main" id="{F62C6508-1E18-469B-BD18-0CC82317ACE1}"/>
              </a:ext>
            </a:extLst>
          </p:cNvPr>
          <p:cNvSpPr>
            <a:spLocks xmlns:a="http://schemas.openxmlformats.org/drawingml/2006/main" noGrp="1"/>
          </p:cNvSpPr>
          <p:nvPr/>
        </p:nvSpPr>
        <p:spPr>
          <a:xfrm xmlns:a="http://schemas.openxmlformats.org/drawingml/2006/main">
            <a:off x="590550" y="5238750"/>
            <a:ext cx="109537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4A713ED-E1C8-42D9-A10F-61A749E84594}"/>
              </a:ext>
            </a:extLst>
          </p:cNvPr>
          <p:cNvSpPr>
            <a:spLocks xmlns:a="http://schemas.openxmlformats.org/drawingml/2006/main" noGrp="1"/>
          </p:cNvSpPr>
          <p:nvPr/>
        </p:nvSpPr>
        <p:spPr>
          <a:xfrm xmlns:a="http://schemas.openxmlformats.org/drawingml/2006/main">
            <a:off x="647700" y="541020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0D5EA"/>
                </a:solidFill>
                <a:latin typeface="Arial"/>
                <a:ea typeface="Arial"/>
                <a:cs typeface="Arial"/>
              </a:defRPr>
            </a:defPPr>
          </a:lstStyle>
          <a:p xmlns:a="http://schemas.openxmlformats.org/drawingml/2006/main">
            <a:pPr>
              <a:defRPr sz="1725" b="1">
                <a:solidFill>
                  <a:srgbClr val="20D5EA"/>
                </a:solidFill>
                <a:latin typeface="Arial"/>
                <a:ea typeface="Arial"/>
                <a:cs typeface="Arial"/>
              </a:defRPr>
            </a:pPr>
            <a:r>
              <a:rPr sz="1725" b="1">
                <a:solidFill>
                  <a:srgbClr val="20D5EA"/>
                </a:solidFill>
                <a:latin typeface="Arial"/>
                <a:ea typeface="Arial"/>
                <a:cs typeface="Arial"/>
              </a:rPr>
              <a:t>Result: wider translation, targeted checks and repeatable validation.</a:t>
            </a:r>
          </a:p>
        </p:txBody>
      </p:sp>
    </p:spTree>
    <p:extLst>
      <p:ext uri="{BB962C8B-B14F-4D97-AF65-F5344CB8AC3E}">
        <p14:creationId xmlns:p14="http://schemas.microsoft.com/office/powerpoint/2010/main" val="79516343"/>
      </p:ext>
    </p:extLst>
  </p:cSld>
</p:sld>
</file>

<file path=ppt/slides/slide4.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47D73BD5-6C7B-408A-A7F3-CB8ED66D0354}"/>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731224F-7CC2-42D5-B777-86FF6A0F6D2B}"/>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Complete compiler workflow</a:t>
            </a:r>
          </a:p>
        </p:txBody>
      </p:sp>
      <p:sp>
        <p:nvSpPr>
          <p:cNvPr id="3" name="">
            <a:extLst xmlns:a="http://schemas.openxmlformats.org/drawingml/2006/main">
              <a:ext uri="{FF2B5EF4-FFF2-40B4-BE49-F238E27FC236}">
                <a16:creationId xmlns:a16="http://schemas.microsoft.com/office/drawing/2014/main" id="{39D4656C-ECB4-4C43-9276-833EBC744ED3}"/>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Each stage has its own module and a visible intermediate result.</a:t>
            </a:r>
          </a:p>
        </p:txBody>
      </p:sp>
      <p:sp>
        <p:nvSpPr>
          <p:cNvPr id="4" name="">
            <a:extLst xmlns:a="http://schemas.openxmlformats.org/drawingml/2006/main">
              <a:ext uri="{FF2B5EF4-FFF2-40B4-BE49-F238E27FC236}">
                <a16:creationId xmlns:a16="http://schemas.microsoft.com/office/drawing/2014/main" id="{0F1E8E08-81F9-46EC-9EA9-8DBAD06AE6AB}"/>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54F1E3E-C89D-47CD-B5BF-D9A18B7738EE}"/>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EFCA6D30-997C-48F7-851D-2478781665B0}"/>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1B595EB3-9142-4698-B71F-D3733C4B186F}"/>
              </a:ext>
            </a:extLst>
          </p:cNvPr>
          <p:cNvSpPr>
            <a:spLocks xmlns:a="http://schemas.openxmlformats.org/drawingml/2006/main" noGrp="1"/>
          </p:cNvSpPr>
          <p:nvPr/>
        </p:nvSpPr>
        <p:spPr>
          <a:xfrm xmlns:a="http://schemas.openxmlformats.org/drawingml/2006/main">
            <a:off x="638175"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9AF5B6-FB20-4131-B891-B733803952FC}"/>
              </a:ext>
            </a:extLst>
          </p:cNvPr>
          <p:cNvSpPr>
            <a:spLocks xmlns:a="http://schemas.openxmlformats.org/drawingml/2006/main" noGrp="1"/>
          </p:cNvSpPr>
          <p:nvPr/>
        </p:nvSpPr>
        <p:spPr>
          <a:xfrm xmlns:a="http://schemas.openxmlformats.org/drawingml/2006/main">
            <a:off x="781050"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1  SOURCE</a:t>
            </a:r>
          </a:p>
        </p:txBody>
      </p:sp>
      <p:sp>
        <p:nvSpPr>
          <p:cNvPr id="9" name="">
            <a:extLst xmlns:a="http://schemas.openxmlformats.org/drawingml/2006/main">
              <a:ext uri="{FF2B5EF4-FFF2-40B4-BE49-F238E27FC236}">
                <a16:creationId xmlns:a16="http://schemas.microsoft.com/office/drawing/2014/main" id="{69250AC2-703C-4381-ADB0-99A1E483CC59}"/>
              </a:ext>
            </a:extLst>
          </p:cNvPr>
          <p:cNvSpPr>
            <a:spLocks xmlns:a="http://schemas.openxmlformats.org/drawingml/2006/main" noGrp="1"/>
          </p:cNvSpPr>
          <p:nvPr/>
        </p:nvSpPr>
        <p:spPr>
          <a:xfrm xmlns:a="http://schemas.openxmlformats.org/drawingml/2006/main">
            <a:off x="781050"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main.py</a:t>
            </a:r>
          </a:p>
        </p:txBody>
      </p:sp>
      <p:sp>
        <p:nvSpPr>
          <p:cNvPr id="10" name="">
            <a:extLst xmlns:a="http://schemas.openxmlformats.org/drawingml/2006/main">
              <a:ext uri="{FF2B5EF4-FFF2-40B4-BE49-F238E27FC236}">
                <a16:creationId xmlns:a16="http://schemas.microsoft.com/office/drawing/2014/main" id="{CEB8986F-6F0D-4A42-8611-B67A34D96B40}"/>
              </a:ext>
            </a:extLst>
          </p:cNvPr>
          <p:cNvSpPr>
            <a:spLocks xmlns:a="http://schemas.openxmlformats.org/drawingml/2006/main" noGrp="1"/>
          </p:cNvSpPr>
          <p:nvPr/>
        </p:nvSpPr>
        <p:spPr>
          <a:xfrm xmlns:a="http://schemas.openxmlformats.org/drawingml/2006/main">
            <a:off x="3143250"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59FBA043-1AC5-4169-AD91-54F206DD7CA5}"/>
              </a:ext>
            </a:extLst>
          </p:cNvPr>
          <p:cNvSpPr>
            <a:spLocks xmlns:a="http://schemas.openxmlformats.org/drawingml/2006/main" noGrp="1"/>
          </p:cNvSpPr>
          <p:nvPr/>
        </p:nvSpPr>
        <p:spPr>
          <a:xfrm xmlns:a="http://schemas.openxmlformats.org/drawingml/2006/main">
            <a:off x="3448050"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2D6019-E760-4B7C-86AD-BA618A963A1E}"/>
              </a:ext>
            </a:extLst>
          </p:cNvPr>
          <p:cNvSpPr>
            <a:spLocks xmlns:a="http://schemas.openxmlformats.org/drawingml/2006/main" noGrp="1"/>
          </p:cNvSpPr>
          <p:nvPr/>
        </p:nvSpPr>
        <p:spPr>
          <a:xfrm xmlns:a="http://schemas.openxmlformats.org/drawingml/2006/main">
            <a:off x="3590925"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2  TOKENS</a:t>
            </a:r>
          </a:p>
        </p:txBody>
      </p:sp>
      <p:sp>
        <p:nvSpPr>
          <p:cNvPr id="13" name="">
            <a:extLst xmlns:a="http://schemas.openxmlformats.org/drawingml/2006/main">
              <a:ext uri="{FF2B5EF4-FFF2-40B4-BE49-F238E27FC236}">
                <a16:creationId xmlns:a16="http://schemas.microsoft.com/office/drawing/2014/main" id="{E38FF1B0-F666-40A5-BCCE-4B6C101BCF7B}"/>
              </a:ext>
            </a:extLst>
          </p:cNvPr>
          <p:cNvSpPr>
            <a:spLocks xmlns:a="http://schemas.openxmlformats.org/drawingml/2006/main" noGrp="1"/>
          </p:cNvSpPr>
          <p:nvPr/>
        </p:nvSpPr>
        <p:spPr>
          <a:xfrm xmlns:a="http://schemas.openxmlformats.org/drawingml/2006/main">
            <a:off x="3590925"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lexer.py</a:t>
            </a:r>
          </a:p>
        </p:txBody>
      </p:sp>
      <p:sp>
        <p:nvSpPr>
          <p:cNvPr id="14" name="">
            <a:extLst xmlns:a="http://schemas.openxmlformats.org/drawingml/2006/main">
              <a:ext uri="{FF2B5EF4-FFF2-40B4-BE49-F238E27FC236}">
                <a16:creationId xmlns:a16="http://schemas.microsoft.com/office/drawing/2014/main" id="{EDC6D785-019F-4D53-84CA-12D5AA516E14}"/>
              </a:ext>
            </a:extLst>
          </p:cNvPr>
          <p:cNvSpPr>
            <a:spLocks xmlns:a="http://schemas.openxmlformats.org/drawingml/2006/main" noGrp="1"/>
          </p:cNvSpPr>
          <p:nvPr/>
        </p:nvSpPr>
        <p:spPr>
          <a:xfrm xmlns:a="http://schemas.openxmlformats.org/drawingml/2006/main">
            <a:off x="5953125"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95D4E4D6-DFA9-49FA-ABE7-EAB2F0F382CA}"/>
              </a:ext>
            </a:extLst>
          </p:cNvPr>
          <p:cNvSpPr>
            <a:spLocks xmlns:a="http://schemas.openxmlformats.org/drawingml/2006/main" noGrp="1"/>
          </p:cNvSpPr>
          <p:nvPr/>
        </p:nvSpPr>
        <p:spPr>
          <a:xfrm xmlns:a="http://schemas.openxmlformats.org/drawingml/2006/main">
            <a:off x="6257925"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3804C34-3E27-4578-BADE-0E0A7F4B9CB8}"/>
              </a:ext>
            </a:extLst>
          </p:cNvPr>
          <p:cNvSpPr>
            <a:spLocks xmlns:a="http://schemas.openxmlformats.org/drawingml/2006/main" noGrp="1"/>
          </p:cNvSpPr>
          <p:nvPr/>
        </p:nvSpPr>
        <p:spPr>
          <a:xfrm xmlns:a="http://schemas.openxmlformats.org/drawingml/2006/main">
            <a:off x="6400800"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3  AST</a:t>
            </a:r>
          </a:p>
        </p:txBody>
      </p:sp>
      <p:sp>
        <p:nvSpPr>
          <p:cNvPr id="17" name="">
            <a:extLst xmlns:a="http://schemas.openxmlformats.org/drawingml/2006/main">
              <a:ext uri="{FF2B5EF4-FFF2-40B4-BE49-F238E27FC236}">
                <a16:creationId xmlns:a16="http://schemas.microsoft.com/office/drawing/2014/main" id="{17BFF701-19D6-407B-9618-BC3F96A75B71}"/>
              </a:ext>
            </a:extLst>
          </p:cNvPr>
          <p:cNvSpPr>
            <a:spLocks xmlns:a="http://schemas.openxmlformats.org/drawingml/2006/main" noGrp="1"/>
          </p:cNvSpPr>
          <p:nvPr/>
        </p:nvSpPr>
        <p:spPr>
          <a:xfrm xmlns:a="http://schemas.openxmlformats.org/drawingml/2006/main">
            <a:off x="6400800"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parser.py</a:t>
            </a:r>
          </a:p>
        </p:txBody>
      </p:sp>
      <p:sp>
        <p:nvSpPr>
          <p:cNvPr id="18" name="">
            <a:extLst xmlns:a="http://schemas.openxmlformats.org/drawingml/2006/main">
              <a:ext uri="{FF2B5EF4-FFF2-40B4-BE49-F238E27FC236}">
                <a16:creationId xmlns:a16="http://schemas.microsoft.com/office/drawing/2014/main" id="{6CE7D07C-FE94-48BA-8D33-DB7FBDC58F37}"/>
              </a:ext>
            </a:extLst>
          </p:cNvPr>
          <p:cNvSpPr>
            <a:spLocks xmlns:a="http://schemas.openxmlformats.org/drawingml/2006/main" noGrp="1"/>
          </p:cNvSpPr>
          <p:nvPr/>
        </p:nvSpPr>
        <p:spPr>
          <a:xfrm xmlns:a="http://schemas.openxmlformats.org/drawingml/2006/main">
            <a:off x="8763000"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00C43855-DE4F-4564-883D-01A175289F00}"/>
              </a:ext>
            </a:extLst>
          </p:cNvPr>
          <p:cNvSpPr>
            <a:spLocks xmlns:a="http://schemas.openxmlformats.org/drawingml/2006/main" noGrp="1"/>
          </p:cNvSpPr>
          <p:nvPr/>
        </p:nvSpPr>
        <p:spPr>
          <a:xfrm xmlns:a="http://schemas.openxmlformats.org/drawingml/2006/main">
            <a:off x="9067800"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49B6E52-C406-4FD5-83AA-9F9F90A0EE98}"/>
              </a:ext>
            </a:extLst>
          </p:cNvPr>
          <p:cNvSpPr>
            <a:spLocks xmlns:a="http://schemas.openxmlformats.org/drawingml/2006/main" noGrp="1"/>
          </p:cNvSpPr>
          <p:nvPr/>
        </p:nvSpPr>
        <p:spPr>
          <a:xfrm xmlns:a="http://schemas.openxmlformats.org/drawingml/2006/main">
            <a:off x="9210675"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4  CHECKS</a:t>
            </a:r>
          </a:p>
        </p:txBody>
      </p:sp>
      <p:sp>
        <p:nvSpPr>
          <p:cNvPr id="21" name="">
            <a:extLst xmlns:a="http://schemas.openxmlformats.org/drawingml/2006/main">
              <a:ext uri="{FF2B5EF4-FFF2-40B4-BE49-F238E27FC236}">
                <a16:creationId xmlns:a16="http://schemas.microsoft.com/office/drawing/2014/main" id="{B72989A6-DC6B-45D5-BE74-F759886C21C3}"/>
              </a:ext>
            </a:extLst>
          </p:cNvPr>
          <p:cNvSpPr>
            <a:spLocks xmlns:a="http://schemas.openxmlformats.org/drawingml/2006/main" noGrp="1"/>
          </p:cNvSpPr>
          <p:nvPr/>
        </p:nvSpPr>
        <p:spPr>
          <a:xfrm xmlns:a="http://schemas.openxmlformats.org/drawingml/2006/main">
            <a:off x="9210675"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semantic.py</a:t>
            </a:r>
          </a:p>
        </p:txBody>
      </p:sp>
      <p:sp>
        <p:nvSpPr>
          <p:cNvPr id="22" name="">
            <a:extLst xmlns:a="http://schemas.openxmlformats.org/drawingml/2006/main">
              <a:ext uri="{FF2B5EF4-FFF2-40B4-BE49-F238E27FC236}">
                <a16:creationId xmlns:a16="http://schemas.microsoft.com/office/drawing/2014/main" id="{319D1E54-85A6-4AE6-9122-25613104EABB}"/>
              </a:ext>
            </a:extLst>
          </p:cNvPr>
          <p:cNvSpPr>
            <a:spLocks xmlns:a="http://schemas.openxmlformats.org/drawingml/2006/main" noGrp="1"/>
          </p:cNvSpPr>
          <p:nvPr/>
        </p:nvSpPr>
        <p:spPr>
          <a:xfrm xmlns:a="http://schemas.openxmlformats.org/drawingml/2006/main">
            <a:off x="638175"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EF7F705-05D8-46E5-A344-BBDD6461BDF1}"/>
              </a:ext>
            </a:extLst>
          </p:cNvPr>
          <p:cNvSpPr>
            <a:spLocks xmlns:a="http://schemas.openxmlformats.org/drawingml/2006/main" noGrp="1"/>
          </p:cNvSpPr>
          <p:nvPr/>
        </p:nvSpPr>
        <p:spPr>
          <a:xfrm xmlns:a="http://schemas.openxmlformats.org/drawingml/2006/main">
            <a:off x="781050"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5  IR</a:t>
            </a:r>
          </a:p>
        </p:txBody>
      </p:sp>
      <p:sp>
        <p:nvSpPr>
          <p:cNvPr id="24" name="">
            <a:extLst xmlns:a="http://schemas.openxmlformats.org/drawingml/2006/main">
              <a:ext uri="{FF2B5EF4-FFF2-40B4-BE49-F238E27FC236}">
                <a16:creationId xmlns:a16="http://schemas.microsoft.com/office/drawing/2014/main" id="{08F445A2-6567-4DAA-9644-747F5F76CF45}"/>
              </a:ext>
            </a:extLst>
          </p:cNvPr>
          <p:cNvSpPr>
            <a:spLocks xmlns:a="http://schemas.openxmlformats.org/drawingml/2006/main" noGrp="1"/>
          </p:cNvSpPr>
          <p:nvPr/>
        </p:nvSpPr>
        <p:spPr>
          <a:xfrm xmlns:a="http://schemas.openxmlformats.org/drawingml/2006/main">
            <a:off x="781050"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ir.py</a:t>
            </a:r>
          </a:p>
        </p:txBody>
      </p:sp>
      <p:sp>
        <p:nvSpPr>
          <p:cNvPr id="25" name="">
            <a:extLst xmlns:a="http://schemas.openxmlformats.org/drawingml/2006/main">
              <a:ext uri="{FF2B5EF4-FFF2-40B4-BE49-F238E27FC236}">
                <a16:creationId xmlns:a16="http://schemas.microsoft.com/office/drawing/2014/main" id="{226F5F42-A467-47F1-AEA1-3D8B882741C3}"/>
              </a:ext>
            </a:extLst>
          </p:cNvPr>
          <p:cNvSpPr>
            <a:spLocks xmlns:a="http://schemas.openxmlformats.org/drawingml/2006/main" noGrp="1"/>
          </p:cNvSpPr>
          <p:nvPr/>
        </p:nvSpPr>
        <p:spPr>
          <a:xfrm xmlns:a="http://schemas.openxmlformats.org/drawingml/2006/main">
            <a:off x="3143250"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644EC915-B444-451C-821C-DE74E1258E6D}"/>
              </a:ext>
            </a:extLst>
          </p:cNvPr>
          <p:cNvSpPr>
            <a:spLocks xmlns:a="http://schemas.openxmlformats.org/drawingml/2006/main" noGrp="1"/>
          </p:cNvSpPr>
          <p:nvPr/>
        </p:nvSpPr>
        <p:spPr>
          <a:xfrm xmlns:a="http://schemas.openxmlformats.org/drawingml/2006/main">
            <a:off x="3448050"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A2303F7-BAEA-4462-8F0A-9533D59A6853}"/>
              </a:ext>
            </a:extLst>
          </p:cNvPr>
          <p:cNvSpPr>
            <a:spLocks xmlns:a="http://schemas.openxmlformats.org/drawingml/2006/main" noGrp="1"/>
          </p:cNvSpPr>
          <p:nvPr/>
        </p:nvSpPr>
        <p:spPr>
          <a:xfrm xmlns:a="http://schemas.openxmlformats.org/drawingml/2006/main">
            <a:off x="3590925"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6  OPTIMIZED IR</a:t>
            </a:r>
          </a:p>
        </p:txBody>
      </p:sp>
      <p:sp>
        <p:nvSpPr>
          <p:cNvPr id="28" name="">
            <a:extLst xmlns:a="http://schemas.openxmlformats.org/drawingml/2006/main">
              <a:ext uri="{FF2B5EF4-FFF2-40B4-BE49-F238E27FC236}">
                <a16:creationId xmlns:a16="http://schemas.microsoft.com/office/drawing/2014/main" id="{38209BCF-3BB2-49A8-A995-DCABAF47A1BB}"/>
              </a:ext>
            </a:extLst>
          </p:cNvPr>
          <p:cNvSpPr>
            <a:spLocks xmlns:a="http://schemas.openxmlformats.org/drawingml/2006/main" noGrp="1"/>
          </p:cNvSpPr>
          <p:nvPr/>
        </p:nvSpPr>
        <p:spPr>
          <a:xfrm xmlns:a="http://schemas.openxmlformats.org/drawingml/2006/main">
            <a:off x="3590925"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optimizer.py</a:t>
            </a:r>
          </a:p>
        </p:txBody>
      </p:sp>
      <p:sp>
        <p:nvSpPr>
          <p:cNvPr id="29" name="">
            <a:extLst xmlns:a="http://schemas.openxmlformats.org/drawingml/2006/main">
              <a:ext uri="{FF2B5EF4-FFF2-40B4-BE49-F238E27FC236}">
                <a16:creationId xmlns:a16="http://schemas.microsoft.com/office/drawing/2014/main" id="{F7BF025F-9DD1-4B1A-80CF-9542F4BABE40}"/>
              </a:ext>
            </a:extLst>
          </p:cNvPr>
          <p:cNvSpPr>
            <a:spLocks xmlns:a="http://schemas.openxmlformats.org/drawingml/2006/main" noGrp="1"/>
          </p:cNvSpPr>
          <p:nvPr/>
        </p:nvSpPr>
        <p:spPr>
          <a:xfrm xmlns:a="http://schemas.openxmlformats.org/drawingml/2006/main">
            <a:off x="5953125"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AC89B954-0E95-4E27-BA85-1454C220EDFC}"/>
              </a:ext>
            </a:extLst>
          </p:cNvPr>
          <p:cNvSpPr>
            <a:spLocks xmlns:a="http://schemas.openxmlformats.org/drawingml/2006/main" noGrp="1"/>
          </p:cNvSpPr>
          <p:nvPr/>
        </p:nvSpPr>
        <p:spPr>
          <a:xfrm xmlns:a="http://schemas.openxmlformats.org/drawingml/2006/main">
            <a:off x="6257925"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8FB4090-E9F3-49B2-B935-DA54149FF12C}"/>
              </a:ext>
            </a:extLst>
          </p:cNvPr>
          <p:cNvSpPr>
            <a:spLocks xmlns:a="http://schemas.openxmlformats.org/drawingml/2006/main" noGrp="1"/>
          </p:cNvSpPr>
          <p:nvPr/>
        </p:nvSpPr>
        <p:spPr>
          <a:xfrm xmlns:a="http://schemas.openxmlformats.org/drawingml/2006/main">
            <a:off x="6400800"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7  C SOURCE</a:t>
            </a:r>
          </a:p>
        </p:txBody>
      </p:sp>
      <p:sp>
        <p:nvSpPr>
          <p:cNvPr id="32" name="">
            <a:extLst xmlns:a="http://schemas.openxmlformats.org/drawingml/2006/main">
              <a:ext uri="{FF2B5EF4-FFF2-40B4-BE49-F238E27FC236}">
                <a16:creationId xmlns:a16="http://schemas.microsoft.com/office/drawing/2014/main" id="{101EBCE0-CA76-4A5B-A9BC-1E8AEA81ACFF}"/>
              </a:ext>
            </a:extLst>
          </p:cNvPr>
          <p:cNvSpPr>
            <a:spLocks xmlns:a="http://schemas.openxmlformats.org/drawingml/2006/main" noGrp="1"/>
          </p:cNvSpPr>
          <p:nvPr/>
        </p:nvSpPr>
        <p:spPr>
          <a:xfrm xmlns:a="http://schemas.openxmlformats.org/drawingml/2006/main">
            <a:off x="6400800"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cgen.py</a:t>
            </a:r>
          </a:p>
        </p:txBody>
      </p:sp>
      <p:sp>
        <p:nvSpPr>
          <p:cNvPr id="33" name="">
            <a:extLst xmlns:a="http://schemas.openxmlformats.org/drawingml/2006/main">
              <a:ext uri="{FF2B5EF4-FFF2-40B4-BE49-F238E27FC236}">
                <a16:creationId xmlns:a16="http://schemas.microsoft.com/office/drawing/2014/main" id="{2320DFF2-1228-4E61-B10F-19FE2B6DE0DD}"/>
              </a:ext>
            </a:extLst>
          </p:cNvPr>
          <p:cNvSpPr>
            <a:spLocks xmlns:a="http://schemas.openxmlformats.org/drawingml/2006/main" noGrp="1"/>
          </p:cNvSpPr>
          <p:nvPr/>
        </p:nvSpPr>
        <p:spPr>
          <a:xfrm xmlns:a="http://schemas.openxmlformats.org/drawingml/2006/main">
            <a:off x="8763000"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74C9B2AD-C88C-4B37-855D-121A05329BC2}"/>
              </a:ext>
            </a:extLst>
          </p:cNvPr>
          <p:cNvSpPr>
            <a:spLocks xmlns:a="http://schemas.openxmlformats.org/drawingml/2006/main" noGrp="1"/>
          </p:cNvSpPr>
          <p:nvPr/>
        </p:nvSpPr>
        <p:spPr>
          <a:xfrm xmlns:a="http://schemas.openxmlformats.org/drawingml/2006/main">
            <a:off x="9067800"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EB242E5-D4CE-422B-A379-7D41828D8712}"/>
              </a:ext>
            </a:extLst>
          </p:cNvPr>
          <p:cNvSpPr>
            <a:spLocks xmlns:a="http://schemas.openxmlformats.org/drawingml/2006/main" noGrp="1"/>
          </p:cNvSpPr>
          <p:nvPr/>
        </p:nvSpPr>
        <p:spPr>
          <a:xfrm xmlns:a="http://schemas.openxmlformats.org/drawingml/2006/main">
            <a:off x="9210675"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8  EXECUTION</a:t>
            </a:r>
          </a:p>
        </p:txBody>
      </p:sp>
      <p:sp>
        <p:nvSpPr>
          <p:cNvPr id="36" name="">
            <a:extLst xmlns:a="http://schemas.openxmlformats.org/drawingml/2006/main">
              <a:ext uri="{FF2B5EF4-FFF2-40B4-BE49-F238E27FC236}">
                <a16:creationId xmlns:a16="http://schemas.microsoft.com/office/drawing/2014/main" id="{A051FB41-6570-47D0-A646-29A027392254}"/>
              </a:ext>
            </a:extLst>
          </p:cNvPr>
          <p:cNvSpPr>
            <a:spLocks xmlns:a="http://schemas.openxmlformats.org/drawingml/2006/main" noGrp="1"/>
          </p:cNvSpPr>
          <p:nvPr/>
        </p:nvSpPr>
        <p:spPr>
          <a:xfrm xmlns:a="http://schemas.openxmlformats.org/drawingml/2006/main">
            <a:off x="9210675"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GCC, optional</a:t>
            </a:r>
          </a:p>
        </p:txBody>
      </p:sp>
      <p:sp>
        <p:nvSpPr>
          <p:cNvPr id="37" name="">
            <a:extLst xmlns:a="http://schemas.openxmlformats.org/drawingml/2006/main">
              <a:ext uri="{FF2B5EF4-FFF2-40B4-BE49-F238E27FC236}">
                <a16:creationId xmlns:a16="http://schemas.microsoft.com/office/drawing/2014/main" id="{E7EF7D5A-0020-4BD6-9A45-C5B61BB68355}"/>
              </a:ext>
            </a:extLst>
          </p:cNvPr>
          <p:cNvSpPr>
            <a:spLocks xmlns:a="http://schemas.openxmlformats.org/drawingml/2006/main" noGrp="1"/>
          </p:cNvSpPr>
          <p:nvPr/>
        </p:nvSpPr>
        <p:spPr>
          <a:xfrm xmlns:a="http://schemas.openxmlformats.org/drawingml/2006/main">
            <a:off x="9620250" y="2876550"/>
            <a:ext cx="190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continues below ↓</a:t>
            </a:r>
          </a:p>
        </p:txBody>
      </p:sp>
      <p:sp>
        <p:nvSpPr>
          <p:cNvPr id="38" name="">
            <a:extLst xmlns:a="http://schemas.openxmlformats.org/drawingml/2006/main">
              <a:ext uri="{FF2B5EF4-FFF2-40B4-BE49-F238E27FC236}">
                <a16:creationId xmlns:a16="http://schemas.microsoft.com/office/drawing/2014/main" id="{5914EA41-A727-4D56-91F7-80B6363D933B}"/>
              </a:ext>
            </a:extLst>
          </p:cNvPr>
          <p:cNvSpPr>
            <a:spLocks xmlns:a="http://schemas.openxmlformats.org/drawingml/2006/main" noGrp="1"/>
          </p:cNvSpPr>
          <p:nvPr/>
        </p:nvSpPr>
        <p:spPr>
          <a:xfrm xmlns:a="http://schemas.openxmlformats.org/drawingml/2006/main">
            <a:off x="638175" y="5143500"/>
            <a:ext cx="1082992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282EDAC-0F7D-432B-BD3E-8073DD419D75}"/>
              </a:ext>
            </a:extLst>
          </p:cNvPr>
          <p:cNvSpPr>
            <a:spLocks xmlns:a="http://schemas.openxmlformats.org/drawingml/2006/main" noGrp="1"/>
          </p:cNvSpPr>
          <p:nvPr/>
        </p:nvSpPr>
        <p:spPr>
          <a:xfrm xmlns:a="http://schemas.openxmlformats.org/drawingml/2006/main">
            <a:off x="647700" y="5324475"/>
            <a:ext cx="5191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Compile-time: syntax, names and types</a:t>
            </a:r>
          </a:p>
        </p:txBody>
      </p:sp>
      <p:sp>
        <p:nvSpPr>
          <p:cNvPr id="40" name="">
            <a:extLst xmlns:a="http://schemas.openxmlformats.org/drawingml/2006/main">
              <a:ext uri="{FF2B5EF4-FFF2-40B4-BE49-F238E27FC236}">
                <a16:creationId xmlns:a16="http://schemas.microsoft.com/office/drawing/2014/main" id="{75042F22-5672-49C2-960B-A2497D168501}"/>
              </a:ext>
            </a:extLst>
          </p:cNvPr>
          <p:cNvSpPr>
            <a:spLocks xmlns:a="http://schemas.openxmlformats.org/drawingml/2006/main" noGrp="1"/>
          </p:cNvSpPr>
          <p:nvPr/>
        </p:nvSpPr>
        <p:spPr>
          <a:xfrm xmlns:a="http://schemas.openxmlformats.org/drawingml/2006/main">
            <a:off x="6162675" y="5324475"/>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Runtime: checks in generated C</a:t>
            </a:r>
          </a:p>
        </p:txBody>
      </p:sp>
    </p:spTree>
    <p:extLst>
      <p:ext uri="{BB962C8B-B14F-4D97-AF65-F5344CB8AC3E}">
        <p14:creationId xmlns:p14="http://schemas.microsoft.com/office/powerpoint/2010/main" val="1257722130"/>
      </p:ext>
    </p:extLst>
  </p:cSld>
</p:sld>
</file>

<file path=ppt/slides/slide5.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A66B179-9C71-4863-B5F9-D56C3FA6085F}"/>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45E8A63-67ED-419C-839E-DCB949E74AF2}"/>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One input through the compiler</a:t>
            </a:r>
          </a:p>
        </p:txBody>
      </p:sp>
      <p:sp>
        <p:nvSpPr>
          <p:cNvPr id="3" name="">
            <a:extLst xmlns:a="http://schemas.openxmlformats.org/drawingml/2006/main">
              <a:ext uri="{FF2B5EF4-FFF2-40B4-BE49-F238E27FC236}">
                <a16:creationId xmlns:a16="http://schemas.microsoft.com/office/drawing/2014/main" id="{03594C1B-6F0E-4AA2-B7E6-F64E43D7538E}"/>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A small example makes the intermediate stages easy to explain.</a:t>
            </a:r>
          </a:p>
        </p:txBody>
      </p:sp>
      <p:sp>
        <p:nvSpPr>
          <p:cNvPr id="4" name="">
            <a:extLst xmlns:a="http://schemas.openxmlformats.org/drawingml/2006/main">
              <a:ext uri="{FF2B5EF4-FFF2-40B4-BE49-F238E27FC236}">
                <a16:creationId xmlns:a16="http://schemas.microsoft.com/office/drawing/2014/main" id="{5B01E9DF-F7EB-4E90-AF6E-C8CA9CC8F407}"/>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A6EF434-E8F2-4D1C-A67A-78E83DA2EF38}"/>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73D24DEA-9F5B-4619-BB64-92B4126043D7}"/>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141B09D2-235F-4663-A1D0-6DDFF9E54164}"/>
              </a:ext>
            </a:extLst>
          </p:cNvPr>
          <p:cNvSpPr>
            <a:spLocks xmlns:a="http://schemas.openxmlformats.org/drawingml/2006/main" noGrp="1"/>
          </p:cNvSpPr>
          <p:nvPr/>
        </p:nvSpPr>
        <p:spPr>
          <a:xfrm xmlns:a="http://schemas.openxmlformats.org/drawingml/2006/main">
            <a:off x="628650" y="1495425"/>
            <a:ext cx="2809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7E8E64A9-F5D2-4BA9-B4F2-3495133B6134}"/>
              </a:ext>
            </a:extLst>
          </p:cNvPr>
          <p:cNvSpPr>
            <a:spLocks xmlns:a="http://schemas.openxmlformats.org/drawingml/2006/main" noGrp="1"/>
          </p:cNvSpPr>
          <p:nvPr/>
        </p:nvSpPr>
        <p:spPr>
          <a:xfrm xmlns:a="http://schemas.openxmlformats.org/drawingml/2006/main">
            <a:off x="628650" y="1838325"/>
            <a:ext cx="28098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A01B71E-A9E5-48AE-96E5-9601D1248CB5}"/>
              </a:ext>
            </a:extLst>
          </p:cNvPr>
          <p:cNvSpPr>
            <a:spLocks xmlns:a="http://schemas.openxmlformats.org/drawingml/2006/main" noGrp="1"/>
          </p:cNvSpPr>
          <p:nvPr/>
        </p:nvSpPr>
        <p:spPr>
          <a:xfrm xmlns:a="http://schemas.openxmlformats.org/drawingml/2006/main">
            <a:off x="3657600"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ORIGINAL IR</a:t>
            </a:r>
          </a:p>
        </p:txBody>
      </p:sp>
      <p:sp>
        <p:nvSpPr>
          <p:cNvPr id="10" name="">
            <a:extLst xmlns:a="http://schemas.openxmlformats.org/drawingml/2006/main">
              <a:ext uri="{FF2B5EF4-FFF2-40B4-BE49-F238E27FC236}">
                <a16:creationId xmlns:a16="http://schemas.microsoft.com/office/drawing/2014/main" id="{CC7F6D8E-6FBE-4887-BAAC-E0075F79F7A4}"/>
              </a:ext>
            </a:extLst>
          </p:cNvPr>
          <p:cNvSpPr>
            <a:spLocks xmlns:a="http://schemas.openxmlformats.org/drawingml/2006/main" noGrp="1"/>
          </p:cNvSpPr>
          <p:nvPr/>
        </p:nvSpPr>
        <p:spPr>
          <a:xfrm xmlns:a="http://schemas.openxmlformats.org/drawingml/2006/main">
            <a:off x="3657600" y="1838325"/>
            <a:ext cx="26670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12A7572-0B9A-4771-B9C6-85EAEAA2F33B}"/>
              </a:ext>
            </a:extLst>
          </p:cNvPr>
          <p:cNvSpPr>
            <a:spLocks xmlns:a="http://schemas.openxmlformats.org/drawingml/2006/main" noGrp="1"/>
          </p:cNvSpPr>
          <p:nvPr/>
        </p:nvSpPr>
        <p:spPr>
          <a:xfrm xmlns:a="http://schemas.openxmlformats.org/drawingml/2006/main">
            <a:off x="6543675"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OPTIMIZED IR</a:t>
            </a:r>
          </a:p>
        </p:txBody>
      </p:sp>
      <p:sp>
        <p:nvSpPr>
          <p:cNvPr id="12" name="">
            <a:extLst xmlns:a="http://schemas.openxmlformats.org/drawingml/2006/main">
              <a:ext uri="{FF2B5EF4-FFF2-40B4-BE49-F238E27FC236}">
                <a16:creationId xmlns:a16="http://schemas.microsoft.com/office/drawing/2014/main" id="{6DB192C5-32E0-43B2-971F-75E20C67A2D9}"/>
              </a:ext>
            </a:extLst>
          </p:cNvPr>
          <p:cNvSpPr>
            <a:spLocks xmlns:a="http://schemas.openxmlformats.org/drawingml/2006/main" noGrp="1"/>
          </p:cNvSpPr>
          <p:nvPr/>
        </p:nvSpPr>
        <p:spPr>
          <a:xfrm xmlns:a="http://schemas.openxmlformats.org/drawingml/2006/main">
            <a:off x="6543675" y="1838325"/>
            <a:ext cx="26670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30A0F4D-8A62-46FA-B728-42ED20402ABB}"/>
              </a:ext>
            </a:extLst>
          </p:cNvPr>
          <p:cNvSpPr>
            <a:spLocks xmlns:a="http://schemas.openxmlformats.org/drawingml/2006/main" noGrp="1"/>
          </p:cNvSpPr>
          <p:nvPr/>
        </p:nvSpPr>
        <p:spPr>
          <a:xfrm xmlns:a="http://schemas.openxmlformats.org/drawingml/2006/main">
            <a:off x="9429750" y="1495425"/>
            <a:ext cx="2143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C STATEMENTS</a:t>
            </a:r>
          </a:p>
        </p:txBody>
      </p:sp>
      <p:sp>
        <p:nvSpPr>
          <p:cNvPr id="14" name="">
            <a:extLst xmlns:a="http://schemas.openxmlformats.org/drawingml/2006/main">
              <a:ext uri="{FF2B5EF4-FFF2-40B4-BE49-F238E27FC236}">
                <a16:creationId xmlns:a16="http://schemas.microsoft.com/office/drawing/2014/main" id="{11926FAC-FAF5-409D-A42F-03D6D58286A5}"/>
              </a:ext>
            </a:extLst>
          </p:cNvPr>
          <p:cNvSpPr>
            <a:spLocks xmlns:a="http://schemas.openxmlformats.org/drawingml/2006/main" noGrp="1"/>
          </p:cNvSpPr>
          <p:nvPr/>
        </p:nvSpPr>
        <p:spPr>
          <a:xfrm xmlns:a="http://schemas.openxmlformats.org/drawingml/2006/main">
            <a:off x="9429750" y="1838325"/>
            <a:ext cx="2143125"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CD49321-6108-4971-BB4E-98DA274224D4}"/>
              </a:ext>
            </a:extLst>
          </p:cNvPr>
          <p:cNvSpPr>
            <a:spLocks xmlns:a="http://schemas.openxmlformats.org/drawingml/2006/main" noGrp="1"/>
          </p:cNvSpPr>
          <p:nvPr/>
        </p:nvSpPr>
        <p:spPr>
          <a:xfrm xmlns:a="http://schemas.openxmlformats.org/drawingml/2006/main">
            <a:off x="619125" y="2000250"/>
            <a:ext cx="281940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B66DC1B-59A7-46AD-8473-5A7A4978DA64}"/>
              </a:ext>
            </a:extLst>
          </p:cNvPr>
          <p:cNvSpPr>
            <a:spLocks xmlns:a="http://schemas.openxmlformats.org/drawingml/2006/main" noGrp="1"/>
          </p:cNvSpPr>
          <p:nvPr/>
        </p:nvSpPr>
        <p:spPr>
          <a:xfrm xmlns:a="http://schemas.openxmlformats.org/drawingml/2006/main">
            <a:off x="828675" y="2162175"/>
            <a:ext cx="240030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BEGIN</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AS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SET x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END</a:t>
            </a:r>
          </a:p>
        </p:txBody>
      </p:sp>
      <p:sp>
        <p:nvSpPr>
          <p:cNvPr id="17" name="">
            <a:extLst xmlns:a="http://schemas.openxmlformats.org/drawingml/2006/main">
              <a:ext uri="{FF2B5EF4-FFF2-40B4-BE49-F238E27FC236}">
                <a16:creationId xmlns:a16="http://schemas.microsoft.com/office/drawing/2014/main" id="{433C0DAE-D5EC-4856-8E1D-7E0437F775BA}"/>
              </a:ext>
            </a:extLst>
          </p:cNvPr>
          <p:cNvSpPr>
            <a:spLocks xmlns:a="http://schemas.openxmlformats.org/drawingml/2006/main" noGrp="1"/>
          </p:cNvSpPr>
          <p:nvPr/>
        </p:nvSpPr>
        <p:spPr>
          <a:xfrm xmlns:a="http://schemas.openxmlformats.org/drawingml/2006/main">
            <a:off x="36385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5933579-01AA-48C5-AECB-AF306DB30AF6}"/>
              </a:ext>
            </a:extLst>
          </p:cNvPr>
          <p:cNvSpPr>
            <a:spLocks xmlns:a="http://schemas.openxmlformats.org/drawingml/2006/main" noGrp="1"/>
          </p:cNvSpPr>
          <p:nvPr/>
        </p:nvSpPr>
        <p:spPr>
          <a:xfrm xmlns:a="http://schemas.openxmlformats.org/drawingml/2006/main">
            <a:off x="38481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t1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t1</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19" name="">
            <a:extLst xmlns:a="http://schemas.openxmlformats.org/drawingml/2006/main">
              <a:ext uri="{FF2B5EF4-FFF2-40B4-BE49-F238E27FC236}">
                <a16:creationId xmlns:a16="http://schemas.microsoft.com/office/drawing/2014/main" id="{DAC3FE79-CC15-4651-B689-3754491A0371}"/>
              </a:ext>
            </a:extLst>
          </p:cNvPr>
          <p:cNvSpPr>
            <a:spLocks xmlns:a="http://schemas.openxmlformats.org/drawingml/2006/main" noGrp="1"/>
          </p:cNvSpPr>
          <p:nvPr/>
        </p:nvSpPr>
        <p:spPr>
          <a:xfrm xmlns:a="http://schemas.openxmlformats.org/drawingml/2006/main">
            <a:off x="65341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0E9F6D-DDF2-47ED-8877-C4A6630DEA2E}"/>
              </a:ext>
            </a:extLst>
          </p:cNvPr>
          <p:cNvSpPr>
            <a:spLocks xmlns:a="http://schemas.openxmlformats.org/drawingml/2006/main" noGrp="1"/>
          </p:cNvSpPr>
          <p:nvPr/>
        </p:nvSpPr>
        <p:spPr>
          <a:xfrm xmlns:a="http://schemas.openxmlformats.org/drawingml/2006/main">
            <a:off x="67437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21" name="">
            <a:extLst xmlns:a="http://schemas.openxmlformats.org/drawingml/2006/main">
              <a:ext uri="{FF2B5EF4-FFF2-40B4-BE49-F238E27FC236}">
                <a16:creationId xmlns:a16="http://schemas.microsoft.com/office/drawing/2014/main" id="{A52390AE-36F1-4AF0-A739-C60FC9DE33A0}"/>
              </a:ext>
            </a:extLst>
          </p:cNvPr>
          <p:cNvSpPr>
            <a:spLocks xmlns:a="http://schemas.openxmlformats.org/drawingml/2006/main" noGrp="1"/>
          </p:cNvSpPr>
          <p:nvPr/>
        </p:nvSpPr>
        <p:spPr>
          <a:xfrm xmlns:a="http://schemas.openxmlformats.org/drawingml/2006/main">
            <a:off x="9410700" y="2000250"/>
            <a:ext cx="2152650" cy="2219325"/>
          </a:xfrm>
          <a:prstGeom xmlns:a="http://schemas.openxmlformats.org/drawingml/2006/main" prst="roundRect">
            <a:avLst>
              <a:gd name="adj" fmla="val 4425"/>
            </a:avLst>
          </a:prstGeom>
          <a:solidFill xmlns:a="http://schemas.openxmlformats.org/drawingml/2006/main">
            <a:srgbClr val="101B2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CE59CB5-459C-4433-AA80-9B7A184BABA9}"/>
              </a:ext>
            </a:extLst>
          </p:cNvPr>
          <p:cNvSpPr>
            <a:spLocks xmlns:a="http://schemas.openxmlformats.org/drawingml/2006/main" noGrp="1"/>
          </p:cNvSpPr>
          <p:nvPr/>
        </p:nvSpPr>
        <p:spPr>
          <a:xfrm xmlns:a="http://schemas.openxmlformats.org/drawingml/2006/main">
            <a:off x="9620250" y="2162175"/>
            <a:ext cx="17335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int x;</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x = 5;</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printf("%d\n", x);</a:t>
            </a:r>
          </a:p>
        </p:txBody>
      </p:sp>
      <p:sp>
        <p:nvSpPr>
          <p:cNvPr id="23" name="">
            <a:extLst xmlns:a="http://schemas.openxmlformats.org/drawingml/2006/main">
              <a:ext uri="{FF2B5EF4-FFF2-40B4-BE49-F238E27FC236}">
                <a16:creationId xmlns:a16="http://schemas.microsoft.com/office/drawing/2014/main" id="{02E53389-9701-47EE-9824-2D3B8AE0635F}"/>
              </a:ext>
            </a:extLst>
          </p:cNvPr>
          <p:cNvSpPr>
            <a:spLocks xmlns:a="http://schemas.openxmlformats.org/drawingml/2006/main" noGrp="1"/>
          </p:cNvSpPr>
          <p:nvPr/>
        </p:nvSpPr>
        <p:spPr>
          <a:xfrm xmlns:a="http://schemas.openxmlformats.org/drawingml/2006/main">
            <a:off x="628650" y="4619625"/>
            <a:ext cx="109156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DAB2E51-2AD1-4794-8EBB-EDBF32D43566}"/>
              </a:ext>
            </a:extLst>
          </p:cNvPr>
          <p:cNvSpPr>
            <a:spLocks xmlns:a="http://schemas.openxmlformats.org/drawingml/2006/main" noGrp="1"/>
          </p:cNvSpPr>
          <p:nvPr/>
        </p:nvSpPr>
        <p:spPr>
          <a:xfrm xmlns:a="http://schemas.openxmlformats.org/drawingml/2006/main">
            <a:off x="638175" y="47720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Tokens identify DECLARE, SET, literals and operators. The AST records expression structure.</a:t>
            </a:r>
          </a:p>
        </p:txBody>
      </p:sp>
      <p:sp>
        <p:nvSpPr>
          <p:cNvPr id="25" name="">
            <a:extLst xmlns:a="http://schemas.openxmlformats.org/drawingml/2006/main">
              <a:ext uri="{FF2B5EF4-FFF2-40B4-BE49-F238E27FC236}">
                <a16:creationId xmlns:a16="http://schemas.microsoft.com/office/drawing/2014/main" id="{A1595FD7-A6D1-4B7C-A3A6-0A508BB00AA0}"/>
              </a:ext>
            </a:extLst>
          </p:cNvPr>
          <p:cNvSpPr>
            <a:spLocks xmlns:a="http://schemas.openxmlformats.org/drawingml/2006/main" noGrp="1"/>
          </p:cNvSpPr>
          <p:nvPr/>
        </p:nvSpPr>
        <p:spPr>
          <a:xfrm xmlns:a="http://schemas.openxmlformats.org/drawingml/2006/main">
            <a:off x="638175" y="53054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The symbol table records x as INTEGER. Compiled C prints 5.</a:t>
            </a:r>
          </a:p>
        </p:txBody>
      </p:sp>
    </p:spTree>
    <p:extLst>
      <p:ext uri="{BB962C8B-B14F-4D97-AF65-F5344CB8AC3E}">
        <p14:creationId xmlns:p14="http://schemas.microsoft.com/office/powerpoint/2010/main" val="256930434"/>
      </p:ext>
    </p:extLst>
  </p:cSld>
</p:sld>
</file>

<file path=ppt/slides/slide6.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BC5A1E3-EEAE-46AD-850F-F2287C739FFE}"/>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C643DFF-12FB-4113-9D9B-DEFB3EC42A18}"/>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Phase 2 language coverage</a:t>
            </a:r>
          </a:p>
        </p:txBody>
      </p:sp>
      <p:sp>
        <p:nvSpPr>
          <p:cNvPr id="3" name="">
            <a:extLst xmlns:a="http://schemas.openxmlformats.org/drawingml/2006/main">
              <a:ext uri="{FF2B5EF4-FFF2-40B4-BE49-F238E27FC236}">
                <a16:creationId xmlns:a16="http://schemas.microsoft.com/office/drawing/2014/main" id="{A4F2CA4B-3256-4099-8DE8-4DD6EE6EA45A}"/>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current translator handles these restricted constructs end to end.</a:t>
            </a:r>
          </a:p>
        </p:txBody>
      </p:sp>
      <p:sp>
        <p:nvSpPr>
          <p:cNvPr id="4" name="">
            <a:extLst xmlns:a="http://schemas.openxmlformats.org/drawingml/2006/main">
              <a:ext uri="{FF2B5EF4-FFF2-40B4-BE49-F238E27FC236}">
                <a16:creationId xmlns:a16="http://schemas.microsoft.com/office/drawing/2014/main" id="{A710B03B-0425-436D-86AB-30E2CF2A05FE}"/>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38AA881-0841-4D9A-970D-AC3291A86381}"/>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F6F89D47-A619-4213-9C3B-CCB507264ACD}"/>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20FE5876-9BC5-41DB-93FE-A7EEA04E3DCC}"/>
              </a:ext>
            </a:extLst>
          </p:cNvPr>
          <p:cNvSpPr>
            <a:spLocks xmlns:a="http://schemas.openxmlformats.org/drawingml/2006/main" noGrp="1"/>
          </p:cNvSpPr>
          <p:nvPr/>
        </p:nvSpPr>
        <p:spPr>
          <a:xfrm xmlns:a="http://schemas.openxmlformats.org/drawingml/2006/main">
            <a:off x="628650" y="1562100"/>
            <a:ext cx="5000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CONTROL FLOW</a:t>
            </a:r>
          </a:p>
        </p:txBody>
      </p:sp>
      <p:sp>
        <p:nvSpPr>
          <p:cNvPr id="8" name="">
            <a:extLst xmlns:a="http://schemas.openxmlformats.org/drawingml/2006/main">
              <a:ext uri="{FF2B5EF4-FFF2-40B4-BE49-F238E27FC236}">
                <a16:creationId xmlns:a16="http://schemas.microsoft.com/office/drawing/2014/main" id="{E8F4D4A4-28DD-4D81-BAE0-A7BA5B3D0C12}"/>
              </a:ext>
            </a:extLst>
          </p:cNvPr>
          <p:cNvSpPr>
            <a:spLocks xmlns:a="http://schemas.openxmlformats.org/drawingml/2006/main" noGrp="1"/>
          </p:cNvSpPr>
          <p:nvPr/>
        </p:nvSpPr>
        <p:spPr>
          <a:xfrm xmlns:a="http://schemas.openxmlformats.org/drawingml/2006/main">
            <a:off x="628650" y="1905000"/>
            <a:ext cx="5000625"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B8A24D4-5B91-4F45-8C31-1B463CE8B1F4}"/>
              </a:ext>
            </a:extLst>
          </p:cNvPr>
          <p:cNvSpPr>
            <a:spLocks xmlns:a="http://schemas.openxmlformats.org/drawingml/2006/main" noGrp="1"/>
          </p:cNvSpPr>
          <p:nvPr/>
        </p:nvSpPr>
        <p:spPr>
          <a:xfrm xmlns:a="http://schemas.openxmlformats.org/drawingml/2006/main">
            <a:off x="638175" y="2066925"/>
            <a:ext cx="4714875"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6F8FC"/>
                </a:solidFill>
                <a:latin typeface="Arial"/>
                <a:ea typeface="Arial"/>
                <a:cs typeface="Arial"/>
              </a:defRPr>
            </a:defPPr>
          </a:lstStyle>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IF / ELSE</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WHILE</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Inclusive FOR with STEP</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BREAK and CONTINUE</a:t>
            </a:r>
          </a:p>
        </p:txBody>
      </p:sp>
      <p:sp>
        <p:nvSpPr>
          <p:cNvPr id="10" name="">
            <a:extLst xmlns:a="http://schemas.openxmlformats.org/drawingml/2006/main">
              <a:ext uri="{FF2B5EF4-FFF2-40B4-BE49-F238E27FC236}">
                <a16:creationId xmlns:a16="http://schemas.microsoft.com/office/drawing/2014/main" id="{F8F1CFEB-E406-4AF1-935E-4F64065A33F5}"/>
              </a:ext>
            </a:extLst>
          </p:cNvPr>
          <p:cNvSpPr>
            <a:spLocks xmlns:a="http://schemas.openxmlformats.org/drawingml/2006/main" noGrp="1"/>
          </p:cNvSpPr>
          <p:nvPr/>
        </p:nvSpPr>
        <p:spPr>
          <a:xfrm xmlns:a="http://schemas.openxmlformats.org/drawingml/2006/main">
            <a:off x="6172200" y="156210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DATA AND OPERATIONS</a:t>
            </a:r>
          </a:p>
        </p:txBody>
      </p:sp>
      <p:sp>
        <p:nvSpPr>
          <p:cNvPr id="11" name="">
            <a:extLst xmlns:a="http://schemas.openxmlformats.org/drawingml/2006/main">
              <a:ext uri="{FF2B5EF4-FFF2-40B4-BE49-F238E27FC236}">
                <a16:creationId xmlns:a16="http://schemas.microsoft.com/office/drawing/2014/main" id="{780D0078-2891-4EE4-B7EC-EFD9F6DFFF17}"/>
              </a:ext>
            </a:extLst>
          </p:cNvPr>
          <p:cNvSpPr>
            <a:spLocks xmlns:a="http://schemas.openxmlformats.org/drawingml/2006/main" noGrp="1"/>
          </p:cNvSpPr>
          <p:nvPr/>
        </p:nvSpPr>
        <p:spPr>
          <a:xfrm xmlns:a="http://schemas.openxmlformats.org/drawingml/2006/main">
            <a:off x="6172200" y="1905000"/>
            <a:ext cx="5286375"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2A92E1-AFBF-4F2F-AD1F-C75CA371515C}"/>
              </a:ext>
            </a:extLst>
          </p:cNvPr>
          <p:cNvSpPr>
            <a:spLocks xmlns:a="http://schemas.openxmlformats.org/drawingml/2006/main" noGrp="1"/>
          </p:cNvSpPr>
          <p:nvPr/>
        </p:nvSpPr>
        <p:spPr>
          <a:xfrm xmlns:a="http://schemas.openxmlformats.org/drawingml/2006/main">
            <a:off x="6181725" y="2066925"/>
            <a:ext cx="5238750"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F6F8FC"/>
                </a:solidFill>
                <a:latin typeface="Arial"/>
                <a:ea typeface="Arial"/>
                <a:cs typeface="Arial"/>
              </a:defRPr>
            </a:defPPr>
          </a:lstStyle>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INTEGER, REAL, CHAR, STRING</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Fixed-size 1D arrays</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Bitwise &amp;, |, ^, ~, &lt;&lt;, &gt;&gt;</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READ, PRINT and optional contracts</a:t>
            </a:r>
          </a:p>
        </p:txBody>
      </p:sp>
      <p:sp>
        <p:nvSpPr>
          <p:cNvPr id="13" name="">
            <a:extLst xmlns:a="http://schemas.openxmlformats.org/drawingml/2006/main">
              <a:ext uri="{FF2B5EF4-FFF2-40B4-BE49-F238E27FC236}">
                <a16:creationId xmlns:a16="http://schemas.microsoft.com/office/drawing/2014/main" id="{A3C64A9B-AE33-4CB0-9F51-5E5DEFC1192B}"/>
              </a:ext>
            </a:extLst>
          </p:cNvPr>
          <p:cNvSpPr>
            <a:spLocks xmlns:a="http://schemas.openxmlformats.org/drawingml/2006/main" noGrp="1"/>
          </p:cNvSpPr>
          <p:nvPr/>
        </p:nvSpPr>
        <p:spPr>
          <a:xfrm xmlns:a="http://schemas.openxmlformats.org/drawingml/2006/main">
            <a:off x="628650" y="457200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9A7B0E-794E-46C6-A1E7-6B06456A3FB9}"/>
              </a:ext>
            </a:extLst>
          </p:cNvPr>
          <p:cNvSpPr>
            <a:spLocks xmlns:a="http://schemas.openxmlformats.org/drawingml/2006/main" noGrp="1"/>
          </p:cNvSpPr>
          <p:nvPr/>
        </p:nvSpPr>
        <p:spPr>
          <a:xfrm xmlns:a="http://schemas.openxmlformats.org/drawingml/2006/main">
            <a:off x="647700" y="4810125"/>
            <a:ext cx="419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Consolas"/>
                <a:ea typeface="Consolas"/>
                <a:cs typeface="Consolas"/>
              </a:defRPr>
            </a:defPPr>
          </a:lstStyle>
          <a:p xmlns:a="http://schemas.openxmlformats.org/drawingml/2006/main">
            <a:pPr>
              <a:defRPr sz="1650" b="0">
                <a:solidFill>
                  <a:srgbClr val="AEBBD0"/>
                </a:solidFill>
                <a:latin typeface="Consolas"/>
                <a:ea typeface="Consolas"/>
                <a:cs typeface="Consolas"/>
              </a:defRPr>
            </a:pPr>
            <a:r>
              <a:rPr sz="1650" b="0">
                <a:solidFill>
                  <a:srgbClr val="AEBBD0"/>
                </a:solidFill>
                <a:latin typeface="Consolas"/>
                <a:ea typeface="Consolas"/>
                <a:cs typeface="Consolas"/>
              </a:rPr>
              <a:t>FOR i = 1 TO 4 DO</a:t>
            </a:r>
          </a:p>
        </p:txBody>
      </p:sp>
      <p:sp>
        <p:nvSpPr>
          <p:cNvPr id="15" name="">
            <a:extLst xmlns:a="http://schemas.openxmlformats.org/drawingml/2006/main">
              <a:ext uri="{FF2B5EF4-FFF2-40B4-BE49-F238E27FC236}">
                <a16:creationId xmlns:a16="http://schemas.microsoft.com/office/drawing/2014/main" id="{D276429C-B52E-4BE1-94E0-A34D288734D6}"/>
              </a:ext>
            </a:extLst>
          </p:cNvPr>
          <p:cNvSpPr>
            <a:spLocks xmlns:a="http://schemas.openxmlformats.org/drawingml/2006/main" noGrp="1"/>
          </p:cNvSpPr>
          <p:nvPr/>
        </p:nvSpPr>
        <p:spPr>
          <a:xfrm xmlns:a="http://schemas.openxmlformats.org/drawingml/2006/main">
            <a:off x="5619750" y="4810125"/>
            <a:ext cx="581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Consolas"/>
                <a:ea typeface="Consolas"/>
                <a:cs typeface="Consolas"/>
              </a:defRPr>
            </a:defPPr>
          </a:lstStyle>
          <a:p xmlns:a="http://schemas.openxmlformats.org/drawingml/2006/main">
            <a:pPr>
              <a:defRPr sz="1650" b="1">
                <a:solidFill>
                  <a:srgbClr val="20D5EA"/>
                </a:solidFill>
                <a:latin typeface="Consolas"/>
                <a:ea typeface="Consolas"/>
                <a:cs typeface="Consolas"/>
              </a:defRPr>
            </a:pPr>
            <a:r>
              <a:rPr sz="1650" b="1">
                <a:solidFill>
                  <a:srgbClr val="20D5EA"/>
                </a:solidFill>
                <a:latin typeface="Consolas"/>
                <a:ea typeface="Consolas"/>
                <a:cs typeface="Consolas"/>
              </a:rPr>
              <a:t>for (i = 1; i &lt;= 4; i++) { ... }</a:t>
            </a:r>
          </a:p>
        </p:txBody>
      </p:sp>
      <p:sp>
        <p:nvSpPr>
          <p:cNvPr id="16" name="">
            <a:extLst xmlns:a="http://schemas.openxmlformats.org/drawingml/2006/main">
              <a:ext uri="{FF2B5EF4-FFF2-40B4-BE49-F238E27FC236}">
                <a16:creationId xmlns:a16="http://schemas.microsoft.com/office/drawing/2014/main" id="{5776F992-CEBF-43E5-AA2C-E544C4245733}"/>
              </a:ext>
            </a:extLst>
          </p:cNvPr>
          <p:cNvSpPr>
            <a:spLocks xmlns:a="http://schemas.openxmlformats.org/drawingml/2006/main" noGrp="1"/>
          </p:cNvSpPr>
          <p:nvPr/>
        </p:nvSpPr>
        <p:spPr>
          <a:xfrm xmlns:a="http://schemas.openxmlformats.org/drawingml/2006/main">
            <a:off x="647700" y="54292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The generated C uses a normal for loop and normal continue for this case.</a:t>
            </a:r>
          </a:p>
        </p:txBody>
      </p:sp>
    </p:spTree>
    <p:extLst>
      <p:ext uri="{BB962C8B-B14F-4D97-AF65-F5344CB8AC3E}">
        <p14:creationId xmlns:p14="http://schemas.microsoft.com/office/powerpoint/2010/main" val="351888034"/>
      </p:ext>
    </p:extLst>
  </p:cSld>
</p:sld>
</file>

<file path=ppt/slides/slide7.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D2CDF05-A65D-4566-A4DC-AB2AE7F92647}"/>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24DC36E-0087-46BB-A8C7-6F8D9D84619F}"/>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Error detection at two points</a:t>
            </a:r>
          </a:p>
        </p:txBody>
      </p:sp>
      <p:sp>
        <p:nvSpPr>
          <p:cNvPr id="3" name="">
            <a:extLst xmlns:a="http://schemas.openxmlformats.org/drawingml/2006/main">
              <a:ext uri="{FF2B5EF4-FFF2-40B4-BE49-F238E27FC236}">
                <a16:creationId xmlns:a16="http://schemas.microsoft.com/office/drawing/2014/main" id="{0FF5CBDF-ED0A-43FE-BF3D-B889B88C44AB}"/>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compiler rejects invalid source; generated C checks selected input-dependent faults.</a:t>
            </a:r>
          </a:p>
        </p:txBody>
      </p:sp>
      <p:sp>
        <p:nvSpPr>
          <p:cNvPr id="4" name="">
            <a:extLst xmlns:a="http://schemas.openxmlformats.org/drawingml/2006/main">
              <a:ext uri="{FF2B5EF4-FFF2-40B4-BE49-F238E27FC236}">
                <a16:creationId xmlns:a16="http://schemas.microsoft.com/office/drawing/2014/main" id="{4E9E0357-BA79-4D9A-A9D3-DEE66EC8421F}"/>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3572447-286C-4782-8A16-09514D7061EF}"/>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B237F7E9-4BD7-4562-8ED9-6256093249FB}"/>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C5CEFBA8-8117-4981-9B3A-06871548A189}"/>
              </a:ext>
            </a:extLst>
          </p:cNvPr>
          <p:cNvSpPr>
            <a:spLocks xmlns:a="http://schemas.openxmlformats.org/drawingml/2006/main" noGrp="1"/>
          </p:cNvSpPr>
          <p:nvPr/>
        </p:nvSpPr>
        <p:spPr>
          <a:xfrm xmlns:a="http://schemas.openxmlformats.org/drawingml/2006/main">
            <a:off x="628650" y="1524000"/>
            <a:ext cx="5000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BEFORE C GENERATION</a:t>
            </a:r>
          </a:p>
        </p:txBody>
      </p:sp>
      <p:sp>
        <p:nvSpPr>
          <p:cNvPr id="8" name="">
            <a:extLst xmlns:a="http://schemas.openxmlformats.org/drawingml/2006/main">
              <a:ext uri="{FF2B5EF4-FFF2-40B4-BE49-F238E27FC236}">
                <a16:creationId xmlns:a16="http://schemas.microsoft.com/office/drawing/2014/main" id="{193F80B2-D87F-4594-B041-84B3FDDB8A71}"/>
              </a:ext>
            </a:extLst>
          </p:cNvPr>
          <p:cNvSpPr>
            <a:spLocks xmlns:a="http://schemas.openxmlformats.org/drawingml/2006/main" noGrp="1"/>
          </p:cNvSpPr>
          <p:nvPr/>
        </p:nvSpPr>
        <p:spPr>
          <a:xfrm xmlns:a="http://schemas.openxmlformats.org/drawingml/2006/main">
            <a:off x="628650" y="1866900"/>
            <a:ext cx="5000625"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3F1CC5-36ED-4532-ACA4-95CDD7AFC92F}"/>
              </a:ext>
            </a:extLst>
          </p:cNvPr>
          <p:cNvSpPr>
            <a:spLocks xmlns:a="http://schemas.openxmlformats.org/drawingml/2006/main" noGrp="1"/>
          </p:cNvSpPr>
          <p:nvPr/>
        </p:nvSpPr>
        <p:spPr>
          <a:xfrm xmlns:a="http://schemas.openxmlformats.org/drawingml/2006/main">
            <a:off x="619125" y="2009775"/>
            <a:ext cx="5010150" cy="1695450"/>
          </a:xfrm>
          <a:prstGeom xmlns:a="http://schemas.openxmlformats.org/drawingml/2006/main" prst="roundRect">
            <a:avLst>
              <a:gd name="adj" fmla="val 5618"/>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F58E3D-7ABD-40CE-A082-77F21E6A81B0}"/>
              </a:ext>
            </a:extLst>
          </p:cNvPr>
          <p:cNvSpPr>
            <a:spLocks xmlns:a="http://schemas.openxmlformats.org/drawingml/2006/main" noGrp="1"/>
          </p:cNvSpPr>
          <p:nvPr/>
        </p:nvSpPr>
        <p:spPr>
          <a:xfrm xmlns:a="http://schemas.openxmlformats.org/drawingml/2006/main">
            <a:off x="828675" y="2171700"/>
            <a:ext cx="45910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Consolas"/>
                <a:ea typeface="Consolas"/>
                <a:cs typeface="Consolas"/>
              </a:defRPr>
            </a:defPPr>
          </a:lstStyle>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DECLARE x AS INTEGER</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SET y = 3</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SET x = 2.5</a:t>
            </a:r>
          </a:p>
        </p:txBody>
      </p:sp>
      <p:sp>
        <p:nvSpPr>
          <p:cNvPr id="11" name="">
            <a:extLst xmlns:a="http://schemas.openxmlformats.org/drawingml/2006/main">
              <a:ext uri="{FF2B5EF4-FFF2-40B4-BE49-F238E27FC236}">
                <a16:creationId xmlns:a16="http://schemas.microsoft.com/office/drawing/2014/main" id="{13B622EF-E585-422F-A1A6-F4C849C0A14D}"/>
              </a:ext>
            </a:extLst>
          </p:cNvPr>
          <p:cNvSpPr>
            <a:spLocks xmlns:a="http://schemas.openxmlformats.org/drawingml/2006/main" noGrp="1"/>
          </p:cNvSpPr>
          <p:nvPr/>
        </p:nvSpPr>
        <p:spPr>
          <a:xfrm xmlns:a="http://schemas.openxmlformats.org/drawingml/2006/main">
            <a:off x="647700" y="3876675"/>
            <a:ext cx="495300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Arial"/>
                <a:ea typeface="Arial"/>
                <a:cs typeface="Arial"/>
              </a:defRPr>
            </a:defPPr>
          </a:lstStyle>
          <a:p xmlns:a="http://schemas.openxmlformats.org/drawingml/2006/main">
            <a:pPr>
              <a:defRPr sz="1500" b="0">
                <a:solidFill>
                  <a:srgbClr val="F6F8FC"/>
                </a:solidFill>
                <a:latin typeface="Arial"/>
                <a:ea typeface="Arial"/>
                <a:cs typeface="Arial"/>
              </a:defRPr>
            </a:pPr>
            <a:r>
              <a:rPr sz="1500" b="0">
                <a:solidFill>
                  <a:srgbClr val="F6F8FC"/>
                </a:solidFill>
                <a:latin typeface="Arial"/>
                <a:ea typeface="Arial"/>
                <a:cs typeface="Arial"/>
              </a:rPr>
              <a:t>Undeclared y stops compilation. The last line is a separate type-error example.</a:t>
            </a:r>
          </a:p>
        </p:txBody>
      </p:sp>
      <p:sp>
        <p:nvSpPr>
          <p:cNvPr id="12" name="">
            <a:extLst xmlns:a="http://schemas.openxmlformats.org/drawingml/2006/main">
              <a:ext uri="{FF2B5EF4-FFF2-40B4-BE49-F238E27FC236}">
                <a16:creationId xmlns:a16="http://schemas.microsoft.com/office/drawing/2014/main" id="{54111E35-1E42-44EC-9746-8974F6E132D7}"/>
              </a:ext>
            </a:extLst>
          </p:cNvPr>
          <p:cNvSpPr>
            <a:spLocks xmlns:a="http://schemas.openxmlformats.org/drawingml/2006/main" noGrp="1"/>
          </p:cNvSpPr>
          <p:nvPr/>
        </p:nvSpPr>
        <p:spPr>
          <a:xfrm xmlns:a="http://schemas.openxmlformats.org/drawingml/2006/main">
            <a:off x="6191250" y="152400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WHEN GENERATED C RUNS</a:t>
            </a:r>
          </a:p>
        </p:txBody>
      </p:sp>
      <p:sp>
        <p:nvSpPr>
          <p:cNvPr id="13" name="">
            <a:extLst xmlns:a="http://schemas.openxmlformats.org/drawingml/2006/main">
              <a:ext uri="{FF2B5EF4-FFF2-40B4-BE49-F238E27FC236}">
                <a16:creationId xmlns:a16="http://schemas.microsoft.com/office/drawing/2014/main" id="{1FBF3B2E-F166-4F96-A7EE-6E543E87CF05}"/>
              </a:ext>
            </a:extLst>
          </p:cNvPr>
          <p:cNvSpPr>
            <a:spLocks xmlns:a="http://schemas.openxmlformats.org/drawingml/2006/main" noGrp="1"/>
          </p:cNvSpPr>
          <p:nvPr/>
        </p:nvSpPr>
        <p:spPr>
          <a:xfrm xmlns:a="http://schemas.openxmlformats.org/drawingml/2006/main">
            <a:off x="6191250" y="1866900"/>
            <a:ext cx="5286375"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22E09E-4533-488E-AEAE-3751051F0C6B}"/>
              </a:ext>
            </a:extLst>
          </p:cNvPr>
          <p:cNvSpPr>
            <a:spLocks xmlns:a="http://schemas.openxmlformats.org/drawingml/2006/main" noGrp="1"/>
          </p:cNvSpPr>
          <p:nvPr/>
        </p:nvSpPr>
        <p:spPr>
          <a:xfrm xmlns:a="http://schemas.openxmlformats.org/drawingml/2006/main">
            <a:off x="6181725" y="2009775"/>
            <a:ext cx="5286375" cy="1695450"/>
          </a:xfrm>
          <a:prstGeom xmlns:a="http://schemas.openxmlformats.org/drawingml/2006/main" prst="roundRect">
            <a:avLst>
              <a:gd name="adj" fmla="val 5618"/>
            </a:avLst>
          </a:prstGeom>
          <a:solidFill xmlns:a="http://schemas.openxmlformats.org/drawingml/2006/main">
            <a:srgbClr val="101B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BE07E21-0A9D-450F-95DA-70CAD47F6B4B}"/>
              </a:ext>
            </a:extLst>
          </p:cNvPr>
          <p:cNvSpPr>
            <a:spLocks xmlns:a="http://schemas.openxmlformats.org/drawingml/2006/main" noGrp="1"/>
          </p:cNvSpPr>
          <p:nvPr/>
        </p:nvSpPr>
        <p:spPr>
          <a:xfrm xmlns:a="http://schemas.openxmlformats.org/drawingml/2006/main">
            <a:off x="6391275" y="2171700"/>
            <a:ext cx="4867275"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Consolas"/>
                <a:ea typeface="Consolas"/>
                <a:cs typeface="Consolas"/>
              </a:defRPr>
            </a:defPPr>
          </a:lstStyle>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READ divisor</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PRINT 10 / divisor</a:t>
            </a:r>
          </a:p>
          <a:p xmlns:a="http://schemas.openxmlformats.org/drawingml/2006/main">
            <a:r>
              <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Input: 0</a:t>
            </a:r>
          </a:p>
        </p:txBody>
      </p:sp>
      <p:sp>
        <p:nvSpPr>
          <p:cNvPr id="16" name="">
            <a:extLst xmlns:a="http://schemas.openxmlformats.org/drawingml/2006/main">
              <a:ext uri="{FF2B5EF4-FFF2-40B4-BE49-F238E27FC236}">
                <a16:creationId xmlns:a16="http://schemas.microsoft.com/office/drawing/2014/main" id="{7FB3607B-8CC5-481C-8060-0882335A27EB}"/>
              </a:ext>
            </a:extLst>
          </p:cNvPr>
          <p:cNvSpPr>
            <a:spLocks xmlns:a="http://schemas.openxmlformats.org/drawingml/2006/main" noGrp="1"/>
          </p:cNvSpPr>
          <p:nvPr/>
        </p:nvSpPr>
        <p:spPr>
          <a:xfrm xmlns:a="http://schemas.openxmlformats.org/drawingml/2006/main">
            <a:off x="6210300" y="3886200"/>
            <a:ext cx="5191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Arial"/>
                <a:ea typeface="Arial"/>
                <a:cs typeface="Arial"/>
              </a:defRPr>
            </a:defPPr>
          </a:lstStyle>
          <a:p xmlns:a="http://schemas.openxmlformats.org/drawingml/2006/main">
            <a:pPr>
              <a:defRPr sz="1575" b="0">
                <a:solidFill>
                  <a:srgbClr val="F6F8FC"/>
                </a:solidFill>
                <a:latin typeface="Arial"/>
                <a:ea typeface="Arial"/>
                <a:cs typeface="Arial"/>
              </a:defRPr>
            </a:pPr>
            <a:r>
              <a:rPr sz="1575" b="0">
                <a:solidFill>
                  <a:srgbClr val="F6F8FC"/>
                </a:solidFill>
                <a:latin typeface="Arial"/>
                <a:ea typeface="Arial"/>
                <a:cs typeface="Arial"/>
              </a:rPr>
              <a:t>Inserted divisor check reports the pseudocode line.</a:t>
            </a:r>
          </a:p>
        </p:txBody>
      </p:sp>
      <p:sp>
        <p:nvSpPr>
          <p:cNvPr id="17" name="">
            <a:extLst xmlns:a="http://schemas.openxmlformats.org/drawingml/2006/main">
              <a:ext uri="{FF2B5EF4-FFF2-40B4-BE49-F238E27FC236}">
                <a16:creationId xmlns:a16="http://schemas.microsoft.com/office/drawing/2014/main" id="{497A03CD-6E72-46D8-8C4C-0257AACF47F3}"/>
              </a:ext>
            </a:extLst>
          </p:cNvPr>
          <p:cNvSpPr>
            <a:spLocks xmlns:a="http://schemas.openxmlformats.org/drawingml/2006/main" noGrp="1"/>
          </p:cNvSpPr>
          <p:nvPr/>
        </p:nvSpPr>
        <p:spPr>
          <a:xfrm xmlns:a="http://schemas.openxmlformats.org/drawingml/2006/main">
            <a:off x="628650" y="504825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ABAE36-85D2-4A62-A6A7-0C423B35A966}"/>
              </a:ext>
            </a:extLst>
          </p:cNvPr>
          <p:cNvSpPr>
            <a:spLocks xmlns:a="http://schemas.openxmlformats.org/drawingml/2006/main" noGrp="1"/>
          </p:cNvSpPr>
          <p:nvPr/>
        </p:nvSpPr>
        <p:spPr>
          <a:xfrm xmlns:a="http://schemas.openxmlformats.org/drawingml/2006/main">
            <a:off x="638175" y="5248275"/>
            <a:ext cx="108108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Other checks: array bounds, invalid shifts and optional REQUIRE / ENSURE.</a:t>
            </a:r>
          </a:p>
        </p:txBody>
      </p:sp>
    </p:spTree>
    <p:extLst>
      <p:ext uri="{BB962C8B-B14F-4D97-AF65-F5344CB8AC3E}">
        <p14:creationId xmlns:p14="http://schemas.microsoft.com/office/powerpoint/2010/main" val="393484313"/>
      </p:ext>
    </p:extLst>
  </p:cSld>
</p:sld>
</file>

<file path=ppt/slides/slide8.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65F571F-D246-46F8-A03D-641EA8E97AED}"/>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330140-70AE-4E1A-A992-18FF031D6B05}"/>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Project improvement and novelty</a:t>
            </a:r>
          </a:p>
        </p:txBody>
      </p:sp>
      <p:sp>
        <p:nvSpPr>
          <p:cNvPr id="3" name="">
            <a:extLst xmlns:a="http://schemas.openxmlformats.org/drawingml/2006/main">
              <a:ext uri="{FF2B5EF4-FFF2-40B4-BE49-F238E27FC236}">
                <a16:creationId xmlns:a16="http://schemas.microsoft.com/office/drawing/2014/main" id="{F21F95B6-304A-4F74-B665-C26D1C14CEC0}"/>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A project-specific combination of readable translation, targeted guards and optimizer checking.</a:t>
            </a:r>
          </a:p>
        </p:txBody>
      </p:sp>
      <p:sp>
        <p:nvSpPr>
          <p:cNvPr id="4" name="">
            <a:extLst xmlns:a="http://schemas.openxmlformats.org/drawingml/2006/main">
              <a:ext uri="{FF2B5EF4-FFF2-40B4-BE49-F238E27FC236}">
                <a16:creationId xmlns:a16="http://schemas.microsoft.com/office/drawing/2014/main" id="{CF0BBA6B-B100-46EE-A2B7-4F87EF3B6615}"/>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CAA5E45-7270-4BE3-93D7-28F300E9D9EE}"/>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378C80E0-E0D1-4CE2-89CA-05FE250C5609}"/>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8B8C985B-9482-4AA2-A586-09419C869293}"/>
              </a:ext>
            </a:extLst>
          </p:cNvPr>
          <p:cNvSpPr>
            <a:spLocks xmlns:a="http://schemas.openxmlformats.org/drawingml/2006/main" noGrp="1"/>
          </p:cNvSpPr>
          <p:nvPr/>
        </p:nvSpPr>
        <p:spPr>
          <a:xfrm xmlns:a="http://schemas.openxmlformats.org/drawingml/2006/main">
            <a:off x="628650" y="1562100"/>
            <a:ext cx="501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OPERATION-AWARE GUARDS</a:t>
            </a:r>
          </a:p>
        </p:txBody>
      </p:sp>
      <p:sp>
        <p:nvSpPr>
          <p:cNvPr id="8" name="">
            <a:extLst xmlns:a="http://schemas.openxmlformats.org/drawingml/2006/main">
              <a:ext uri="{FF2B5EF4-FFF2-40B4-BE49-F238E27FC236}">
                <a16:creationId xmlns:a16="http://schemas.microsoft.com/office/drawing/2014/main" id="{051D0C86-DD80-4BE2-9E65-DA74BE764C47}"/>
              </a:ext>
            </a:extLst>
          </p:cNvPr>
          <p:cNvSpPr>
            <a:spLocks xmlns:a="http://schemas.openxmlformats.org/drawingml/2006/main" noGrp="1"/>
          </p:cNvSpPr>
          <p:nvPr/>
        </p:nvSpPr>
        <p:spPr>
          <a:xfrm xmlns:a="http://schemas.openxmlformats.org/drawingml/2006/main">
            <a:off x="628650" y="1905000"/>
            <a:ext cx="501015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0769ECC-4727-4F63-B400-8379D8C91F51}"/>
              </a:ext>
            </a:extLst>
          </p:cNvPr>
          <p:cNvSpPr>
            <a:spLocks xmlns:a="http://schemas.openxmlformats.org/drawingml/2006/main" noGrp="1"/>
          </p:cNvSpPr>
          <p:nvPr/>
        </p:nvSpPr>
        <p:spPr>
          <a:xfrm xmlns:a="http://schemas.openxmlformats.org/drawingml/2006/main">
            <a:off x="619125" y="2038350"/>
            <a:ext cx="5019675" cy="1657350"/>
          </a:xfrm>
          <a:prstGeom xmlns:a="http://schemas.openxmlformats.org/drawingml/2006/main" prst="roundRect">
            <a:avLst>
              <a:gd name="adj" fmla="val 5747"/>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2F1C2E-8F5E-4ABA-97ED-8B33D6441428}"/>
              </a:ext>
            </a:extLst>
          </p:cNvPr>
          <p:cNvSpPr>
            <a:spLocks xmlns:a="http://schemas.openxmlformats.org/drawingml/2006/main" noGrp="1"/>
          </p:cNvSpPr>
          <p:nvPr/>
        </p:nvSpPr>
        <p:spPr>
          <a:xfrm xmlns:a="http://schemas.openxmlformats.org/drawingml/2006/main">
            <a:off x="828675" y="2200275"/>
            <a:ext cx="460057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Consolas"/>
                <a:ea typeface="Consolas"/>
                <a:cs typeface="Consolas"/>
              </a:defRPr>
            </a:defPPr>
          </a:lstStyle>
          <a:p xmlns:a="http://schemas.openxmlformats.org/drawingml/2006/main">
            <a:pPr>
              <a:defRPr sz="1650" b="0">
                <a:solidFill>
                  <a:srgbClr val="F6F8FC"/>
                </a:solidFill>
                <a:latin typeface="Consolas"/>
                <a:ea typeface="Consolas"/>
                <a:cs typeface="Consolas"/>
              </a:defRPr>
            </a:pPr>
            <a:r>
              <a:rPr sz="1650" b="0">
                <a:solidFill>
                  <a:srgbClr val="F6F8FC"/>
                </a:solidFill>
                <a:latin typeface="Consolas"/>
                <a:ea typeface="Consolas"/>
                <a:cs typeface="Consolas"/>
              </a:rPr>
              <a:t>READ dividend</a:t>
            </a:r>
          </a:p>
          <a:p xmlns:a="http://schemas.openxmlformats.org/drawingml/2006/main">
            <a:pPr>
              <a:defRPr sz="1650" b="0">
                <a:solidFill>
                  <a:srgbClr val="F6F8FC"/>
                </a:solidFill>
                <a:latin typeface="Consolas"/>
                <a:ea typeface="Consolas"/>
                <a:cs typeface="Consolas"/>
              </a:defRPr>
            </a:pPr>
            <a:r>
              <a:rPr sz="1650" b="0">
                <a:solidFill>
                  <a:srgbClr val="F6F8FC"/>
                </a:solidFill>
                <a:latin typeface="Consolas"/>
                <a:ea typeface="Consolas"/>
                <a:cs typeface="Consolas"/>
              </a:rPr>
              <a:t>READ divisor</a:t>
            </a:r>
          </a:p>
          <a:p xmlns:a="http://schemas.openxmlformats.org/drawingml/2006/main">
            <a:pPr>
              <a:defRPr sz="1650" b="0">
                <a:solidFill>
                  <a:srgbClr val="F6F8FC"/>
                </a:solidFill>
                <a:latin typeface="Consolas"/>
                <a:ea typeface="Consolas"/>
                <a:cs typeface="Consolas"/>
              </a:defRPr>
            </a:pPr>
            <a:r>
              <a:rPr sz="1650" b="0">
                <a:solidFill>
                  <a:srgbClr val="F6F8FC"/>
                </a:solidFill>
                <a:latin typeface="Consolas"/>
                <a:ea typeface="Consolas"/>
                <a:cs typeface="Consolas"/>
              </a:rPr>
              <a:t>PRINT dividend / divisor</a:t>
            </a:r>
          </a:p>
        </p:txBody>
      </p:sp>
      <p:sp>
        <p:nvSpPr>
          <p:cNvPr id="11" name="">
            <a:extLst xmlns:a="http://schemas.openxmlformats.org/drawingml/2006/main">
              <a:ext uri="{FF2B5EF4-FFF2-40B4-BE49-F238E27FC236}">
                <a16:creationId xmlns:a16="http://schemas.microsoft.com/office/drawing/2014/main" id="{9C592A79-39E9-4B7D-9EAD-EE6320E71877}"/>
              </a:ext>
            </a:extLst>
          </p:cNvPr>
          <p:cNvSpPr>
            <a:spLocks xmlns:a="http://schemas.openxmlformats.org/drawingml/2006/main" noGrp="1"/>
          </p:cNvSpPr>
          <p:nvPr/>
        </p:nvSpPr>
        <p:spPr>
          <a:xfrm xmlns:a="http://schemas.openxmlformats.org/drawingml/2006/main">
            <a:off x="638175" y="3876675"/>
            <a:ext cx="5000625"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The C generator adds a zero-divisor check even when no REQUIRE is written.</a:t>
            </a:r>
          </a:p>
        </p:txBody>
      </p:sp>
      <p:sp>
        <p:nvSpPr>
          <p:cNvPr id="12" name="">
            <a:extLst xmlns:a="http://schemas.openxmlformats.org/drawingml/2006/main">
              <a:ext uri="{FF2B5EF4-FFF2-40B4-BE49-F238E27FC236}">
                <a16:creationId xmlns:a16="http://schemas.microsoft.com/office/drawing/2014/main" id="{22F6BFA3-CC1B-4ED9-A3E2-1FB1B939C7C5}"/>
              </a:ext>
            </a:extLst>
          </p:cNvPr>
          <p:cNvSpPr>
            <a:spLocks xmlns:a="http://schemas.openxmlformats.org/drawingml/2006/main" noGrp="1"/>
          </p:cNvSpPr>
          <p:nvPr/>
        </p:nvSpPr>
        <p:spPr>
          <a:xfrm xmlns:a="http://schemas.openxmlformats.org/drawingml/2006/main">
            <a:off x="6191250" y="156210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OPTIMIZER COMPARISON</a:t>
            </a:r>
          </a:p>
        </p:txBody>
      </p:sp>
      <p:sp>
        <p:nvSpPr>
          <p:cNvPr id="13" name="">
            <a:extLst xmlns:a="http://schemas.openxmlformats.org/drawingml/2006/main">
              <a:ext uri="{FF2B5EF4-FFF2-40B4-BE49-F238E27FC236}">
                <a16:creationId xmlns:a16="http://schemas.microsoft.com/office/drawing/2014/main" id="{4657361E-BA0A-4097-8A04-53CE25920C54}"/>
              </a:ext>
            </a:extLst>
          </p:cNvPr>
          <p:cNvSpPr>
            <a:spLocks xmlns:a="http://schemas.openxmlformats.org/drawingml/2006/main" noGrp="1"/>
          </p:cNvSpPr>
          <p:nvPr/>
        </p:nvSpPr>
        <p:spPr>
          <a:xfrm xmlns:a="http://schemas.openxmlformats.org/drawingml/2006/main">
            <a:off x="6191250" y="1905000"/>
            <a:ext cx="52863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061576-57FE-4079-A222-BF4AF75EB232}"/>
              </a:ext>
            </a:extLst>
          </p:cNvPr>
          <p:cNvSpPr>
            <a:spLocks xmlns:a="http://schemas.openxmlformats.org/drawingml/2006/main" noGrp="1"/>
          </p:cNvSpPr>
          <p:nvPr/>
        </p:nvSpPr>
        <p:spPr>
          <a:xfrm xmlns:a="http://schemas.openxmlformats.org/drawingml/2006/main">
            <a:off x="6200775" y="2105025"/>
            <a:ext cx="5191125" cy="1924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Generate bounded programs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Compile optimized and unoptimized C</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Compare output, errors and exit status</a:t>
            </a:r>
          </a:p>
        </p:txBody>
      </p:sp>
      <p:sp>
        <p:nvSpPr>
          <p:cNvPr id="15" name="">
            <a:extLst xmlns:a="http://schemas.openxmlformats.org/drawingml/2006/main">
              <a:ext uri="{FF2B5EF4-FFF2-40B4-BE49-F238E27FC236}">
                <a16:creationId xmlns:a16="http://schemas.microsoft.com/office/drawing/2014/main" id="{A02DDB95-42E4-42FD-B3B6-6646764D3207}"/>
              </a:ext>
            </a:extLst>
          </p:cNvPr>
          <p:cNvSpPr>
            <a:spLocks xmlns:a="http://schemas.openxmlformats.org/drawingml/2006/main" noGrp="1"/>
          </p:cNvSpPr>
          <p:nvPr/>
        </p:nvSpPr>
        <p:spPr>
          <a:xfrm xmlns:a="http://schemas.openxmlformats.org/drawingml/2006/main">
            <a:off x="628650" y="5114925"/>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C526030-8EB4-4CF4-806E-95C9848D195D}"/>
              </a:ext>
            </a:extLst>
          </p:cNvPr>
          <p:cNvSpPr>
            <a:spLocks xmlns:a="http://schemas.openxmlformats.org/drawingml/2006/main" noGrp="1"/>
          </p:cNvSpPr>
          <p:nvPr/>
        </p:nvSpPr>
        <p:spPr>
          <a:xfrm xmlns:a="http://schemas.openxmlformats.org/drawingml/2006/main">
            <a:off x="638175" y="5295900"/>
            <a:ext cx="10715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The checks are rule-based. The comparison is test evidence, not a proof for every program.</a:t>
            </a:r>
          </a:p>
        </p:txBody>
      </p:sp>
    </p:spTree>
    <p:extLst>
      <p:ext uri="{BB962C8B-B14F-4D97-AF65-F5344CB8AC3E}">
        <p14:creationId xmlns:p14="http://schemas.microsoft.com/office/powerpoint/2010/main" val="932356199"/>
      </p:ext>
    </p:extLst>
  </p:cSld>
</p:sld>
</file>

<file path=ppt/slides/slide9.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CA4976E-0259-4751-A4E0-29CC47C57FED}"/>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52810F-49A7-4C1C-B70C-E9A3C07B79EF}"/>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Testing and observed results</a:t>
            </a:r>
          </a:p>
        </p:txBody>
      </p:sp>
      <p:sp>
        <p:nvSpPr>
          <p:cNvPr id="3" name="">
            <a:extLst xmlns:a="http://schemas.openxmlformats.org/drawingml/2006/main">
              <a:ext uri="{FF2B5EF4-FFF2-40B4-BE49-F238E27FC236}">
                <a16:creationId xmlns:a16="http://schemas.microsoft.com/office/drawing/2014/main" id="{BA6FB039-7A2F-4867-BCCE-196E90D6B3F7}"/>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Tests cover successful translation, rejected source and selected executions of generated C.</a:t>
            </a:r>
          </a:p>
        </p:txBody>
      </p:sp>
      <p:sp>
        <p:nvSpPr>
          <p:cNvPr id="4" name="">
            <a:extLst xmlns:a="http://schemas.openxmlformats.org/drawingml/2006/main">
              <a:ext uri="{FF2B5EF4-FFF2-40B4-BE49-F238E27FC236}">
                <a16:creationId xmlns:a16="http://schemas.microsoft.com/office/drawing/2014/main" id="{0CF87197-9262-4E66-9DCC-47090FA70139}"/>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758F884-FE2C-48BE-B305-B7321E88CBD7}"/>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8DACD935-DA2D-4EF3-8761-1B1C461712F5}"/>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09</a:t>
            </a:r>
          </a:p>
        </p:txBody>
      </p:sp>
      <p:sp>
        <p:nvSpPr>
          <p:cNvPr id="7" name="">
            <a:extLst xmlns:a="http://schemas.openxmlformats.org/drawingml/2006/main">
              <a:ext uri="{FF2B5EF4-FFF2-40B4-BE49-F238E27FC236}">
                <a16:creationId xmlns:a16="http://schemas.microsoft.com/office/drawing/2014/main" id="{883CC864-D2B5-45FD-A627-C3178A093B96}"/>
              </a:ext>
            </a:extLst>
          </p:cNvPr>
          <p:cNvSpPr>
            <a:spLocks xmlns:a="http://schemas.openxmlformats.org/drawingml/2006/main" noGrp="1"/>
          </p:cNvSpPr>
          <p:nvPr/>
        </p:nvSpPr>
        <p:spPr>
          <a:xfrm xmlns:a="http://schemas.openxmlformats.org/drawingml/2006/main">
            <a:off x="638175" y="1533525"/>
            <a:ext cx="1952625" cy="981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250" b="1">
                <a:solidFill>
                  <a:srgbClr val="33D69B"/>
                </a:solidFill>
                <a:latin typeface="Arial"/>
                <a:ea typeface="Arial"/>
                <a:cs typeface="Arial"/>
              </a:defRPr>
            </a:defPPr>
          </a:lstStyle>
          <a:p xmlns:a="http://schemas.openxmlformats.org/drawingml/2006/main">
            <a:pPr>
              <a:defRPr sz="5250" b="1">
                <a:solidFill>
                  <a:srgbClr val="33D69B"/>
                </a:solidFill>
                <a:latin typeface="Arial"/>
                <a:ea typeface="Arial"/>
                <a:cs typeface="Arial"/>
              </a:defRPr>
            </a:pPr>
            <a:r>
              <a:rPr sz="5250" b="1">
                <a:solidFill>
                  <a:srgbClr val="33D69B"/>
                </a:solidFill>
                <a:latin typeface="Arial"/>
                <a:ea typeface="Arial"/>
                <a:cs typeface="Arial"/>
              </a:rPr>
              <a:t>111</a:t>
            </a:r>
          </a:p>
        </p:txBody>
      </p:sp>
      <p:sp>
        <p:nvSpPr>
          <p:cNvPr id="8" name="">
            <a:extLst xmlns:a="http://schemas.openxmlformats.org/drawingml/2006/main">
              <a:ext uri="{FF2B5EF4-FFF2-40B4-BE49-F238E27FC236}">
                <a16:creationId xmlns:a16="http://schemas.microsoft.com/office/drawing/2014/main" id="{B8A64B4A-7DC9-4B6B-AC00-AED91A3CB1E4}"/>
              </a:ext>
            </a:extLst>
          </p:cNvPr>
          <p:cNvSpPr>
            <a:spLocks xmlns:a="http://schemas.openxmlformats.org/drawingml/2006/main" noGrp="1"/>
          </p:cNvSpPr>
          <p:nvPr/>
        </p:nvSpPr>
        <p:spPr>
          <a:xfrm xmlns:a="http://schemas.openxmlformats.org/drawingml/2006/main">
            <a:off x="2333625" y="1752600"/>
            <a:ext cx="9096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F6F8FC"/>
                </a:solidFill>
                <a:latin typeface="Arial"/>
                <a:ea typeface="Arial"/>
                <a:cs typeface="Arial"/>
              </a:defRPr>
            </a:defPPr>
          </a:lstStyle>
          <a:p xmlns:a="http://schemas.openxmlformats.org/drawingml/2006/main">
            <a:pPr>
              <a:defRPr sz="2250" b="1">
                <a:solidFill>
                  <a:srgbClr val="F6F8FC"/>
                </a:solidFill>
                <a:latin typeface="Arial"/>
                <a:ea typeface="Arial"/>
                <a:cs typeface="Arial"/>
              </a:defRPr>
            </a:pPr>
            <a:r>
              <a:rPr sz="2250" b="1">
                <a:solidFill>
                  <a:srgbClr val="F6F8FC"/>
                </a:solidFill>
                <a:latin typeface="Arial"/>
                <a:ea typeface="Arial"/>
                <a:cs typeface="Arial"/>
              </a:rPr>
              <a:t>automated tests passed</a:t>
            </a:r>
          </a:p>
        </p:txBody>
      </p:sp>
      <p:sp>
        <p:nvSpPr>
          <p:cNvPr id="9" name="">
            <a:extLst xmlns:a="http://schemas.openxmlformats.org/drawingml/2006/main">
              <a:ext uri="{FF2B5EF4-FFF2-40B4-BE49-F238E27FC236}">
                <a16:creationId xmlns:a16="http://schemas.microsoft.com/office/drawing/2014/main" id="{095103CE-5108-43F7-A924-CA0CDCAC2D4B}"/>
              </a:ext>
            </a:extLst>
          </p:cNvPr>
          <p:cNvSpPr>
            <a:spLocks xmlns:a="http://schemas.openxmlformats.org/drawingml/2006/main" noGrp="1"/>
          </p:cNvSpPr>
          <p:nvPr/>
        </p:nvSpPr>
        <p:spPr>
          <a:xfrm xmlns:a="http://schemas.openxmlformats.org/drawingml/2006/main">
            <a:off x="628650" y="2676525"/>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A7F3A9-116D-4D11-B9CB-759BC14031EE}"/>
              </a:ext>
            </a:extLst>
          </p:cNvPr>
          <p:cNvSpPr>
            <a:spLocks xmlns:a="http://schemas.openxmlformats.org/drawingml/2006/main" noGrp="1"/>
          </p:cNvSpPr>
          <p:nvPr/>
        </p:nvSpPr>
        <p:spPr>
          <a:xfrm xmlns:a="http://schemas.openxmlformats.org/drawingml/2006/main">
            <a:off x="638175" y="28956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CASE</a:t>
            </a:r>
          </a:p>
        </p:txBody>
      </p:sp>
      <p:sp>
        <p:nvSpPr>
          <p:cNvPr id="11" name="">
            <a:extLst xmlns:a="http://schemas.openxmlformats.org/drawingml/2006/main">
              <a:ext uri="{FF2B5EF4-FFF2-40B4-BE49-F238E27FC236}">
                <a16:creationId xmlns:a16="http://schemas.microsoft.com/office/drawing/2014/main" id="{AE69633F-CC30-4277-B4F8-1E8540DD30FE}"/>
              </a:ext>
            </a:extLst>
          </p:cNvPr>
          <p:cNvSpPr>
            <a:spLocks xmlns:a="http://schemas.openxmlformats.org/drawingml/2006/main" noGrp="1"/>
          </p:cNvSpPr>
          <p:nvPr/>
        </p:nvSpPr>
        <p:spPr>
          <a:xfrm xmlns:a="http://schemas.openxmlformats.org/drawingml/2006/main">
            <a:off x="3905250" y="2895600"/>
            <a:ext cx="433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CONDITION</a:t>
            </a:r>
          </a:p>
        </p:txBody>
      </p:sp>
      <p:sp>
        <p:nvSpPr>
          <p:cNvPr id="12" name="">
            <a:extLst xmlns:a="http://schemas.openxmlformats.org/drawingml/2006/main">
              <a:ext uri="{FF2B5EF4-FFF2-40B4-BE49-F238E27FC236}">
                <a16:creationId xmlns:a16="http://schemas.microsoft.com/office/drawing/2014/main" id="{64DCDDAD-2D8A-4F01-B714-42EDED509F65}"/>
              </a:ext>
            </a:extLst>
          </p:cNvPr>
          <p:cNvSpPr>
            <a:spLocks xmlns:a="http://schemas.openxmlformats.org/drawingml/2006/main" noGrp="1"/>
          </p:cNvSpPr>
          <p:nvPr/>
        </p:nvSpPr>
        <p:spPr>
          <a:xfrm xmlns:a="http://schemas.openxmlformats.org/drawingml/2006/main">
            <a:off x="9334500" y="2895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RESULT</a:t>
            </a:r>
          </a:p>
        </p:txBody>
      </p:sp>
      <p:sp>
        <p:nvSpPr>
          <p:cNvPr id="13" name="">
            <a:extLst xmlns:a="http://schemas.openxmlformats.org/drawingml/2006/main">
              <a:ext uri="{FF2B5EF4-FFF2-40B4-BE49-F238E27FC236}">
                <a16:creationId xmlns:a16="http://schemas.microsoft.com/office/drawing/2014/main" id="{0643FFC0-986E-4FD4-8853-B4BC8E51016E}"/>
              </a:ext>
            </a:extLst>
          </p:cNvPr>
          <p:cNvSpPr>
            <a:spLocks xmlns:a="http://schemas.openxmlformats.org/drawingml/2006/main" noGrp="1"/>
          </p:cNvSpPr>
          <p:nvPr/>
        </p:nvSpPr>
        <p:spPr>
          <a:xfrm xmlns:a="http://schemas.openxmlformats.org/drawingml/2006/main">
            <a:off x="638175" y="3286125"/>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Arial"/>
                <a:ea typeface="Arial"/>
                <a:cs typeface="Arial"/>
              </a:defRPr>
            </a:defPPr>
          </a:lstStyle>
          <a:p xmlns:a="http://schemas.openxmlformats.org/drawingml/2006/main">
            <a:pPr>
              <a:defRPr sz="1575" b="0">
                <a:solidFill>
                  <a:srgbClr val="F6F8FC"/>
                </a:solidFill>
                <a:latin typeface="Arial"/>
                <a:ea typeface="Arial"/>
                <a:cs typeface="Arial"/>
              </a:defRPr>
            </a:pPr>
            <a:r>
              <a:rPr sz="1575" b="0">
                <a:solidFill>
                  <a:srgbClr val="F6F8FC"/>
                </a:solidFill>
                <a:latin typeface="Arial"/>
                <a:ea typeface="Arial"/>
                <a:cs typeface="Arial"/>
              </a:rPr>
              <a:t>Arithmetic</a:t>
            </a:r>
          </a:p>
        </p:txBody>
      </p:sp>
      <p:sp>
        <p:nvSpPr>
          <p:cNvPr id="14" name="">
            <a:extLst xmlns:a="http://schemas.openxmlformats.org/drawingml/2006/main">
              <a:ext uri="{FF2B5EF4-FFF2-40B4-BE49-F238E27FC236}">
                <a16:creationId xmlns:a16="http://schemas.microsoft.com/office/drawing/2014/main" id="{5510C4BE-F820-41B9-9E49-8BA733B35F74}"/>
              </a:ext>
            </a:extLst>
          </p:cNvPr>
          <p:cNvSpPr>
            <a:spLocks xmlns:a="http://schemas.openxmlformats.org/drawingml/2006/main" noGrp="1"/>
          </p:cNvSpPr>
          <p:nvPr/>
        </p:nvSpPr>
        <p:spPr>
          <a:xfrm xmlns:a="http://schemas.openxmlformats.org/drawingml/2006/main">
            <a:off x="3905250" y="3286125"/>
            <a:ext cx="5000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2 + 3 × 4</a:t>
            </a:r>
          </a:p>
        </p:txBody>
      </p:sp>
      <p:sp>
        <p:nvSpPr>
          <p:cNvPr id="15" name="">
            <a:extLst xmlns:a="http://schemas.openxmlformats.org/drawingml/2006/main">
              <a:ext uri="{FF2B5EF4-FFF2-40B4-BE49-F238E27FC236}">
                <a16:creationId xmlns:a16="http://schemas.microsoft.com/office/drawing/2014/main" id="{49135FD6-04CD-4E6A-836B-E51172D0BAA3}"/>
              </a:ext>
            </a:extLst>
          </p:cNvPr>
          <p:cNvSpPr>
            <a:spLocks xmlns:a="http://schemas.openxmlformats.org/drawingml/2006/main" noGrp="1"/>
          </p:cNvSpPr>
          <p:nvPr/>
        </p:nvSpPr>
        <p:spPr>
          <a:xfrm xmlns:a="http://schemas.openxmlformats.org/drawingml/2006/main">
            <a:off x="9334500" y="3286125"/>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14</a:t>
            </a:r>
          </a:p>
        </p:txBody>
      </p:sp>
      <p:sp>
        <p:nvSpPr>
          <p:cNvPr id="16" name="">
            <a:extLst xmlns:a="http://schemas.openxmlformats.org/drawingml/2006/main">
              <a:ext uri="{FF2B5EF4-FFF2-40B4-BE49-F238E27FC236}">
                <a16:creationId xmlns:a16="http://schemas.microsoft.com/office/drawing/2014/main" id="{BBC810B1-364C-469F-8F68-B3955A2E958E}"/>
              </a:ext>
            </a:extLst>
          </p:cNvPr>
          <p:cNvSpPr>
            <a:spLocks xmlns:a="http://schemas.openxmlformats.org/drawingml/2006/main" noGrp="1"/>
          </p:cNvSpPr>
          <p:nvPr/>
        </p:nvSpPr>
        <p:spPr>
          <a:xfrm xmlns:a="http://schemas.openxmlformats.org/drawingml/2006/main">
            <a:off x="628650" y="3695700"/>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499FF83-70E7-4FCF-B2B9-D308F06152F6}"/>
              </a:ext>
            </a:extLst>
          </p:cNvPr>
          <p:cNvSpPr>
            <a:spLocks xmlns:a="http://schemas.openxmlformats.org/drawingml/2006/main" noGrp="1"/>
          </p:cNvSpPr>
          <p:nvPr/>
        </p:nvSpPr>
        <p:spPr>
          <a:xfrm xmlns:a="http://schemas.openxmlformats.org/drawingml/2006/main">
            <a:off x="638175" y="382905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Arial"/>
                <a:ea typeface="Arial"/>
                <a:cs typeface="Arial"/>
              </a:defRPr>
            </a:defPPr>
          </a:lstStyle>
          <a:p xmlns:a="http://schemas.openxmlformats.org/drawingml/2006/main">
            <a:pPr>
              <a:defRPr sz="1575" b="0">
                <a:solidFill>
                  <a:srgbClr val="F6F8FC"/>
                </a:solidFill>
                <a:latin typeface="Arial"/>
                <a:ea typeface="Arial"/>
                <a:cs typeface="Arial"/>
              </a:defRPr>
            </a:pPr>
            <a:r>
              <a:rPr sz="1575" b="0">
                <a:solidFill>
                  <a:srgbClr val="F6F8FC"/>
                </a:solidFill>
                <a:latin typeface="Arial"/>
                <a:ea typeface="Arial"/>
                <a:cs typeface="Arial"/>
              </a:rPr>
              <a:t>FOR + CONTINUE</a:t>
            </a:r>
          </a:p>
        </p:txBody>
      </p:sp>
      <p:sp>
        <p:nvSpPr>
          <p:cNvPr id="18" name="">
            <a:extLst xmlns:a="http://schemas.openxmlformats.org/drawingml/2006/main">
              <a:ext uri="{FF2B5EF4-FFF2-40B4-BE49-F238E27FC236}">
                <a16:creationId xmlns:a16="http://schemas.microsoft.com/office/drawing/2014/main" id="{6EB47B99-7A7C-44C0-988D-D5CEA07807E7}"/>
              </a:ext>
            </a:extLst>
          </p:cNvPr>
          <p:cNvSpPr>
            <a:spLocks xmlns:a="http://schemas.openxmlformats.org/drawingml/2006/main" noGrp="1"/>
          </p:cNvSpPr>
          <p:nvPr/>
        </p:nvSpPr>
        <p:spPr>
          <a:xfrm xmlns:a="http://schemas.openxmlformats.org/drawingml/2006/main">
            <a:off x="3905250" y="3829050"/>
            <a:ext cx="5000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skip 2 from 1 to 4</a:t>
            </a:r>
          </a:p>
        </p:txBody>
      </p:sp>
      <p:sp>
        <p:nvSpPr>
          <p:cNvPr id="19" name="">
            <a:extLst xmlns:a="http://schemas.openxmlformats.org/drawingml/2006/main">
              <a:ext uri="{FF2B5EF4-FFF2-40B4-BE49-F238E27FC236}">
                <a16:creationId xmlns:a16="http://schemas.microsoft.com/office/drawing/2014/main" id="{DADFD0DD-1607-4E79-BF94-99DA503655F7}"/>
              </a:ext>
            </a:extLst>
          </p:cNvPr>
          <p:cNvSpPr>
            <a:spLocks xmlns:a="http://schemas.openxmlformats.org/drawingml/2006/main" noGrp="1"/>
          </p:cNvSpPr>
          <p:nvPr/>
        </p:nvSpPr>
        <p:spPr>
          <a:xfrm xmlns:a="http://schemas.openxmlformats.org/drawingml/2006/main">
            <a:off x="9334500" y="3829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8</a:t>
            </a:r>
          </a:p>
        </p:txBody>
      </p:sp>
      <p:sp>
        <p:nvSpPr>
          <p:cNvPr id="20" name="">
            <a:extLst xmlns:a="http://schemas.openxmlformats.org/drawingml/2006/main">
              <a:ext uri="{FF2B5EF4-FFF2-40B4-BE49-F238E27FC236}">
                <a16:creationId xmlns:a16="http://schemas.microsoft.com/office/drawing/2014/main" id="{1BAF2382-2315-43A1-8B65-6F7205A94329}"/>
              </a:ext>
            </a:extLst>
          </p:cNvPr>
          <p:cNvSpPr>
            <a:spLocks xmlns:a="http://schemas.openxmlformats.org/drawingml/2006/main" noGrp="1"/>
          </p:cNvSpPr>
          <p:nvPr/>
        </p:nvSpPr>
        <p:spPr>
          <a:xfrm xmlns:a="http://schemas.openxmlformats.org/drawingml/2006/main">
            <a:off x="628650" y="42386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8434F5E-30E5-4877-AE27-E5C4419AD53F}"/>
              </a:ext>
            </a:extLst>
          </p:cNvPr>
          <p:cNvSpPr>
            <a:spLocks xmlns:a="http://schemas.openxmlformats.org/drawingml/2006/main" noGrp="1"/>
          </p:cNvSpPr>
          <p:nvPr/>
        </p:nvSpPr>
        <p:spPr>
          <a:xfrm xmlns:a="http://schemas.openxmlformats.org/drawingml/2006/main">
            <a:off x="638175" y="4371975"/>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Arial"/>
                <a:ea typeface="Arial"/>
                <a:cs typeface="Arial"/>
              </a:defRPr>
            </a:defPPr>
          </a:lstStyle>
          <a:p xmlns:a="http://schemas.openxmlformats.org/drawingml/2006/main">
            <a:pPr>
              <a:defRPr sz="1575" b="0">
                <a:solidFill>
                  <a:srgbClr val="F6F8FC"/>
                </a:solidFill>
                <a:latin typeface="Arial"/>
                <a:ea typeface="Arial"/>
                <a:cs typeface="Arial"/>
              </a:defRPr>
            </a:pPr>
            <a:r>
              <a:rPr sz="1575" b="0">
                <a:solidFill>
                  <a:srgbClr val="F6F8FC"/>
                </a:solidFill>
                <a:latin typeface="Arial"/>
                <a:ea typeface="Arial"/>
                <a:cs typeface="Arial"/>
              </a:rPr>
              <a:t>Division guard</a:t>
            </a:r>
          </a:p>
        </p:txBody>
      </p:sp>
      <p:sp>
        <p:nvSpPr>
          <p:cNvPr id="22" name="">
            <a:extLst xmlns:a="http://schemas.openxmlformats.org/drawingml/2006/main">
              <a:ext uri="{FF2B5EF4-FFF2-40B4-BE49-F238E27FC236}">
                <a16:creationId xmlns:a16="http://schemas.microsoft.com/office/drawing/2014/main" id="{B85B123D-F8AA-413E-BC96-BEA427CC1E68}"/>
              </a:ext>
            </a:extLst>
          </p:cNvPr>
          <p:cNvSpPr>
            <a:spLocks xmlns:a="http://schemas.openxmlformats.org/drawingml/2006/main" noGrp="1"/>
          </p:cNvSpPr>
          <p:nvPr/>
        </p:nvSpPr>
        <p:spPr>
          <a:xfrm xmlns:a="http://schemas.openxmlformats.org/drawingml/2006/main">
            <a:off x="3905250" y="4371975"/>
            <a:ext cx="5000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zero divisor</a:t>
            </a:r>
          </a:p>
        </p:txBody>
      </p:sp>
      <p:sp>
        <p:nvSpPr>
          <p:cNvPr id="23" name="">
            <a:extLst xmlns:a="http://schemas.openxmlformats.org/drawingml/2006/main">
              <a:ext uri="{FF2B5EF4-FFF2-40B4-BE49-F238E27FC236}">
                <a16:creationId xmlns:a16="http://schemas.microsoft.com/office/drawing/2014/main" id="{6AAD1010-1419-4D4B-89E1-DF371D4858F4}"/>
              </a:ext>
            </a:extLst>
          </p:cNvPr>
          <p:cNvSpPr>
            <a:spLocks xmlns:a="http://schemas.openxmlformats.org/drawingml/2006/main" noGrp="1"/>
          </p:cNvSpPr>
          <p:nvPr/>
        </p:nvSpPr>
        <p:spPr>
          <a:xfrm xmlns:a="http://schemas.openxmlformats.org/drawingml/2006/main">
            <a:off x="9334500" y="4371975"/>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diagnostic</a:t>
            </a:r>
          </a:p>
        </p:txBody>
      </p:sp>
      <p:sp>
        <p:nvSpPr>
          <p:cNvPr id="24" name="">
            <a:extLst xmlns:a="http://schemas.openxmlformats.org/drawingml/2006/main">
              <a:ext uri="{FF2B5EF4-FFF2-40B4-BE49-F238E27FC236}">
                <a16:creationId xmlns:a16="http://schemas.microsoft.com/office/drawing/2014/main" id="{44F2B25A-189F-43C0-AFE5-B9D1A7F117EB}"/>
              </a:ext>
            </a:extLst>
          </p:cNvPr>
          <p:cNvSpPr>
            <a:spLocks xmlns:a="http://schemas.openxmlformats.org/drawingml/2006/main" noGrp="1"/>
          </p:cNvSpPr>
          <p:nvPr/>
        </p:nvSpPr>
        <p:spPr>
          <a:xfrm xmlns:a="http://schemas.openxmlformats.org/drawingml/2006/main">
            <a:off x="628650" y="4781550"/>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2544994-B67A-4884-A7C3-F0B5D36883D3}"/>
              </a:ext>
            </a:extLst>
          </p:cNvPr>
          <p:cNvSpPr>
            <a:spLocks xmlns:a="http://schemas.openxmlformats.org/drawingml/2006/main" noGrp="1"/>
          </p:cNvSpPr>
          <p:nvPr/>
        </p:nvSpPr>
        <p:spPr>
          <a:xfrm xmlns:a="http://schemas.openxmlformats.org/drawingml/2006/main">
            <a:off x="638175" y="49149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Arial"/>
                <a:ea typeface="Arial"/>
                <a:cs typeface="Arial"/>
              </a:defRPr>
            </a:defPPr>
          </a:lstStyle>
          <a:p xmlns:a="http://schemas.openxmlformats.org/drawingml/2006/main">
            <a:pPr>
              <a:defRPr sz="1575" b="0">
                <a:solidFill>
                  <a:srgbClr val="F6F8FC"/>
                </a:solidFill>
                <a:latin typeface="Arial"/>
                <a:ea typeface="Arial"/>
                <a:cs typeface="Arial"/>
              </a:defRPr>
            </a:pPr>
            <a:r>
              <a:rPr sz="1575" b="0">
                <a:solidFill>
                  <a:srgbClr val="F6F8FC"/>
                </a:solidFill>
                <a:latin typeface="Arial"/>
                <a:ea typeface="Arial"/>
                <a:cs typeface="Arial"/>
              </a:rPr>
              <a:t>Invalid source</a:t>
            </a:r>
          </a:p>
        </p:txBody>
      </p:sp>
      <p:sp>
        <p:nvSpPr>
          <p:cNvPr id="26" name="">
            <a:extLst xmlns:a="http://schemas.openxmlformats.org/drawingml/2006/main">
              <a:ext uri="{FF2B5EF4-FFF2-40B4-BE49-F238E27FC236}">
                <a16:creationId xmlns:a16="http://schemas.microsoft.com/office/drawing/2014/main" id="{FE78F0A7-56DE-4FEF-929A-B92979AFAF9A}"/>
              </a:ext>
            </a:extLst>
          </p:cNvPr>
          <p:cNvSpPr>
            <a:spLocks xmlns:a="http://schemas.openxmlformats.org/drawingml/2006/main" noGrp="1"/>
          </p:cNvSpPr>
          <p:nvPr/>
        </p:nvSpPr>
        <p:spPr>
          <a:xfrm xmlns:a="http://schemas.openxmlformats.org/drawingml/2006/main">
            <a:off x="3905250" y="4914900"/>
            <a:ext cx="5000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undeclared name</a:t>
            </a:r>
          </a:p>
        </p:txBody>
      </p:sp>
      <p:sp>
        <p:nvSpPr>
          <p:cNvPr id="27" name="">
            <a:extLst xmlns:a="http://schemas.openxmlformats.org/drawingml/2006/main">
              <a:ext uri="{FF2B5EF4-FFF2-40B4-BE49-F238E27FC236}">
                <a16:creationId xmlns:a16="http://schemas.microsoft.com/office/drawing/2014/main" id="{F5A765A0-8A03-4425-B6DC-5D85A04D5B96}"/>
              </a:ext>
            </a:extLst>
          </p:cNvPr>
          <p:cNvSpPr>
            <a:spLocks xmlns:a="http://schemas.openxmlformats.org/drawingml/2006/main" noGrp="1"/>
          </p:cNvSpPr>
          <p:nvPr/>
        </p:nvSpPr>
        <p:spPr>
          <a:xfrm xmlns:a="http://schemas.openxmlformats.org/drawingml/2006/main">
            <a:off x="9334500" y="491490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rejected</a:t>
            </a:r>
          </a:p>
        </p:txBody>
      </p:sp>
      <p:sp>
        <p:nvSpPr>
          <p:cNvPr id="28" name="">
            <a:extLst xmlns:a="http://schemas.openxmlformats.org/drawingml/2006/main">
              <a:ext uri="{FF2B5EF4-FFF2-40B4-BE49-F238E27FC236}">
                <a16:creationId xmlns:a16="http://schemas.microsoft.com/office/drawing/2014/main" id="{66367774-BFEF-4D02-820D-529A5C80B610}"/>
              </a:ext>
            </a:extLst>
          </p:cNvPr>
          <p:cNvSpPr>
            <a:spLocks xmlns:a="http://schemas.openxmlformats.org/drawingml/2006/main" noGrp="1"/>
          </p:cNvSpPr>
          <p:nvPr/>
        </p:nvSpPr>
        <p:spPr>
          <a:xfrm xmlns:a="http://schemas.openxmlformats.org/drawingml/2006/main">
            <a:off x="628650" y="532447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7602008-8D20-458E-A2DA-15A7A96D1CA4}"/>
              </a:ext>
            </a:extLst>
          </p:cNvPr>
          <p:cNvSpPr>
            <a:spLocks xmlns:a="http://schemas.openxmlformats.org/drawingml/2006/main" noGrp="1"/>
          </p:cNvSpPr>
          <p:nvPr/>
        </p:nvSpPr>
        <p:spPr>
          <a:xfrm xmlns:a="http://schemas.openxmlformats.org/drawingml/2006/main">
            <a:off x="638175" y="5724525"/>
            <a:ext cx="1019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33D69B"/>
                </a:solidFill>
                <a:latin typeface="Arial"/>
                <a:ea typeface="Arial"/>
                <a:cs typeface="Arial"/>
              </a:defRPr>
            </a:defPPr>
          </a:lstStyle>
          <a:p xmlns:a="http://schemas.openxmlformats.org/drawingml/2006/main">
            <a:pPr>
              <a:defRPr sz="1500" b="1">
                <a:solidFill>
                  <a:srgbClr val="33D69B"/>
                </a:solidFill>
                <a:latin typeface="Arial"/>
                <a:ea typeface="Arial"/>
                <a:cs typeface="Arial"/>
              </a:defRPr>
            </a:pPr>
            <a:r>
              <a:rPr sz="1500" b="1">
                <a:solidFill>
                  <a:srgbClr val="33D69B"/>
                </a:solidFill>
                <a:latin typeface="Arial"/>
                <a:ea typeface="Arial"/>
                <a:cs typeface="Arial"/>
              </a:rPr>
              <a:t>Optimizer check: 30 programs, 60 executions, no observed differences.</a:t>
            </a:r>
          </a:p>
        </p:txBody>
      </p:sp>
    </p:spTree>
    <p:extLst>
      <p:ext uri="{BB962C8B-B14F-4D97-AF65-F5344CB8AC3E}">
        <p14:creationId xmlns:p14="http://schemas.microsoft.com/office/powerpoint/2010/main" val="993001783"/>
      </p:ext>
    </p:extLst>
  </p:cSld>
</p:sld>
</file>

<file path=ppt/slides/slide10.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B122D1-73EF-47D0-9D7C-B1952132696D}"/>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0CD031-EE69-4B41-8A22-495F836D02C2}"/>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Current scope and limitations</a:t>
            </a:r>
          </a:p>
        </p:txBody>
      </p:sp>
      <p:sp>
        <p:nvSpPr>
          <p:cNvPr id="3" name="">
            <a:extLst xmlns:a="http://schemas.openxmlformats.org/drawingml/2006/main">
              <a:ext uri="{FF2B5EF4-FFF2-40B4-BE49-F238E27FC236}">
                <a16:creationId xmlns:a16="http://schemas.microsoft.com/office/drawing/2014/main" id="{F23AA62A-DE5C-4CD2-A8A7-B77CF4A9235C}"/>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These limits define what the present implementation actually accepts.</a:t>
            </a:r>
          </a:p>
        </p:txBody>
      </p:sp>
      <p:sp>
        <p:nvSpPr>
          <p:cNvPr id="4" name="">
            <a:extLst xmlns:a="http://schemas.openxmlformats.org/drawingml/2006/main">
              <a:ext uri="{FF2B5EF4-FFF2-40B4-BE49-F238E27FC236}">
                <a16:creationId xmlns:a16="http://schemas.microsoft.com/office/drawing/2014/main" id="{685789DC-57AA-4897-B0BC-8C3B5FA65ED5}"/>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DF1323-F03C-4908-B59D-37C3346BE69F}"/>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26AFB8BA-5328-4BDC-A599-ECF4E6BE5BB6}"/>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10</a:t>
            </a:r>
          </a:p>
        </p:txBody>
      </p:sp>
      <p:sp>
        <p:nvSpPr>
          <p:cNvPr id="7" name="">
            <a:extLst xmlns:a="http://schemas.openxmlformats.org/drawingml/2006/main">
              <a:ext uri="{FF2B5EF4-FFF2-40B4-BE49-F238E27FC236}">
                <a16:creationId xmlns:a16="http://schemas.microsoft.com/office/drawing/2014/main" id="{A65DA5B6-50A2-48F0-BB54-2D71DDB91851}"/>
              </a:ext>
            </a:extLst>
          </p:cNvPr>
          <p:cNvSpPr>
            <a:spLocks xmlns:a="http://schemas.openxmlformats.org/drawingml/2006/main" noGrp="1"/>
          </p:cNvSpPr>
          <p:nvPr/>
        </p:nvSpPr>
        <p:spPr>
          <a:xfrm xmlns:a="http://schemas.openxmlformats.org/drawingml/2006/main">
            <a:off x="628650" y="1600200"/>
            <a:ext cx="501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SUPPORTED NOW</a:t>
            </a:r>
          </a:p>
        </p:txBody>
      </p:sp>
      <p:sp>
        <p:nvSpPr>
          <p:cNvPr id="8" name="">
            <a:extLst xmlns:a="http://schemas.openxmlformats.org/drawingml/2006/main">
              <a:ext uri="{FF2B5EF4-FFF2-40B4-BE49-F238E27FC236}">
                <a16:creationId xmlns:a16="http://schemas.microsoft.com/office/drawing/2014/main" id="{30E28BB8-BBAC-4BD5-846B-D46E39C0B5D3}"/>
              </a:ext>
            </a:extLst>
          </p:cNvPr>
          <p:cNvSpPr>
            <a:spLocks xmlns:a="http://schemas.openxmlformats.org/drawingml/2006/main" noGrp="1"/>
          </p:cNvSpPr>
          <p:nvPr/>
        </p:nvSpPr>
        <p:spPr>
          <a:xfrm xmlns:a="http://schemas.openxmlformats.org/drawingml/2006/main">
            <a:off x="628650" y="1943100"/>
            <a:ext cx="501015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F2D9D74-425D-471F-ABFA-2E5AE355EC96}"/>
              </a:ext>
            </a:extLst>
          </p:cNvPr>
          <p:cNvSpPr>
            <a:spLocks xmlns:a="http://schemas.openxmlformats.org/drawingml/2006/main" noGrp="1"/>
          </p:cNvSpPr>
          <p:nvPr/>
        </p:nvSpPr>
        <p:spPr>
          <a:xfrm xmlns:a="http://schemas.openxmlformats.org/drawingml/2006/main">
            <a:off x="647700" y="2143125"/>
            <a:ext cx="497205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Defined pseudocode grammar</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One-dimensional fixed-size arrays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Basic INTEGER, REAL, CHAR and STRING</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Structured IF, WHILE and FOR</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Selected automatic runtime guards</a:t>
            </a:r>
          </a:p>
        </p:txBody>
      </p:sp>
      <p:sp>
        <p:nvSpPr>
          <p:cNvPr id="10" name="">
            <a:extLst xmlns:a="http://schemas.openxmlformats.org/drawingml/2006/main">
              <a:ext uri="{FF2B5EF4-FFF2-40B4-BE49-F238E27FC236}">
                <a16:creationId xmlns:a16="http://schemas.microsoft.com/office/drawing/2014/main" id="{04CFD49E-2B87-4212-AC4C-EFC6C14B2351}"/>
              </a:ext>
            </a:extLst>
          </p:cNvPr>
          <p:cNvSpPr>
            <a:spLocks xmlns:a="http://schemas.openxmlformats.org/drawingml/2006/main" noGrp="1"/>
          </p:cNvSpPr>
          <p:nvPr/>
        </p:nvSpPr>
        <p:spPr>
          <a:xfrm xmlns:a="http://schemas.openxmlformats.org/drawingml/2006/main">
            <a:off x="6191250" y="1600200"/>
            <a:ext cx="5276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NOT YET SUPPORTED</a:t>
            </a:r>
          </a:p>
        </p:txBody>
      </p:sp>
      <p:sp>
        <p:nvSpPr>
          <p:cNvPr id="11" name="">
            <a:extLst xmlns:a="http://schemas.openxmlformats.org/drawingml/2006/main">
              <a:ext uri="{FF2B5EF4-FFF2-40B4-BE49-F238E27FC236}">
                <a16:creationId xmlns:a16="http://schemas.microsoft.com/office/drawing/2014/main" id="{B0322785-57EF-4A55-A51C-6E2C06EE76DA}"/>
              </a:ext>
            </a:extLst>
          </p:cNvPr>
          <p:cNvSpPr>
            <a:spLocks xmlns:a="http://schemas.openxmlformats.org/drawingml/2006/main" noGrp="1"/>
          </p:cNvSpPr>
          <p:nvPr/>
        </p:nvSpPr>
        <p:spPr>
          <a:xfrm xmlns:a="http://schemas.openxmlformats.org/drawingml/2006/main">
            <a:off x="6191250" y="1943100"/>
            <a:ext cx="5276850"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1DBDCC-604F-4BFC-8B0D-AC9A2C28C8D5}"/>
              </a:ext>
            </a:extLst>
          </p:cNvPr>
          <p:cNvSpPr>
            <a:spLocks xmlns:a="http://schemas.openxmlformats.org/drawingml/2006/main" noGrp="1"/>
          </p:cNvSpPr>
          <p:nvPr/>
        </p:nvSpPr>
        <p:spPr>
          <a:xfrm xmlns:a="http://schemas.openxmlformats.org/drawingml/2006/main">
            <a:off x="6210300" y="2143125"/>
            <a:ext cx="52197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Free-form English input</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User-defined functions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Multidimensional arrays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Logical AND / OR</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General overflow or uninitialized-use analysis</a:t>
            </a:r>
          </a:p>
        </p:txBody>
      </p:sp>
      <p:sp>
        <p:nvSpPr>
          <p:cNvPr id="13" name="">
            <a:extLst xmlns:a="http://schemas.openxmlformats.org/drawingml/2006/main">
              <a:ext uri="{FF2B5EF4-FFF2-40B4-BE49-F238E27FC236}">
                <a16:creationId xmlns:a16="http://schemas.microsoft.com/office/drawing/2014/main" id="{108DC26F-998E-4C25-A6D0-D50C6119ECFA}"/>
              </a:ext>
            </a:extLst>
          </p:cNvPr>
          <p:cNvSpPr>
            <a:spLocks xmlns:a="http://schemas.openxmlformats.org/drawingml/2006/main" noGrp="1"/>
          </p:cNvSpPr>
          <p:nvPr/>
        </p:nvSpPr>
        <p:spPr>
          <a:xfrm xmlns:a="http://schemas.openxmlformats.org/drawingml/2006/main">
            <a:off x="628650" y="523875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E7EA372-C5F3-440B-98F1-CF96CFAF59E4}"/>
              </a:ext>
            </a:extLst>
          </p:cNvPr>
          <p:cNvSpPr>
            <a:spLocks xmlns:a="http://schemas.openxmlformats.org/drawingml/2006/main" noGrp="1"/>
          </p:cNvSpPr>
          <p:nvPr/>
        </p:nvSpPr>
        <p:spPr>
          <a:xfrm xmlns:a="http://schemas.openxmlformats.org/drawingml/2006/main">
            <a:off x="647700" y="5429250"/>
            <a:ext cx="10706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STRING is limited to 255 ASCII characters; checks do not prove all programs safe.</a:t>
            </a:r>
          </a:p>
        </p:txBody>
      </p:sp>
    </p:spTree>
    <p:extLst>
      <p:ext uri="{BB962C8B-B14F-4D97-AF65-F5344CB8AC3E}">
        <p14:creationId xmlns:p14="http://schemas.microsoft.com/office/powerpoint/2010/main" val="1689899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2026-10-08T07:37:35.2000000Z</dcterms:created>
  <dcterms:modified xsi:type="dcterms:W3CDTF">2026-10-08T07:37:35.2000000Z</dcterms:modified>
</coreProperties>
</file>